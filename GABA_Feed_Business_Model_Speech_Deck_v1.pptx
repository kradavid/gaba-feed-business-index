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60a8237a53f4744" /><Relationship Type="http://schemas.openxmlformats.org/officeDocument/2006/relationships/extended-properties" Target="/docProps/app.xml" Id="Re9b7df6f643a4596" /><Relationship Type="http://schemas.openxmlformats.org/officeDocument/2006/relationships/officeDocument" Target="/ppt/presentation.xml" Id="R512bdcb9be3c4d44" /></Relationships>
</file>

<file path=ppt/presentation.xml><?xml version="1.0" encoding="utf-8"?>
<p:presentation xmlns:p="http://schemas.openxmlformats.org/presentationml/2006/main">
  <p:sldMasterIdLst>
    <p:sldMasterId xmlns:r="http://schemas.openxmlformats.org/officeDocument/2006/relationships" id="2147483648" r:id="R2771d6ecf9194c5b"/>
  </p:sldMasterIdLst>
  <p:notesMasterIdLst>
    <p:notesMasterId xmlns:r="http://schemas.openxmlformats.org/officeDocument/2006/relationships" r:id="R9cfbc2d8790d4810"/>
  </p:notesMasterIdLst>
  <p:sldIdLst>
    <p:sldId xmlns:r="http://schemas.openxmlformats.org/officeDocument/2006/relationships" id="256" r:id="R56f6f5e5d5c3485f"/>
    <p:sldId xmlns:r="http://schemas.openxmlformats.org/officeDocument/2006/relationships" id="257" r:id="R4d78884ac22e4785"/>
    <p:sldId xmlns:r="http://schemas.openxmlformats.org/officeDocument/2006/relationships" id="258" r:id="R891c0b33d9804bd7"/>
    <p:sldId xmlns:r="http://schemas.openxmlformats.org/officeDocument/2006/relationships" id="259" r:id="Ra7ab92d1e40144bc"/>
    <p:sldId xmlns:r="http://schemas.openxmlformats.org/officeDocument/2006/relationships" id="260" r:id="R655397d7018f4f40"/>
    <p:sldId xmlns:r="http://schemas.openxmlformats.org/officeDocument/2006/relationships" id="261" r:id="R1bf43133737c4481"/>
    <p:sldId xmlns:r="http://schemas.openxmlformats.org/officeDocument/2006/relationships" id="262" r:id="R7322ca95164d456d"/>
    <p:sldId xmlns:r="http://schemas.openxmlformats.org/officeDocument/2006/relationships" id="263" r:id="Ra03a1c3a4622450f"/>
    <p:sldId xmlns:r="http://schemas.openxmlformats.org/officeDocument/2006/relationships" id="264" r:id="Rf5562a501deb4036"/>
    <p:sldId xmlns:r="http://schemas.openxmlformats.org/officeDocument/2006/relationships" id="265" r:id="Recea583a17c7496c"/>
    <p:sldId xmlns:r="http://schemas.openxmlformats.org/officeDocument/2006/relationships" id="266" r:id="Rf7ed6daba89d46b0"/>
    <p:sldId xmlns:r="http://schemas.openxmlformats.org/officeDocument/2006/relationships" id="267" r:id="Ref190450f9304125"/>
    <p:sldId xmlns:r="http://schemas.openxmlformats.org/officeDocument/2006/relationships" id="268" r:id="R5f0f40a700ad41b0"/>
    <p:sldId xmlns:r="http://schemas.openxmlformats.org/officeDocument/2006/relationships" id="269" r:id="Rf8dc14d3b36c45a1"/>
    <p:sldId xmlns:r="http://schemas.openxmlformats.org/officeDocument/2006/relationships" id="270" r:id="R061501480be64796"/>
    <p:sldId xmlns:r="http://schemas.openxmlformats.org/officeDocument/2006/relationships" id="271" r:id="R65a0463ede3f4a6f"/>
    <p:sldId xmlns:r="http://schemas.openxmlformats.org/officeDocument/2006/relationships" id="272" r:id="Rf12f69dfa4b643e5"/>
    <p:sldId xmlns:r="http://schemas.openxmlformats.org/officeDocument/2006/relationships" id="273" r:id="Rc42eda7159994d09"/>
    <p:sldId xmlns:r="http://schemas.openxmlformats.org/officeDocument/2006/relationships" id="274" r:id="R7a17c83c7de14550"/>
    <p:sldId xmlns:r="http://schemas.openxmlformats.org/officeDocument/2006/relationships" id="275" r:id="R4e502fd6528a42b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8c94ac3d6ab4026" /><Relationship Type="http://schemas.openxmlformats.org/officeDocument/2006/relationships/slideMaster" Target="/ppt/slideMasters/slideMaster1.xml" Id="R2771d6ecf9194c5b" /><Relationship Type="http://schemas.openxmlformats.org/officeDocument/2006/relationships/notesMaster" Target="/ppt/notesMasters/notesMaster1.xml" Id="R9cfbc2d8790d4810" /><Relationship Type="http://schemas.openxmlformats.org/officeDocument/2006/relationships/presProps" Target="/ppt/presProps.xml" Id="R445c80d180544cd5" /><Relationship Type="http://schemas.openxmlformats.org/officeDocument/2006/relationships/tableStyles" Target="/ppt/tableStyles.xml" Id="Rd062ab9fab5c4cf0" /><Relationship Type="http://schemas.openxmlformats.org/officeDocument/2006/relationships/slide" Target="/ppt/slides/slide1.xml" Id="R56f6f5e5d5c3485f" /><Relationship Type="http://schemas.openxmlformats.org/officeDocument/2006/relationships/slide" Target="/ppt/slides/slide2.xml" Id="R4d78884ac22e4785" /><Relationship Type="http://schemas.openxmlformats.org/officeDocument/2006/relationships/slide" Target="/ppt/slides/slide3.xml" Id="R891c0b33d9804bd7" /><Relationship Type="http://schemas.openxmlformats.org/officeDocument/2006/relationships/slide" Target="/ppt/slides/slide4.xml" Id="Ra7ab92d1e40144bc" /><Relationship Type="http://schemas.openxmlformats.org/officeDocument/2006/relationships/slide" Target="/ppt/slides/slide5.xml" Id="R655397d7018f4f40" /><Relationship Type="http://schemas.openxmlformats.org/officeDocument/2006/relationships/slide" Target="/ppt/slides/slide6.xml" Id="R1bf43133737c4481" /><Relationship Type="http://schemas.openxmlformats.org/officeDocument/2006/relationships/slide" Target="/ppt/slides/slide7.xml" Id="R7322ca95164d456d" /><Relationship Type="http://schemas.openxmlformats.org/officeDocument/2006/relationships/slide" Target="/ppt/slides/slide8.xml" Id="Ra03a1c3a4622450f" /><Relationship Type="http://schemas.openxmlformats.org/officeDocument/2006/relationships/slide" Target="/ppt/slides/slide9.xml" Id="Rf5562a501deb4036" /><Relationship Type="http://schemas.openxmlformats.org/officeDocument/2006/relationships/slide" Target="/ppt/slides/slide10.xml" Id="Recea583a17c7496c" /><Relationship Type="http://schemas.openxmlformats.org/officeDocument/2006/relationships/slide" Target="/ppt/slides/slide11.xml" Id="Rf7ed6daba89d46b0" /><Relationship Type="http://schemas.openxmlformats.org/officeDocument/2006/relationships/slide" Target="/ppt/slides/slide12.xml" Id="Ref190450f9304125" /><Relationship Type="http://schemas.openxmlformats.org/officeDocument/2006/relationships/slide" Target="/ppt/slides/slide13.xml" Id="R5f0f40a700ad41b0" /><Relationship Type="http://schemas.openxmlformats.org/officeDocument/2006/relationships/slide" Target="/ppt/slides/slide14.xml" Id="Rf8dc14d3b36c45a1" /><Relationship Type="http://schemas.openxmlformats.org/officeDocument/2006/relationships/slide" Target="/ppt/slides/slide15.xml" Id="R061501480be64796" /><Relationship Type="http://schemas.openxmlformats.org/officeDocument/2006/relationships/slide" Target="/ppt/slides/slide16.xml" Id="R65a0463ede3f4a6f" /><Relationship Type="http://schemas.openxmlformats.org/officeDocument/2006/relationships/slide" Target="/ppt/slides/slide17.xml" Id="Rf12f69dfa4b643e5" /><Relationship Type="http://schemas.openxmlformats.org/officeDocument/2006/relationships/slide" Target="/ppt/slides/slide18.xml" Id="Rc42eda7159994d09" /><Relationship Type="http://schemas.openxmlformats.org/officeDocument/2006/relationships/slide" Target="/ppt/slides/slide19.xml" Id="R7a17c83c7de14550" /><Relationship Type="http://schemas.openxmlformats.org/officeDocument/2006/relationships/slide" Target="/ppt/slides/slide20.xml" Id="R4e502fd6528a42b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9c888ac75dd48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28133e462e4846" /><Relationship Type="http://schemas.openxmlformats.org/officeDocument/2006/relationships/notesMaster" Target="/ppt/notesMasters/notesMaster1.xml" Id="Rfc87654a446740f3"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d291b919124a99" /><Relationship Type="http://schemas.openxmlformats.org/officeDocument/2006/relationships/notesMaster" Target="/ppt/notesMasters/notesMaster1.xml" Id="R8626616b7caa457a" /></Relationships>
</file>

<file path=ppt/notesSlides/_rels/notesSlide3.xml.rels>&#65279;<?xml version="1.0" encoding="utf-8"?><Relationships xmlns="http://schemas.openxmlformats.org/package/2006/relationships"><Relationship Type="http://schemas.openxmlformats.org/officeDocument/2006/relationships/slide" Target="/ppt/slides/slide3.xml" Id="Re85cd30d90714235" /><Relationship Type="http://schemas.openxmlformats.org/officeDocument/2006/relationships/notesMaster" Target="/ppt/notesMasters/notesMaster1.xml" Id="R7976b1d2299f4f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a30ef669844744" /><Relationship Type="http://schemas.openxmlformats.org/officeDocument/2006/relationships/notesMaster" Target="/ppt/notesMasters/notesMaster1.xml" Id="R341e179837854ff9"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3754723b704960" /><Relationship Type="http://schemas.openxmlformats.org/officeDocument/2006/relationships/notesMaster" Target="/ppt/notesMasters/notesMaster1.xml" Id="R597d78b6b67a4d1b"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a7b2ff69174297" /><Relationship Type="http://schemas.openxmlformats.org/officeDocument/2006/relationships/notesMaster" Target="/ppt/notesMasters/notesMaster1.xml" Id="Rbe60e03fa8c9493b"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7dba4aeed846ee" /><Relationship Type="http://schemas.openxmlformats.org/officeDocument/2006/relationships/notesMaster" Target="/ppt/notesMasters/notesMaster1.xml" Id="Ra27c01f1da354f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c9356f517a1f430c" /><Relationship Type="http://schemas.openxmlformats.org/officeDocument/2006/relationships/notesMaster" Target="/ppt/notesMasters/notesMaster1.xml" Id="R70e78a347769407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b644b01c9574b35" /><Relationship Type="http://schemas.openxmlformats.org/officeDocument/2006/relationships/notesMaster" Target="/ppt/notesMasters/notesMaster1.xml" Id="Rab34dd4c001149c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9c150a0f04442e8" /><Relationship Type="http://schemas.openxmlformats.org/officeDocument/2006/relationships/notesMaster" Target="/ppt/notesMasters/notesMaster1.xml" Id="Raa8e998ef11848e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51847792f9143c5" /><Relationship Type="http://schemas.openxmlformats.org/officeDocument/2006/relationships/notesMaster" Target="/ppt/notesMasters/notesMaster1.xml" Id="Rabde31f077044f8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2ca406b8ec64f56" /><Relationship Type="http://schemas.openxmlformats.org/officeDocument/2006/relationships/notesMaster" Target="/ppt/notesMasters/notesMaster1.xml" Id="R07fcaf15ede74d1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46c9e67a3644d0" /><Relationship Type="http://schemas.openxmlformats.org/officeDocument/2006/relationships/notesMaster" Target="/ppt/notesMasters/notesMaster1.xml" Id="R336b66a31a1e4a1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bf0847da75049ae" /><Relationship Type="http://schemas.openxmlformats.org/officeDocument/2006/relationships/notesMaster" Target="/ppt/notesMasters/notesMaster1.xml" Id="Rbe36e91a72334ba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8af1b977d5d4602" /><Relationship Type="http://schemas.openxmlformats.org/officeDocument/2006/relationships/notesMaster" Target="/ppt/notesMasters/notesMaster1.xml" Id="R195bdb316ffb449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54bc9ab5d2e45cc" /><Relationship Type="http://schemas.openxmlformats.org/officeDocument/2006/relationships/notesMaster" Target="/ppt/notesMasters/notesMaster1.xml" Id="Rd721c226f1094ae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877eab32b8f4c5e" /><Relationship Type="http://schemas.openxmlformats.org/officeDocument/2006/relationships/notesMaster" Target="/ppt/notesMasters/notesMaster1.xml" Id="R731e4c4e96b2416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5e771c98bd74805" /><Relationship Type="http://schemas.openxmlformats.org/officeDocument/2006/relationships/notesMaster" Target="/ppt/notesMasters/notesMaster1.xml" Id="R90aaaa9511cc422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ef4cd8b035f40d1" /><Relationship Type="http://schemas.openxmlformats.org/officeDocument/2006/relationships/notesMaster" Target="/ppt/notesMasters/notesMaster1.xml" Id="Rf6deff8aeb554f0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6bc713c06a94248" /><Relationship Type="http://schemas.openxmlformats.org/officeDocument/2006/relationships/notesMaster" Target="/ppt/notesMasters/notesMaster1.xml" Id="Raf8e7e5e257f45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가바사료 사업은 두 부문으로 나눕니다. 가바크루드는 GABA 20% 기준품과 고객 주문에 맞춘 5~20% OEM 원료를 공급합니다. 가바케어믹스는 가바크루드와 미네랄매트릭스를 결합한 비육 한우 브랜드 축산용 배합사료로 고도화합니다. 목표는 육질 개선과 생산성 향상이지만, 실제 효과는 대조군 시험과 출하 성적으로 확인합니다.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속도를 높이되 검증 기간을 왜곡하지 않습니다. 30일 안에 제품 규격, 시험생산, 실제 원가와 유료 농장 실증을 준비합니다. 90일에는 일당증체량과 사료요구율 같은 생산성 조기 신호를 확인하고, 육질은 개체 식별이 연결된 출하 성적으로 최종 판단합니다.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가바크루드는 원료 고객에게 기준품과 주문형 농도를 공급합니다. 가바케어믹스는 그 원료에 미네랄매트릭스를 결합해 비육 한우 브랜드 축산용 배합사료로 확장합니다. 두 사업의 공통 기준은 활성 GABA 함량과 로트별 시험성적서입니다.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가바크루드는 GABA 20% 기준품을 품질의 기준점으로 삼습니다. 고객이 5~20% 농도를 주문하면 기준품을 바탕으로 OEM 생산합니다. OEM은 주문자 상표 부착 생산을 뜻합니다.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원본은 배양액 1톤의 원가와 산출량을 제시합니다. 그러나 이 정보만으로는 20% 마스터의 kg당 원가 9,240원을 다시 계산할 수 없습니다. 건조, 부형제, 시험, 포장, 수율에 드는 비용을 항목별로 확인해야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재고정책은 단순합니다. 20% 마스터만 안전재고와 재주문점을 관리하고, 완제품은 선생산하지 않습니다. MOQ는 최소주문수량, 리드타임은 주문부터 납품까지 걸리는 시간입니다.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주문은 제품 규격 확정, 마스터 출고, OEM 완제품 생산의 세 단계로 처리합니다. 고객의 농도, 수량, 표시 사항이 정해지기 전에는 생산하지 않습니다. 이 원칙이 불필요한 완제품 재고를 막아 줍니다.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현행 규정에서 GABA 또는 발효배양물의 허용 품목을 이 자료만으로 확정하지 않았습니다. 신규·변경 물질 검토에는 제조방법, 안전성, 품질, 첨가수준 자료가 중요하므로 사전검토를 서면으로 받아야 합니다. 공장 QA에는 추적·검사·회수 체계까지 포함합니다.</a:t>
            </a:r>
          </a:p>
          <a:p xmlns:a="http://schemas.openxmlformats.org/drawingml/2006/main">
            <a:r>
              <a:t/>
            </a:r>
          </a:p>
          <a:p xmlns:a="http://schemas.openxmlformats.org/drawingml/2006/main">
            <a:r>
              <a:t>[Sources]</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https://www.mafra.go.kr/bbs/home/792/577302/artclView.do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연구의 결과는 일관되지 않습니다. 2026년 젖소 연구에서는 산유량 차이가 통계적으로 유의하지 않았고 일부 유성분만 유의했습니다. 2023년 한우 연구는 초기 증체에서 가능성을 보였지만 도체 지표는 유의하지 않았습니다. 2025년 넙치 연구에서도 성장 개선이 확인되지 않았습니다. 따라서 기존 연구를 효능 주장으로 사용하지 않고, 비육 한우와 해당 제품에 맞춘 대조군 시험을 새로 설계합니다.</a:t>
            </a:r>
          </a:p>
          <a:p xmlns:a="http://schemas.openxmlformats.org/drawingml/2006/main">
            <a:r>
              <a:t/>
            </a:r>
          </a:p>
          <a:p xmlns:a="http://schemas.openxmlformats.org/drawingml/2006/main">
            <a:r>
              <a:t>[Sources]</a:t>
            </a:r>
          </a:p>
          <a:p xmlns:a="http://schemas.openxmlformats.org/drawingml/2006/main">
            <a:r>
              <a:t>- https://www.mdpi.com/2076-2615/16/2/262</a:t>
            </a:r>
          </a:p>
          <a:p xmlns:a="http://schemas.openxmlformats.org/drawingml/2006/main">
            <a:r>
              <a:t>- https://www.kci.go.kr/kciportal/landing/article.kci?arti_id=ART003036784</a:t>
            </a:r>
          </a:p>
          <a:p xmlns:a="http://schemas.openxmlformats.org/drawingml/2006/main">
            <a:r>
              <a:t>- https://www.e-kfas.org/Upload/files/kfas/4.%2058%281%29%2033-45.pdf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시험은 비육 한우로 좁힙니다. 같은 사육 조건에서 가바케어믹스 급여군과 대조군을 비교하고, 제품 활성함량과 배합 조건을 고정합니다. 생산성은 ADG, FCR, kg 증체당 사료비로 보고, 육질은 도체중, 등심단면적, 근내지방도, 육질등급, 등지방두께로 판단합니다. ADG는 일당증체량, FCR은 체중 1kg 증가에 필요한 사료량입니다.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https://www.kci.go.kr/kciportal/landing/article.kci?arti_id=ART003036784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단위당 공헌이익은 판매가에서 제품 원가와 직접 변동비를 뺀 금액입니다. 원본 계산에서는 kg당 8,760원이 남지만, 예상 원가의 세부 항목을 확인하지 못했습니다. 투자자에게는 확정 수익이 아니라 검증해야 할 목표로 설명해야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원본은 사료 1톤당 매트릭스 75g과 kg당 제품 원가 4,681.8원을 사용합니다. 그러나 제품의 활성 함량과 제형이 연구의 투여량과 연결되지 않아 유효한 투입량으로 확정할 수 없습니다. 실제 공헌이익은 투입량, OEM 견적, 채널비, 현장비를 확인한 뒤 다시 계산해야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a:p xmlns:a="http://schemas.openxmlformats.org/drawingml/2006/main">
            <a:r>
              <a:t>- https://www.mdpi.com/2076-2615/16/2/262</a:t>
            </a:r>
          </a:p>
          <a:p xmlns:a="http://schemas.openxmlformats.org/drawingml/2006/main">
            <a:r>
              <a:t>- https://www.kci.go.kr/kciportal/landing/article.kci?arti_id=ART003036784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고객가치 18,000원/사료t은 원본의 가정입니다. 이 숫자는 고객 현장에서 비교군을 두고 손실회피 또는 생산성 개선을 측정할 때만 영업 근거가 됩니다. B/C는 편익을 비용으로 나눈 비율입니다.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페이지는 잠재 규모를 보여주는 시나리오이지 매출 예측이 아닙니다. 마스터 20톤과 매트릭스 5만 사료톤이 실제 반복주문으로 확인될 때만 경제성이 실현됩니다. 숫자를 사용하려면 반드시 실제 PO와 실현 원가를 함께 제시해야 합니다.</a:t>
            </a:r>
          </a:p>
          <a:p xmlns:a="http://schemas.openxmlformats.org/drawingml/2006/main">
            <a:r>
              <a:t/>
            </a:r>
          </a:p>
          <a:p xmlns:a="http://schemas.openxmlformats.org/drawingml/2006/main">
            <a:r>
              <a:t>[Sources]</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비전바이오켐의 배양액 생산가능량은 월 20톤, 지에프퍼멘텍은 월 200톤으로 제공됐습니다. 합계는 월 220톤입니다. CAPA는 생산가능량을 뜻합니다. 이 수치는 계약, 실제 가동률, 품질체계, 규격별 수율을 확인한 뒤 공급계획에 반영해야 합니다.</a:t>
            </a:r>
          </a:p>
          <a:p xmlns:a="http://schemas.openxmlformats.org/drawingml/2006/main">
            <a:r>
              <a:t/>
            </a:r>
          </a:p>
          <a:p xmlns:a="http://schemas.openxmlformats.org/drawingml/2006/main">
            <a:r>
              <a:t>[Sources]</a:t>
            </a:r>
          </a:p>
          <a:p xmlns:a="http://schemas.openxmlformats.org/drawingml/2006/main">
            <a:r>
              <a:t>- 사용자 제공 사업화 정보 · 2026-08-03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30일은 제품과 사업 준비의 시간입니다. 이 기간에 제품 규격, 품목·표시 문구, 시험생산, 실제 원가와 유료 농장 계약을 확인합니다. 90일은 생산성의 조기 신호를 보는 기간이며, 육질은 출하 성적으로 최종 판정합니다. 이상반응, 지속적인 섭취 저하, kg 증체당 비용 악화, 제품 규격 미달이 확인되면 시험을 중단하거나 확대를 보류합니다.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0일에서 7일 사이에는 제품 규격, 품목·표시 문구와 비육 한우 대조군 시험계획을 확정합니다. 8일에서 21일 사이에는 시험생산 한 번과 3지점 시료로 재현성을 확인하고 실제 원가를 계산합니다. 22일에서 30일 사이에는 유료 농장 한 곳과 발주서 한 건을 확보해 실증을 시작합니다. 이후 90일까지 생산성 조기 신호를 보고, 육질은 출하 시점에 최종 판단합니다.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분석기술 전문가는 장순욱 셀핀다 생명과학연구소 부사장으로, 해원바이오 전무와 한국신약 연구소장을 지냈습니다. 분석기술 고문은 구자룡 충남대 농업과학연구소 총괄책임으로, 우성사료 연구소장을 지냈습니다. 정밀발효·정제 전문가는 박지호 셀핀다 생명과학연구소 소장으로, 현대바이오랜드 재직 경력이 있습니다. 박지호 소장의 과거 직책은 제공되지 않아 재직 경력으로만 표기했습니다.</a:t>
            </a:r>
          </a:p>
          <a:p xmlns:a="http://schemas.openxmlformats.org/drawingml/2006/main">
            <a:r>
              <a:t/>
            </a:r>
          </a:p>
          <a:p xmlns:a="http://schemas.openxmlformats.org/drawingml/2006/main">
            <a:r>
              <a:t>[Sources]</a:t>
            </a:r>
          </a:p>
          <a:p xmlns:a="http://schemas.openxmlformats.org/drawingml/2006/main">
            <a:r>
              <a:t>- 사용자 제공 사업화 정보 · 2026-08-03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요청드리는 것은 대규모 설비 투자가 아닙니다. 원본에 제시된 4,560만원의 검증 예산으로 30일 안에 제품 규격과 시험생산, 실제 원가를 확인하고 비육 한우 유료 실증을 시작하는 것입니다. 90일 생산성 신호와 출하 육질 결과는 별도 판정 시점으로 관리하며, 규격·안전·경제성 기준을 충족하지 못하면 확대를 보류합니다.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마지막 장은 두 사업의 정의, 측정 용어, 검증 일정과 이용 시 주의사항을 정리했습니다. 30일은 제품과 사업 준비를 마치고 유료 실증을 시작하는 목표이며, 육질 개선 효능을 확정하는 시점이 아닙니다. 생산성은 90일 조기 신호와 출하 누적 결과를 함께 보고, 육질은 출하 성적으로 최종 판단합니다. 법적 분류와 표시·광고 문구는 별도 전문 검토가 필요합니다.</a:t>
            </a:r>
          </a:p>
          <a:p xmlns:a="http://schemas.openxmlformats.org/drawingml/2006/main">
            <a:r>
              <a:t/>
            </a:r>
          </a:p>
          <a:p xmlns:a="http://schemas.openxmlformats.org/drawingml/2006/main">
            <a:r>
              <a:t>[Sources]</a:t>
            </a:r>
          </a:p>
          <a:p xmlns:a="http://schemas.openxmlformats.org/drawingml/2006/main">
            <a:r>
              <a:t>- 사용자 제공 사업화 정보 · 2026-08-03</a:t>
            </a:r>
          </a:p>
          <a:p xmlns:a="http://schemas.openxmlformats.org/drawingml/2006/main">
            <a:r>
              <a:t>- https://www.law.go.kr/행정규칙/사료%20등의%20기준%20및%20규격</a:t>
            </a:r>
          </a:p>
          <a:p xmlns:a="http://schemas.openxmlformats.org/drawingml/2006/main">
            <a:r>
              <a:t>- https://www.law.go.kr/LSW/admRulInfoP.do?admRulSeq=2100000231582&amp;chrClsCd=010201</a:t>
            </a:r>
          </a:p>
          <a:p xmlns:a="http://schemas.openxmlformats.org/drawingml/2006/main">
            <a:r>
              <a:t>- https://www.mafra.go.kr/bbs/home/791/597692/download.do</a:t>
            </a:r>
          </a:p>
          <a:p xmlns:a="http://schemas.openxmlformats.org/drawingml/2006/main">
            <a:r>
              <a:t>- https://www.mdpi.com/2076-2615/16/2/262</a:t>
            </a:r>
          </a:p>
          <a:p xmlns:a="http://schemas.openxmlformats.org/drawingml/2006/main">
            <a:r>
              <a:t>- https://www.kci.go.kr/kciportal/landing/article.kci?arti_id=ART003036784</a:t>
            </a:r>
          </a:p>
          <a:p xmlns:a="http://schemas.openxmlformats.org/drawingml/2006/main">
            <a:r>
              <a:t>- https://www.e-kfas.org/Upload/files/kfas/4.%2058%281%29%2033-45.pdf</a:t>
            </a:r>
          </a:p>
          <a:p xmlns:a="http://schemas.openxmlformats.org/drawingml/2006/main">
            <a:r>
              <a:t>- D:/다운로드/GABA_20_Master_Inventory_OEM_Make_to_Order_Business_Model_v5.pptx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98cbc7455864ee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fc992d956c46d3" /><Relationship Type="http://schemas.openxmlformats.org/officeDocument/2006/relationships/slideLayout" Target="/ppt/slideLayouts/slideLayout1.xml" Id="Rc56d9dfb53c649b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6d9dfb53c649b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aa23ad7429643ff" /><Relationship Type="http://schemas.openxmlformats.org/officeDocument/2006/relationships/notesSlide" Target="/ppt/notesSlides/notesSlide1.xml" Id="Ra420ab88b96e4af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8e90966e61340f7" /><Relationship Type="http://schemas.openxmlformats.org/officeDocument/2006/relationships/notesSlide" Target="/ppt/notesSlides/notesSlide2.xml" Id="Rb415e2148d5541d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df3a987fe154983" /><Relationship Type="http://schemas.openxmlformats.org/officeDocument/2006/relationships/notesSlide" Target="/ppt/notesSlides/notesSlide3.xml" Id="R3c3b892ce34c415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046aef0d361450f" /><Relationship Type="http://schemas.openxmlformats.org/officeDocument/2006/relationships/notesSlide" Target="/ppt/notesSlides/notesSlide4.xml" Id="R515fb7a00dea4e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d8f00188c124d18" /><Relationship Type="http://schemas.openxmlformats.org/officeDocument/2006/relationships/notesSlide" Target="/ppt/notesSlides/notesSlide5.xml" Id="R0c9540e28a1c475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a8d9af9d7d64b73" /><Relationship Type="http://schemas.openxmlformats.org/officeDocument/2006/relationships/notesSlide" Target="/ppt/notesSlides/notesSlide6.xml" Id="R725b1534f3ee4bf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8ffcd39bbed4e5a" /><Relationship Type="http://schemas.openxmlformats.org/officeDocument/2006/relationships/notesSlide" Target="/ppt/notesSlides/notesSlide7.xml" Id="R227787bd09a94e7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6cecae39c2f4546" /><Relationship Type="http://schemas.openxmlformats.org/officeDocument/2006/relationships/notesSlide" Target="/ppt/notesSlides/notesSlide8.xml" Id="Rf3a02f0594bb4d2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5e52453e4904aef" /><Relationship Type="http://schemas.openxmlformats.org/officeDocument/2006/relationships/notesSlide" Target="/ppt/notesSlides/notesSlide9.xml" Id="R22c2eb40634740c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462056775424fee" /><Relationship Type="http://schemas.openxmlformats.org/officeDocument/2006/relationships/notesSlide" Target="/ppt/notesSlides/notesSlide10.xml" Id="R7e495fd41014471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d297e69007d43be" /><Relationship Type="http://schemas.openxmlformats.org/officeDocument/2006/relationships/notesSlide" Target="/ppt/notesSlides/notesSlide11.xml" Id="R4fb7d9d34f6c4c9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f8bfb91fa3d4ac7" /><Relationship Type="http://schemas.openxmlformats.org/officeDocument/2006/relationships/notesSlide" Target="/ppt/notesSlides/notesSlide12.xml" Id="R511e73d10a994c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924d8fd4b504a85" /><Relationship Type="http://schemas.openxmlformats.org/officeDocument/2006/relationships/notesSlide" Target="/ppt/notesSlides/notesSlide13.xml" Id="Red1dc025daf34b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67f0030a9c74195" /><Relationship Type="http://schemas.openxmlformats.org/officeDocument/2006/relationships/notesSlide" Target="/ppt/notesSlides/notesSlide14.xml" Id="Rdb97040fdd65475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a62adbac6ad4813" /><Relationship Type="http://schemas.openxmlformats.org/officeDocument/2006/relationships/chart" Target="/ppt/slides/charts/chart1.xml" Id="R53f6c218a0474b8d" /><Relationship Type="http://schemas.openxmlformats.org/officeDocument/2006/relationships/notesSlide" Target="/ppt/notesSlides/notesSlide15.xml" Id="R0f8adea20bfe493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35a68698e9841cd" /><Relationship Type="http://schemas.openxmlformats.org/officeDocument/2006/relationships/notesSlide" Target="/ppt/notesSlides/notesSlide16.xml" Id="R1b1892449588482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59b46c1a3a443ab" /><Relationship Type="http://schemas.openxmlformats.org/officeDocument/2006/relationships/notesSlide" Target="/ppt/notesSlides/notesSlide17.xml" Id="Rec4df6f8eedd4a6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a75f4989f5a4f6e" /><Relationship Type="http://schemas.openxmlformats.org/officeDocument/2006/relationships/notesSlide" Target="/ppt/notesSlides/notesSlide18.xml" Id="R69a20b727244439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cf1bc320b87469a" /><Relationship Type="http://schemas.openxmlformats.org/officeDocument/2006/relationships/notesSlide" Target="/ppt/notesSlides/notesSlide19.xml" Id="Ra958b4485827482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9fa63d0c3b34705" /><Relationship Type="http://schemas.openxmlformats.org/officeDocument/2006/relationships/notesSlide" Target="/ppt/notesSlides/notesSlide20.xml" Id="Rfafc057c33d24a66" /></Relationships>
</file>

<file path=ppt/slides/charts/chart1.xml><?xml version="1.0" encoding="utf-8"?>
<c:chartSpace xmlns:c="http://schemas.openxmlformats.org/drawingml/2006/chart">
  <c:lang val="en-US"/>
  <c:chart>
    <c:plotArea>
      <c:lineChart>
        <c:grouping val="standard"/>
        <c:varyColors val="0"/>
        <c:ser>
          <c:idx val="0"/>
          <c:order val="0"/>
          <c:tx>
            <c:v>활성 GABA(t/년)</c:v>
          </c:tx>
          <c:spPr>
            <a:ln xmlns:a="http://schemas.openxmlformats.org/drawingml/2006/main" w="28575">
              <a:solidFill>
                <a:srgbClr val="00A878"/>
              </a:solidFill>
              <a:prstDash val="solid"/>
            </a:ln>
          </c:spPr>
          <c:marker>
            <c:symbol val="circle"/>
            <c:size val="6"/>
          </c:marker>
          <c:cat>
            <c:strLit>
              <c:ptCount val="4"/>
              <c:pt idx="0">
                <c:v>비전바이오켐</c:v>
              </c:pt>
              <c:pt idx="1">
                <c:v>비전바이오켐</c:v>
              </c:pt>
              <c:pt idx="2">
                <c:v>지에프퍼멘텍</c:v>
              </c:pt>
              <c:pt idx="3">
                <c:v>지에프퍼멘텍</c:v>
              </c:pt>
            </c:strLit>
          </c:cat>
          <c:val>
            <c:numLit>
              <c:formatCode>0.0</c:formatCode>
              <c:ptCount val="4"/>
              <c:pt idx="0">
                <c:v>20</c:v>
              </c:pt>
              <c:pt idx="1">
                <c:v>20</c:v>
              </c:pt>
              <c:pt idx="2">
                <c:v>200</c:v>
              </c:pt>
              <c:pt idx="3">
                <c:v>200</c:v>
              </c:pt>
            </c:numLit>
          </c:val>
        </c:ser>
        <c:dLbls>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72768"/>
        <c:lblAlgn val="ctr"/>
        <c:lblOffset val="100"/>
        <c:noMultiLvlLbl val="0"/>
      </c:catAx>
      <c:valAx>
        <c:axId val="48672768"/>
        <c:scaling>
          <c:orientation val="minMax"/>
          <c:max val="220"/>
          <c:min val="0"/>
        </c:scaling>
        <c:delete val="0"/>
        <c:axPos val="l"/>
        <c:majorGridlines>
          <c:spPr>
            <a:ln xmlns:a="http://schemas.openxmlformats.org/drawingml/2006/main" w="9525">
              <a:solidFill>
                <a:srgbClr val="EDEDED"/>
              </a:solidFill>
              <a:prstDash val="solid"/>
            </a:ln>
          </c:spPr>
        </c:majorGridlines>
        <c:numFmt formatCode="0"/>
        <c:majorTickMark val="none"/>
        <c:minorTickMark val="none"/>
        <c:spPr>
          <a:ln xmlns:a="http://schemas.openxmlformats.org/drawingml/2006/main" w="0">
            <a:solidFill>
              <a:srgbClr val="FFFFFF"/>
            </a:solidFill>
            <a:prstDash val="solid"/>
          </a:ln>
        </c:spPr>
        <c:txPr>
          <a:bodyPr xmlns:a="http://schemas.openxmlformats.org/drawingml/2006/main" anchorCtr="1"/>
          <a:lstStyle xmlns:a="http://schemas.openxmlformats.org/drawingml/2006/main"/>
          <a:p xmlns:a="http://schemas.openxmlformats.org/drawingml/2006/main">
            <a:pPr>
              <a:defRPr sz="825">
                <a:solidFill>
                  <a:srgbClr val="000000"/>
                </a:solidFill>
                <a:latin typeface="Helvetica Neue"/>
                <a:ea typeface="Helvetica Neue"/>
                <a:cs typeface="Helvetica Neue"/>
              </a:defRPr>
            </a:pPr>
          </a:p>
        </c:txPr>
        <c:crossAx val="48650112"/>
        <c:crossBetween val="between"/>
        <c:majorUnit val="50"/>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CEC8634E-8608-4CFC-AABB-C79CBFD2183A}"/>
              </a:ext>
            </a:extLst>
          </p:cNvPr>
          <p:cNvSpPr>
            <a:spLocks xmlns:a="http://schemas.openxmlformats.org/drawingml/2006/main" noGrp="1"/>
          </p:cNvSpPr>
          <p:nvPr/>
        </p:nvSpPr>
        <p:spPr>
          <a:xfrm xmlns:a="http://schemas.openxmlformats.org/drawingml/2006/main">
            <a:off x="393668" y="1738789"/>
            <a:ext cx="944880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육질과 생산성을 함께 검증하는 가바케어믹스로 고도화한다</a:t>
            </a:r>
          </a:p>
        </p:txBody>
      </p:sp>
      <p:sp>
        <p:nvSpPr>
          <p:cNvPr id="2" name="Subtitle-4-2">
            <a:extLst xmlns:a="http://schemas.openxmlformats.org/drawingml/2006/main">
              <a:ext uri="{FF2B5EF4-FFF2-40B4-BE49-F238E27FC236}">
                <a16:creationId xmlns:a16="http://schemas.microsoft.com/office/drawing/2014/main" id="{362AD5FE-C022-4A84-8566-7192195AE44D}"/>
              </a:ext>
            </a:extLst>
          </p:cNvPr>
          <p:cNvSpPr>
            <a:spLocks xmlns:a="http://schemas.openxmlformats.org/drawingml/2006/main" noGrp="1"/>
          </p:cNvSpPr>
          <p:nvPr/>
        </p:nvSpPr>
        <p:spPr>
          <a:xfrm xmlns:a="http://schemas.openxmlformats.org/drawingml/2006/main">
            <a:off x="393668" y="4742212"/>
            <a:ext cx="5702332"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가바크루드: GABA 20% 기준품·OEM 5~20% 원료</a:t>
            </a:r>
          </a:p>
          <a:p xmlns:a="http://schemas.openxmlformats.org/drawingml/2006/main">
            <a:pPr algn="l">
              <a:buNone/>
              <a:defRPr sz="2400">
                <a:solidFill>
                  <a:srgbClr val="000000"/>
                </a:solidFill>
                <a:latin typeface="Helvetica Neue"/>
                <a:ea typeface="Helvetica Neue"/>
                <a:cs typeface="Helvetica Neue"/>
              </a:defRPr>
            </a:pPr>
            <a:r>
              <a:t>가바케어믹스: 비육 한우 브랜드 축산용 배합사료</a:t>
            </a:r>
          </a:p>
        </p:txBody>
      </p:sp>
      <p:sp>
        <p:nvSpPr>
          <p:cNvPr id="3" name="Subtitle-4-3">
            <a:extLst xmlns:a="http://schemas.openxmlformats.org/drawingml/2006/main">
              <a:ext uri="{FF2B5EF4-FFF2-40B4-BE49-F238E27FC236}">
                <a16:creationId xmlns:a16="http://schemas.microsoft.com/office/drawing/2014/main" id="{A8CDEDD7-7EBB-4481-B233-7DADAAE8D654}"/>
              </a:ext>
            </a:extLst>
          </p:cNvPr>
          <p:cNvSpPr>
            <a:spLocks xmlns:a="http://schemas.openxmlformats.org/drawingml/2006/main" noGrp="1"/>
          </p:cNvSpPr>
          <p:nvPr/>
        </p:nvSpPr>
        <p:spPr>
          <a:xfrm xmlns:a="http://schemas.openxmlformats.org/drawingml/2006/main">
            <a:off x="393668" y="392240"/>
            <a:ext cx="5702332"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사업화 발표자료 · 2026.08</a:t>
            </a:r>
          </a:p>
        </p:txBody>
      </p:sp>
      <p:sp>
        <p:nvSpPr>
          <p:cNvPr id="4" name="brand-rule-1">
            <a:extLst xmlns:a="http://schemas.openxmlformats.org/drawingml/2006/main">
              <a:ext uri="{FF2B5EF4-FFF2-40B4-BE49-F238E27FC236}">
                <a16:creationId xmlns:a16="http://schemas.microsoft.com/office/drawing/2014/main" id="{CA1F29A9-BADD-4BED-BF68-8B0C79487B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1">
            <a:extLst xmlns:a="http://schemas.openxmlformats.org/drawingml/2006/main">
              <a:ext uri="{FF2B5EF4-FFF2-40B4-BE49-F238E27FC236}">
                <a16:creationId xmlns:a16="http://schemas.microsoft.com/office/drawing/2014/main" id="{FF036762-6761-4834-ADCD-DA1291523648}"/>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01 | THESIS</a:t>
            </a:r>
          </a:p>
        </p:txBody>
      </p:sp>
    </p:spTree>
    <p:extLst>
      <p:ext uri="{BB962C8B-B14F-4D97-AF65-F5344CB8AC3E}">
        <p14:creationId xmlns:p14="http://schemas.microsoft.com/office/powerpoint/2010/main" val="69088520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4E73852B-3E73-49A0-9BFA-C1069C65A177}"/>
              </a:ext>
            </a:extLst>
          </p:cNvPr>
          <p:cNvSpPr>
            <a:spLocks xmlns:a="http://schemas.openxmlformats.org/drawingml/2006/main" noGrp="1"/>
          </p:cNvSpPr>
          <p:nvPr/>
        </p:nvSpPr>
        <p:spPr>
          <a:xfrm xmlns:a="http://schemas.openxmlformats.org/drawingml/2006/main">
            <a:off x="393668" y="2579942"/>
            <a:ext cx="9448800" cy="3624263"/>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30일 안에 준비하고,</a:t>
            </a:r>
          </a:p>
          <a:p xmlns:a="http://schemas.openxmlformats.org/drawingml/2006/main">
            <a:pPr algn="l">
              <a:buNone/>
              <a:defRPr sz="6000">
                <a:solidFill>
                  <a:srgbClr val="000000"/>
                </a:solidFill>
                <a:latin typeface="Helvetica Neue"/>
                <a:ea typeface="Helvetica Neue"/>
                <a:cs typeface="Helvetica Neue"/>
              </a:defRPr>
            </a:pPr>
            <a:r>
              <a:t>육질은 출하 시 판정한다</a:t>
            </a:r>
          </a:p>
        </p:txBody>
      </p:sp>
      <p:sp>
        <p:nvSpPr>
          <p:cNvPr id="2" name="Subtitle-4-2">
            <a:extLst xmlns:a="http://schemas.openxmlformats.org/drawingml/2006/main">
              <a:ext uri="{FF2B5EF4-FFF2-40B4-BE49-F238E27FC236}">
                <a16:creationId xmlns:a16="http://schemas.microsoft.com/office/drawing/2014/main" id="{41D73F4A-10CA-4BEC-8903-349333AA7EF9}"/>
              </a:ext>
            </a:extLst>
          </p:cNvPr>
          <p:cNvSpPr>
            <a:spLocks xmlns:a="http://schemas.openxmlformats.org/drawingml/2006/main" noGrp="1"/>
          </p:cNvSpPr>
          <p:nvPr/>
        </p:nvSpPr>
        <p:spPr>
          <a:xfrm xmlns:a="http://schemas.openxmlformats.org/drawingml/2006/main">
            <a:off x="393668" y="392240"/>
            <a:ext cx="6157817"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CARE MIX | BRANDED HANWOO</a:t>
            </a:r>
          </a:p>
        </p:txBody>
      </p:sp>
      <p:sp>
        <p:nvSpPr>
          <p:cNvPr id="3" name="Subtitle-4-3">
            <a:extLst xmlns:a="http://schemas.openxmlformats.org/drawingml/2006/main">
              <a:ext uri="{FF2B5EF4-FFF2-40B4-BE49-F238E27FC236}">
                <a16:creationId xmlns:a16="http://schemas.microsoft.com/office/drawing/2014/main" id="{DF9034B2-BA94-4EB3-B461-4FBB5F96BACA}"/>
              </a:ext>
            </a:extLst>
          </p:cNvPr>
          <p:cNvSpPr>
            <a:spLocks xmlns:a="http://schemas.openxmlformats.org/drawingml/2006/main" noGrp="1"/>
          </p:cNvSpPr>
          <p:nvPr/>
        </p:nvSpPr>
        <p:spPr>
          <a:xfrm xmlns:a="http://schemas.openxmlformats.org/drawingml/2006/main">
            <a:off x="7886700" y="392240"/>
            <a:ext cx="3911632"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30일 실증 착수 · 90일 생산성 신호</a:t>
            </a:r>
          </a:p>
        </p:txBody>
      </p:sp>
      <p:sp>
        <p:nvSpPr>
          <p:cNvPr id="4" name="brand-rule-2">
            <a:extLst xmlns:a="http://schemas.openxmlformats.org/drawingml/2006/main">
              <a:ext uri="{FF2B5EF4-FFF2-40B4-BE49-F238E27FC236}">
                <a16:creationId xmlns:a16="http://schemas.microsoft.com/office/drawing/2014/main" id="{25713A14-BD67-4D51-87F2-93F34382ACE1}"/>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2">
            <a:extLst xmlns:a="http://schemas.openxmlformats.org/drawingml/2006/main">
              <a:ext uri="{FF2B5EF4-FFF2-40B4-BE49-F238E27FC236}">
                <a16:creationId xmlns:a16="http://schemas.microsoft.com/office/drawing/2014/main" id="{E9521AF2-7264-4CC8-AEBF-DEB9799FF568}"/>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02 | EXECUTIVE THESIS</a:t>
            </a:r>
          </a:p>
        </p:txBody>
      </p:sp>
    </p:spTree>
    <p:extLst>
      <p:ext uri="{BB962C8B-B14F-4D97-AF65-F5344CB8AC3E}">
        <p14:creationId xmlns:p14="http://schemas.microsoft.com/office/powerpoint/2010/main" val="5048347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3</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가바크루드가 원료를 공급하고, 가바케어믹스가 브랜드 한우 성과를 검증한다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기준 원료</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맞춤 원료</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브랜드 축산</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OEM 5~20%</a:t>
            </a:r>
          </a:p>
          <a:p xmlns:a="http://schemas.openxmlformats.org/drawingml/2006/main">
            <a:pPr algn="l">
              <a:buNone/>
              <a:defRPr sz="2400">
                <a:solidFill>
                  <a:srgbClr val="000000"/>
                </a:solidFill>
                <a:latin typeface="Helvetica Neue"/>
                <a:ea typeface="Helvetica Neue"/>
                <a:cs typeface="Helvetica Neue"/>
              </a:defRPr>
            </a:pPr>
            <a:r>
              <a:t>고객 주문 후 생산</a:t>
            </a:r>
          </a:p>
          <a:p xmlns:a="http://schemas.openxmlformats.org/drawingml/2006/main">
            <a:pPr algn="l">
              <a:buNone/>
              <a:defRPr sz="2400">
                <a:solidFill>
                  <a:srgbClr val="000000"/>
                </a:solidFill>
                <a:latin typeface="Helvetica Neue"/>
                <a:ea typeface="Helvetica Neue"/>
                <a:cs typeface="Helvetica Neue"/>
              </a:defRPr>
            </a:pPr>
            <a:r>
              <a:t>농도·포장 맞춤</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20% 기준품</a:t>
            </a:r>
          </a:p>
          <a:p xmlns:a="http://schemas.openxmlformats.org/drawingml/2006/main">
            <a:pPr algn="l">
              <a:buNone/>
              <a:defRPr sz="2400">
                <a:solidFill>
                  <a:srgbClr val="000000"/>
                </a:solidFill>
                <a:latin typeface="Helvetica Neue"/>
                <a:ea typeface="Helvetica Neue"/>
                <a:cs typeface="Helvetica Neue"/>
              </a:defRPr>
            </a:pPr>
            <a:r>
              <a:t>품질·출하 기준</a:t>
            </a:r>
          </a:p>
          <a:p xmlns:a="http://schemas.openxmlformats.org/drawingml/2006/main">
            <a:pPr algn="l">
              <a:buNone/>
              <a:defRPr sz="2400">
                <a:solidFill>
                  <a:srgbClr val="000000"/>
                </a:solidFill>
                <a:latin typeface="Helvetica Neue"/>
                <a:ea typeface="Helvetica Neue"/>
                <a:cs typeface="Helvetica Neue"/>
              </a:defRPr>
            </a:pPr>
            <a:r>
              <a:t>로트별 CoA</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가바크루드+</a:t>
            </a:r>
          </a:p>
          <a:p xmlns:a="http://schemas.openxmlformats.org/drawingml/2006/main">
            <a:pPr algn="l">
              <a:buNone/>
              <a:defRPr sz="2400">
                <a:solidFill>
                  <a:srgbClr val="000000"/>
                </a:solidFill>
                <a:latin typeface="Helvetica Neue"/>
                <a:ea typeface="Helvetica Neue"/>
                <a:cs typeface="Helvetica Neue"/>
              </a:defRPr>
            </a:pPr>
            <a:r>
              <a:t>미네랄매트릭스</a:t>
            </a:r>
          </a:p>
          <a:p xmlns:a="http://schemas.openxmlformats.org/drawingml/2006/main">
            <a:pPr algn="l">
              <a:buNone/>
              <a:defRPr sz="2400">
                <a:solidFill>
                  <a:srgbClr val="000000"/>
                </a:solidFill>
                <a:latin typeface="Helvetica Neue"/>
                <a:ea typeface="Helvetica Neue"/>
                <a:cs typeface="Helvetica Neue"/>
              </a:defRPr>
            </a:pPr>
            <a:r>
              <a:t>비육 한우 배합</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03 | TWO BUSINESS TRACKS</a:t>
            </a:r>
          </a:p>
        </p:txBody>
      </p:sp>
    </p:spTree>
    <p:extLst>
      <p:ext uri="{BB962C8B-B14F-4D97-AF65-F5344CB8AC3E}">
        <p14:creationId xmlns:p14="http://schemas.microsoft.com/office/powerpoint/2010/main" val="116188389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4</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GABA 20% 기준품으로 주문 농도까지 확장한다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원료의 출발점</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단일 재고 SKU</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주문형 원료</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20% 기준품</a:t>
            </a:r>
          </a:p>
          <a:p xmlns:a="http://schemas.openxmlformats.org/drawingml/2006/main">
            <a:pPr algn="l">
              <a:buNone/>
              <a:defRPr sz="2400">
                <a:solidFill>
                  <a:srgbClr val="000000"/>
                </a:solidFill>
                <a:latin typeface="Helvetica Neue"/>
                <a:ea typeface="Helvetica Neue"/>
                <a:cs typeface="Helvetica Neue"/>
              </a:defRPr>
            </a:pPr>
            <a:r>
              <a:t>로트·CoA 관리</a:t>
            </a:r>
          </a:p>
          <a:p xmlns:a="http://schemas.openxmlformats.org/drawingml/2006/main">
            <a:pPr algn="l">
              <a:buNone/>
              <a:defRPr sz="2400">
                <a:solidFill>
                  <a:srgbClr val="000000"/>
                </a:solidFill>
                <a:latin typeface="Helvetica Neue"/>
                <a:ea typeface="Helvetica Neue"/>
                <a:cs typeface="Helvetica Neue"/>
              </a:defRPr>
            </a:pPr>
            <a:r>
              <a:t>품질·출하 기준</a:t>
            </a:r>
          </a:p>
          <a:p xmlns:a="http://schemas.openxmlformats.org/drawingml/2006/main">
            <a:pPr algn="l">
              <a:buNone/>
              <a:defRPr sz="2400">
                <a:solidFill>
                  <a:srgbClr val="000000"/>
                </a:solidFill>
                <a:latin typeface="Helvetica Neue"/>
                <a:ea typeface="Helvetica Neue"/>
                <a:cs typeface="Helvetica Neue"/>
              </a:defRPr>
            </a:pPr>
            <a:r>
              <a:t>재고 집중</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발효배양액</a:t>
            </a:r>
          </a:p>
          <a:p xmlns:a="http://schemas.openxmlformats.org/drawingml/2006/main">
            <a:pPr algn="l">
              <a:buNone/>
              <a:defRPr sz="2400">
                <a:solidFill>
                  <a:srgbClr val="000000"/>
                </a:solidFill>
                <a:latin typeface="Helvetica Neue"/>
                <a:ea typeface="Helvetica Neue"/>
                <a:cs typeface="Helvetica Neue"/>
              </a:defRPr>
            </a:pPr>
            <a:r>
              <a:t>정밀발효·정제</a:t>
            </a:r>
          </a:p>
          <a:p xmlns:a="http://schemas.openxmlformats.org/drawingml/2006/main">
            <a:pPr algn="l">
              <a:buNone/>
              <a:defRPr sz="2400">
                <a:solidFill>
                  <a:srgbClr val="000000"/>
                </a:solidFill>
                <a:latin typeface="Helvetica Neue"/>
                <a:ea typeface="Helvetica Neue"/>
                <a:cs typeface="Helvetica Neue"/>
              </a:defRPr>
            </a:pPr>
            <a:r>
              <a:t>품질 변동 관리</a:t>
            </a:r>
          </a:p>
          <a:p xmlns:a="http://schemas.openxmlformats.org/drawingml/2006/main">
            <a:pPr algn="l">
              <a:buNone/>
              <a:defRPr sz="2400">
                <a:solidFill>
                  <a:srgbClr val="000000"/>
                </a:solidFill>
                <a:latin typeface="Helvetica Neue"/>
                <a:ea typeface="Helvetica Neue"/>
                <a:cs typeface="Helvetica Neue"/>
              </a:defRPr>
            </a:pPr>
            <a:r>
              <a:t>기준품 원료</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OEM 5~20%</a:t>
            </a:r>
          </a:p>
          <a:p xmlns:a="http://schemas.openxmlformats.org/drawingml/2006/main">
            <a:pPr algn="l">
              <a:buNone/>
              <a:defRPr sz="2400">
                <a:solidFill>
                  <a:srgbClr val="000000"/>
                </a:solidFill>
                <a:latin typeface="Helvetica Neue"/>
                <a:ea typeface="Helvetica Neue"/>
                <a:cs typeface="Helvetica Neue"/>
              </a:defRPr>
            </a:pPr>
            <a:r>
              <a:t>농도·포장 맞춤</a:t>
            </a:r>
          </a:p>
          <a:p xmlns:a="http://schemas.openxmlformats.org/drawingml/2006/main">
            <a:pPr algn="l">
              <a:buNone/>
              <a:defRPr sz="2400">
                <a:solidFill>
                  <a:srgbClr val="000000"/>
                </a:solidFill>
                <a:latin typeface="Helvetica Neue"/>
                <a:ea typeface="Helvetica Neue"/>
                <a:cs typeface="Helvetica Neue"/>
              </a:defRPr>
            </a:pPr>
            <a:r>
              <a:t>고객 발주 후 생산</a:t>
            </a:r>
          </a:p>
          <a:p xmlns:a="http://schemas.openxmlformats.org/drawingml/2006/main">
            <a:pPr algn="l">
              <a:buNone/>
              <a:defRPr sz="2400">
                <a:solidFill>
                  <a:srgbClr val="000000"/>
                </a:solidFill>
                <a:latin typeface="Helvetica Neue"/>
                <a:ea typeface="Helvetica Neue"/>
                <a:cs typeface="Helvetica Neue"/>
              </a:defRPr>
            </a:pPr>
            <a:r>
              <a:t>원료 매출</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04 | GABA CRUDE</a:t>
            </a:r>
          </a:p>
        </p:txBody>
      </p:sp>
    </p:spTree>
    <p:extLst>
      <p:ext uri="{BB962C8B-B14F-4D97-AF65-F5344CB8AC3E}">
        <p14:creationId xmlns:p14="http://schemas.microsoft.com/office/powerpoint/2010/main" val="116188389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5</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가바크루드 기준품의 kg당 9,240원 원가는 세부 내역 확인이 필요하다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배양액 원가</a:t>
            </a:r>
          </a:p>
          <a:p xmlns:a="http://schemas.openxmlformats.org/drawingml/2006/main">
            <a:pPr algn="l">
              <a:buNone/>
              <a:defRPr sz="2400">
                <a:solidFill>
                  <a:srgbClr val="000000"/>
                </a:solidFill>
                <a:latin typeface="Helvetica Neue"/>
                <a:ea typeface="Helvetica Neue"/>
                <a:cs typeface="Helvetica Neue"/>
              </a:defRPr>
            </a:pPr>
            <a:r>
              <a:t>1톤/1,000L</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GABA 함량</a:t>
            </a:r>
          </a:p>
          <a:p xmlns:a="http://schemas.openxmlformats.org/drawingml/2006/main">
            <a:pPr algn="l">
              <a:buNone/>
              <a:defRPr sz="2400">
                <a:solidFill>
                  <a:srgbClr val="000000"/>
                </a:solidFill>
                <a:latin typeface="Helvetica Neue"/>
                <a:ea typeface="Helvetica Neue"/>
                <a:cs typeface="Helvetica Neue"/>
              </a:defRPr>
            </a:pPr>
            <a:r>
              <a:t>배양액 1톤</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건조 고형분</a:t>
            </a:r>
          </a:p>
          <a:p xmlns:a="http://schemas.openxmlformats.org/drawingml/2006/main">
            <a:pPr algn="l">
              <a:buNone/>
              <a:defRPr sz="2400">
                <a:solidFill>
                  <a:srgbClr val="000000"/>
                </a:solidFill>
                <a:latin typeface="Helvetica Neue"/>
                <a:ea typeface="Helvetica Neue"/>
                <a:cs typeface="Helvetica Neue"/>
              </a:defRPr>
            </a:pPr>
            <a:r>
              <a:t>회수량</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400만원</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300kg</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100kg</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원본: 1,000L×4,000원/L · ※ 건조·부형제·검사·포장·수율 비용의 반영 여부는 아직 확인되지 않음</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05 | GABA CRUDE COST</a:t>
            </a:r>
          </a:p>
        </p:txBody>
      </p:sp>
    </p:spTree>
    <p:extLst>
      <p:ext uri="{BB962C8B-B14F-4D97-AF65-F5344CB8AC3E}">
        <p14:creationId xmlns:p14="http://schemas.microsoft.com/office/powerpoint/2010/main" val="136431717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6</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기준품 재고에 집중한다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생산 단위</a:t>
            </a:r>
          </a:p>
          <a:p xmlns:a="http://schemas.openxmlformats.org/drawingml/2006/main">
            <a:pPr algn="l">
              <a:buNone/>
              <a:defRPr sz="2400">
                <a:solidFill>
                  <a:srgbClr val="000000"/>
                </a:solidFill>
                <a:latin typeface="Helvetica Neue"/>
                <a:ea typeface="Helvetica Neue"/>
                <a:cs typeface="Helvetica Neue"/>
              </a:defRPr>
            </a:pPr>
            <a:r>
              <a:t>배양액→가바크루드</a:t>
            </a:r>
          </a:p>
          <a:p xmlns:a="http://schemas.openxmlformats.org/drawingml/2006/main">
            <a:pPr algn="l">
              <a:buNone/>
              <a:defRPr sz="2400">
                <a:solidFill>
                  <a:srgbClr val="000000"/>
                </a:solidFill>
                <a:latin typeface="Helvetica Neue"/>
                <a:ea typeface="Helvetica Neue"/>
                <a:cs typeface="Helvetica Neue"/>
              </a:defRPr>
            </a:pPr>
            <a:r>
              <a:t>500kg/배치</a:t>
            </a:r>
          </a:p>
          <a:p xmlns:a="http://schemas.openxmlformats.org/drawingml/2006/main">
            <a:pPr algn="l">
              <a:buNone/>
              <a:defRPr sz="2400">
                <a:solidFill>
                  <a:srgbClr val="000000"/>
                </a:solidFill>
                <a:latin typeface="Helvetica Neue"/>
                <a:ea typeface="Helvetica Neue"/>
                <a:cs typeface="Helvetica Neue"/>
              </a:defRPr>
            </a:pPr>
            <a:r>
              <a:t>로트별 승인</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재고 관리</a:t>
            </a:r>
          </a:p>
          <a:p xmlns:a="http://schemas.openxmlformats.org/drawingml/2006/main">
            <a:pPr algn="l">
              <a:buNone/>
              <a:defRPr sz="2400">
                <a:solidFill>
                  <a:srgbClr val="000000"/>
                </a:solidFill>
                <a:latin typeface="Helvetica Neue"/>
                <a:ea typeface="Helvetica Neue"/>
                <a:cs typeface="Helvetica Neue"/>
              </a:defRPr>
            </a:pPr>
            <a:r>
              <a:t>CoA(성적서)</a:t>
            </a:r>
          </a:p>
          <a:p xmlns:a="http://schemas.openxmlformats.org/drawingml/2006/main">
            <a:pPr algn="l">
              <a:buNone/>
              <a:defRPr sz="2400">
                <a:solidFill>
                  <a:srgbClr val="000000"/>
                </a:solidFill>
                <a:latin typeface="Helvetica Neue"/>
                <a:ea typeface="Helvetica Neue"/>
                <a:cs typeface="Helvetica Neue"/>
              </a:defRPr>
            </a:pPr>
            <a:r>
              <a:t>유통기한·안전재고</a:t>
            </a:r>
          </a:p>
          <a:p xmlns:a="http://schemas.openxmlformats.org/drawingml/2006/main">
            <a:pPr algn="l">
              <a:buNone/>
              <a:defRPr sz="2400">
                <a:solidFill>
                  <a:srgbClr val="000000"/>
                </a:solidFill>
                <a:latin typeface="Helvetica Neue"/>
                <a:ea typeface="Helvetica Neue"/>
                <a:cs typeface="Helvetica Neue"/>
              </a:defRPr>
            </a:pPr>
            <a:r>
              <a:t>FIFO(선입선출)</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완제품 무재고</a:t>
            </a:r>
          </a:p>
          <a:p xmlns:a="http://schemas.openxmlformats.org/drawingml/2006/main">
            <a:pPr algn="l">
              <a:buNone/>
              <a:defRPr sz="2400">
                <a:solidFill>
                  <a:srgbClr val="000000"/>
                </a:solidFill>
                <a:latin typeface="Helvetica Neue"/>
                <a:ea typeface="Helvetica Neue"/>
                <a:cs typeface="Helvetica Neue"/>
              </a:defRPr>
            </a:pPr>
            <a:r>
              <a:t>5·10·15·20%</a:t>
            </a:r>
          </a:p>
          <a:p xmlns:a="http://schemas.openxmlformats.org/drawingml/2006/main">
            <a:pPr algn="l">
              <a:buNone/>
              <a:defRPr sz="2400">
                <a:solidFill>
                  <a:srgbClr val="000000"/>
                </a:solidFill>
                <a:latin typeface="Helvetica Neue"/>
                <a:ea typeface="Helvetica Neue"/>
                <a:cs typeface="Helvetica Neue"/>
              </a:defRPr>
            </a:pPr>
            <a:r>
              <a:t>OEM 전 0kg</a:t>
            </a:r>
          </a:p>
          <a:p xmlns:a="http://schemas.openxmlformats.org/drawingml/2006/main">
            <a:pPr algn="l">
              <a:buNone/>
              <a:defRPr sz="2400">
                <a:solidFill>
                  <a:srgbClr val="000000"/>
                </a:solidFill>
                <a:latin typeface="Helvetica Neue"/>
                <a:ea typeface="Helvetica Neue"/>
                <a:cs typeface="Helvetica Neue"/>
              </a:defRPr>
            </a:pPr>
            <a:r>
              <a:t>사양폐기 최소화</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출고 원칙</a:t>
            </a:r>
          </a:p>
          <a:p xmlns:a="http://schemas.openxmlformats.org/drawingml/2006/main">
            <a:pPr algn="l">
              <a:buNone/>
              <a:defRPr sz="2400">
                <a:solidFill>
                  <a:srgbClr val="000000"/>
                </a:solidFill>
                <a:latin typeface="Helvetica Neue"/>
                <a:ea typeface="Helvetica Neue"/>
                <a:cs typeface="Helvetica Neue"/>
              </a:defRPr>
            </a:pPr>
            <a:r>
              <a:t>PO(발주서) 승인</a:t>
            </a:r>
          </a:p>
          <a:p xmlns:a="http://schemas.openxmlformats.org/drawingml/2006/main">
            <a:pPr algn="l">
              <a:buNone/>
              <a:defRPr sz="2400">
                <a:solidFill>
                  <a:srgbClr val="000000"/>
                </a:solidFill>
                <a:latin typeface="Helvetica Neue"/>
                <a:ea typeface="Helvetica Neue"/>
                <a:cs typeface="Helvetica Neue"/>
              </a:defRPr>
            </a:pPr>
            <a:r>
              <a:t>MOQ·납기 확인</a:t>
            </a:r>
          </a:p>
          <a:p xmlns:a="http://schemas.openxmlformats.org/drawingml/2006/main">
            <a:pPr algn="l">
              <a:buNone/>
              <a:defRPr sz="2400">
                <a:solidFill>
                  <a:srgbClr val="000000"/>
                </a:solidFill>
                <a:latin typeface="Helvetica Neue"/>
                <a:ea typeface="Helvetica Neue"/>
                <a:cs typeface="Helvetica Neue"/>
              </a:defRPr>
            </a:pPr>
            <a:r>
              <a:t>그 뒤 OEM 생산</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06 | GABA CRUDE INVENTORY</a:t>
            </a:r>
          </a:p>
        </p:txBody>
      </p:sp>
    </p:spTree>
    <p:extLst>
      <p:ext uri="{BB962C8B-B14F-4D97-AF65-F5344CB8AC3E}">
        <p14:creationId xmlns:p14="http://schemas.microsoft.com/office/powerpoint/2010/main" val="1604558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7</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가바크루드 주문 농도와 발주서를 확인한 뒤 OEM 생산을 시작한다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발주서·규격 확정</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마스터 출고</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OEM 완제품화</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필요량 계산</a:t>
            </a:r>
          </a:p>
          <a:p xmlns:a="http://schemas.openxmlformats.org/drawingml/2006/main">
            <a:pPr algn="l">
              <a:buNone/>
              <a:defRPr sz="2400">
                <a:solidFill>
                  <a:srgbClr val="000000"/>
                </a:solidFill>
                <a:latin typeface="Helvetica Neue"/>
                <a:ea typeface="Helvetica Neue"/>
                <a:cs typeface="Helvetica Neue"/>
              </a:defRPr>
            </a:pPr>
            <a:r>
              <a:t>로트 지정·출고</a:t>
            </a:r>
          </a:p>
          <a:p xmlns:a="http://schemas.openxmlformats.org/drawingml/2006/main">
            <a:pPr algn="l">
              <a:buNone/>
              <a:defRPr sz="2400">
                <a:solidFill>
                  <a:srgbClr val="000000"/>
                </a:solidFill>
                <a:latin typeface="Helvetica Neue"/>
                <a:ea typeface="Helvetica Neue"/>
                <a:cs typeface="Helvetica Neue"/>
              </a:defRPr>
            </a:pPr>
            <a:r>
              <a:t>희석비 확정</a:t>
            </a:r>
          </a:p>
          <a:p xmlns:a="http://schemas.openxmlformats.org/drawingml/2006/main">
            <a:pPr algn="l">
              <a:buNone/>
              <a:defRPr sz="2400">
                <a:solidFill>
                  <a:srgbClr val="000000"/>
                </a:solidFill>
                <a:latin typeface="Helvetica Neue"/>
                <a:ea typeface="Helvetica Neue"/>
                <a:cs typeface="Helvetica Neue"/>
              </a:defRPr>
            </a:pPr>
            <a:r>
              <a:t>OEM 입고검사</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농도·수량</a:t>
            </a:r>
          </a:p>
          <a:p xmlns:a="http://schemas.openxmlformats.org/drawingml/2006/main">
            <a:pPr algn="l">
              <a:buNone/>
              <a:defRPr sz="2400">
                <a:solidFill>
                  <a:srgbClr val="000000"/>
                </a:solidFill>
                <a:latin typeface="Helvetica Neue"/>
                <a:ea typeface="Helvetica Neue"/>
                <a:cs typeface="Helvetica Neue"/>
              </a:defRPr>
            </a:pPr>
            <a:r>
              <a:t>담체·포장단위</a:t>
            </a:r>
          </a:p>
          <a:p xmlns:a="http://schemas.openxmlformats.org/drawingml/2006/main">
            <a:pPr algn="l">
              <a:buNone/>
              <a:defRPr sz="2400">
                <a:solidFill>
                  <a:srgbClr val="000000"/>
                </a:solidFill>
                <a:latin typeface="Helvetica Neue"/>
                <a:ea typeface="Helvetica Neue"/>
                <a:cs typeface="Helvetica Neue"/>
              </a:defRPr>
            </a:pPr>
            <a:r>
              <a:t>표시사항·CoA</a:t>
            </a:r>
          </a:p>
          <a:p xmlns:a="http://schemas.openxmlformats.org/drawingml/2006/main">
            <a:pPr algn="l">
              <a:buNone/>
              <a:defRPr sz="2400">
                <a:solidFill>
                  <a:srgbClr val="000000"/>
                </a:solidFill>
                <a:latin typeface="Helvetica Neue"/>
                <a:ea typeface="Helvetica Neue"/>
                <a:cs typeface="Helvetica Neue"/>
              </a:defRPr>
            </a:pPr>
            <a:r>
              <a:t>선금/발주 확정</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혼합·포장</a:t>
            </a:r>
          </a:p>
          <a:p xmlns:a="http://schemas.openxmlformats.org/drawingml/2006/main">
            <a:pPr algn="l">
              <a:buNone/>
              <a:defRPr sz="2400">
                <a:solidFill>
                  <a:srgbClr val="000000"/>
                </a:solidFill>
                <a:latin typeface="Helvetica Neue"/>
                <a:ea typeface="Helvetica Neue"/>
                <a:cs typeface="Helvetica Neue"/>
              </a:defRPr>
            </a:pPr>
            <a:r>
              <a:t>성분·안전성 검사</a:t>
            </a:r>
          </a:p>
          <a:p xmlns:a="http://schemas.openxmlformats.org/drawingml/2006/main">
            <a:pPr algn="l">
              <a:buNone/>
              <a:defRPr sz="2400">
                <a:solidFill>
                  <a:srgbClr val="000000"/>
                </a:solidFill>
                <a:latin typeface="Helvetica Neue"/>
                <a:ea typeface="Helvetica Neue"/>
                <a:cs typeface="Helvetica Neue"/>
              </a:defRPr>
            </a:pPr>
            <a:r>
              <a:t>CoA 발행·직송</a:t>
            </a:r>
          </a:p>
          <a:p xmlns:a="http://schemas.openxmlformats.org/drawingml/2006/main">
            <a:pPr algn="l">
              <a:buNone/>
              <a:defRPr sz="2400">
                <a:solidFill>
                  <a:srgbClr val="000000"/>
                </a:solidFill>
                <a:latin typeface="Helvetica Neue"/>
                <a:ea typeface="Helvetica Neue"/>
                <a:cs typeface="Helvetica Neue"/>
              </a:defRPr>
            </a:pPr>
            <a:r>
              <a:t>잔량 비축 금지</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07 | GABA CRUDE OEM FLOW</a:t>
            </a:r>
          </a:p>
        </p:txBody>
      </p:sp>
    </p:spTree>
    <p:extLst>
      <p:ext uri="{BB962C8B-B14F-4D97-AF65-F5344CB8AC3E}">
        <p14:creationId xmlns:p14="http://schemas.microsoft.com/office/powerpoint/2010/main" val="116188389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8</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두 사업 모두 첫 계약 전에 품목 분류와 공장 품질 체계를 서면으로 확인한다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규제 경로</a:t>
            </a:r>
          </a:p>
          <a:p xmlns:a="http://schemas.openxmlformats.org/drawingml/2006/main">
            <a:pPr algn="l">
              <a:buNone/>
              <a:defRPr sz="2400">
                <a:solidFill>
                  <a:srgbClr val="000000"/>
                </a:solidFill>
                <a:latin typeface="Helvetica Neue"/>
                <a:ea typeface="Helvetica Neue"/>
                <a:cs typeface="Helvetica Neue"/>
              </a:defRPr>
            </a:pPr>
            <a:r>
              <a:t>원료 명칭·품목 분류</a:t>
            </a:r>
          </a:p>
          <a:p xmlns:a="http://schemas.openxmlformats.org/drawingml/2006/main">
            <a:pPr algn="l">
              <a:buNone/>
              <a:defRPr sz="2400">
                <a:solidFill>
                  <a:srgbClr val="000000"/>
                </a:solidFill>
                <a:latin typeface="Helvetica Neue"/>
                <a:ea typeface="Helvetica Neue"/>
                <a:cs typeface="Helvetica Neue"/>
              </a:defRPr>
            </a:pPr>
            <a:r>
              <a:t>제조·성분 등록</a:t>
            </a:r>
          </a:p>
          <a:p xmlns:a="http://schemas.openxmlformats.org/drawingml/2006/main">
            <a:pPr algn="l">
              <a:buNone/>
              <a:defRPr sz="2400">
                <a:solidFill>
                  <a:srgbClr val="000000"/>
                </a:solidFill>
                <a:latin typeface="Helvetica Neue"/>
                <a:ea typeface="Helvetica Neue"/>
                <a:cs typeface="Helvetica Neue"/>
              </a:defRPr>
            </a:pPr>
            <a:r>
              <a:t>표시 가능 문구</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 규격</a:t>
            </a:r>
          </a:p>
          <a:p xmlns:a="http://schemas.openxmlformats.org/drawingml/2006/main">
            <a:pPr algn="l">
              <a:buNone/>
              <a:defRPr sz="2400">
                <a:solidFill>
                  <a:srgbClr val="000000"/>
                </a:solidFill>
                <a:latin typeface="Helvetica Neue"/>
                <a:ea typeface="Helvetica Neue"/>
                <a:cs typeface="Helvetica Neue"/>
              </a:defRPr>
            </a:pPr>
            <a:r>
              <a:t>GABA 활성함량</a:t>
            </a:r>
          </a:p>
          <a:p xmlns:a="http://schemas.openxmlformats.org/drawingml/2006/main">
            <a:pPr algn="l">
              <a:buNone/>
              <a:defRPr sz="2400">
                <a:solidFill>
                  <a:srgbClr val="000000"/>
                </a:solidFill>
                <a:latin typeface="Helvetica Neue"/>
                <a:ea typeface="Helvetica Neue"/>
                <a:cs typeface="Helvetica Neue"/>
              </a:defRPr>
            </a:pPr>
            <a:r>
              <a:t>로트별 CoA</a:t>
            </a:r>
          </a:p>
          <a:p xmlns:a="http://schemas.openxmlformats.org/drawingml/2006/main">
            <a:pPr algn="l">
              <a:buNone/>
              <a:defRPr sz="2400">
                <a:solidFill>
                  <a:srgbClr val="000000"/>
                </a:solidFill>
                <a:latin typeface="Helvetica Neue"/>
                <a:ea typeface="Helvetica Neue"/>
                <a:cs typeface="Helvetica Neue"/>
              </a:defRPr>
            </a:pPr>
            <a:r>
              <a:t>안정성·보존기한</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공장 적합</a:t>
            </a:r>
          </a:p>
          <a:p xmlns:a="http://schemas.openxmlformats.org/drawingml/2006/main">
            <a:pPr algn="l">
              <a:buNone/>
              <a:defRPr sz="2400">
                <a:solidFill>
                  <a:srgbClr val="000000"/>
                </a:solidFill>
                <a:latin typeface="Helvetica Neue"/>
                <a:ea typeface="Helvetica Neue"/>
                <a:cs typeface="Helvetica Neue"/>
              </a:defRPr>
            </a:pPr>
            <a:r>
              <a:t>정량투입·균일혼합</a:t>
            </a:r>
          </a:p>
          <a:p xmlns:a="http://schemas.openxmlformats.org/drawingml/2006/main">
            <a:pPr algn="l">
              <a:buNone/>
              <a:defRPr sz="2400">
                <a:solidFill>
                  <a:srgbClr val="000000"/>
                </a:solidFill>
                <a:latin typeface="Helvetica Neue"/>
                <a:ea typeface="Helvetica Neue"/>
                <a:cs typeface="Helvetica Neue"/>
              </a:defRPr>
            </a:pPr>
            <a:r>
              <a:t>펠렛 영향·세척</a:t>
            </a:r>
          </a:p>
          <a:p xmlns:a="http://schemas.openxmlformats.org/drawingml/2006/main">
            <a:pPr algn="l">
              <a:buNone/>
              <a:defRPr sz="2400">
                <a:solidFill>
                  <a:srgbClr val="000000"/>
                </a:solidFill>
                <a:latin typeface="Helvetica Neue"/>
                <a:ea typeface="Helvetica Neue"/>
                <a:cs typeface="Helvetica Neue"/>
              </a:defRPr>
            </a:pPr>
            <a:r>
              <a:t>변경관리</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공급·회수</a:t>
            </a:r>
          </a:p>
          <a:p xmlns:a="http://schemas.openxmlformats.org/drawingml/2006/main">
            <a:pPr algn="l">
              <a:buNone/>
              <a:defRPr sz="2400">
                <a:solidFill>
                  <a:srgbClr val="000000"/>
                </a:solidFill>
                <a:latin typeface="Helvetica Neue"/>
                <a:ea typeface="Helvetica Neue"/>
                <a:cs typeface="Helvetica Neue"/>
              </a:defRPr>
            </a:pPr>
            <a:r>
              <a:t>로트 추적·회수</a:t>
            </a:r>
          </a:p>
          <a:p xmlns:a="http://schemas.openxmlformats.org/drawingml/2006/main">
            <a:pPr algn="l">
              <a:buNone/>
              <a:defRPr sz="2400">
                <a:solidFill>
                  <a:srgbClr val="000000"/>
                </a:solidFill>
                <a:latin typeface="Helvetica Neue"/>
                <a:ea typeface="Helvetica Neue"/>
                <a:cs typeface="Helvetica Neue"/>
              </a:defRPr>
            </a:pPr>
            <a:r>
              <a:t>MOQ·납기</a:t>
            </a:r>
          </a:p>
          <a:p xmlns:a="http://schemas.openxmlformats.org/drawingml/2006/main">
            <a:pPr algn="l">
              <a:buNone/>
              <a:defRPr sz="2400">
                <a:solidFill>
                  <a:srgbClr val="000000"/>
                </a:solidFill>
                <a:latin typeface="Helvetica Neue"/>
                <a:ea typeface="Helvetica Neue"/>
                <a:cs typeface="Helvetica Neue"/>
              </a:defRPr>
            </a:pPr>
            <a:r>
              <a:t>반품 조건</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08 | REGULATORY &amp; QA CHECKS</a:t>
            </a:r>
          </a:p>
        </p:txBody>
      </p:sp>
    </p:spTree>
    <p:extLst>
      <p:ext uri="{BB962C8B-B14F-4D97-AF65-F5344CB8AC3E}">
        <p14:creationId xmlns:p14="http://schemas.microsoft.com/office/powerpoint/2010/main" val="1604558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9</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기존 연구만으로 브랜드 한우의 육질 개선을 증명할 수 없다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젖소 열스트레스</a:t>
            </a:r>
          </a:p>
          <a:p xmlns:a="http://schemas.openxmlformats.org/drawingml/2006/main">
            <a:pPr algn="l">
              <a:buNone/>
              <a:defRPr sz="2400">
                <a:solidFill>
                  <a:srgbClr val="000000"/>
                </a:solidFill>
                <a:latin typeface="Helvetica Neue"/>
                <a:ea typeface="Helvetica Neue"/>
                <a:cs typeface="Helvetica Neue"/>
              </a:defRPr>
            </a:pPr>
            <a:r>
              <a:t>RP-GABA·18두</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넙치 염분스트레스</a:t>
            </a:r>
          </a:p>
          <a:p xmlns:a="http://schemas.openxmlformats.org/drawingml/2006/main">
            <a:pPr algn="l">
              <a:buNone/>
              <a:defRPr sz="2400">
                <a:solidFill>
                  <a:srgbClr val="000000"/>
                </a:solidFill>
                <a:latin typeface="Helvetica Neue"/>
                <a:ea typeface="Helvetica Neue"/>
                <a:cs typeface="Helvetica Neue"/>
              </a:defRPr>
            </a:pPr>
            <a:r>
              <a:t>8주·9수조</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비육 한우</a:t>
            </a:r>
          </a:p>
          <a:p xmlns:a="http://schemas.openxmlformats.org/drawingml/2006/main">
            <a:pPr algn="l">
              <a:buNone/>
              <a:defRPr sz="2400">
                <a:solidFill>
                  <a:srgbClr val="000000"/>
                </a:solidFill>
                <a:latin typeface="Helvetica Neue"/>
                <a:ea typeface="Helvetica Neue"/>
                <a:cs typeface="Helvetica Neue"/>
              </a:defRPr>
            </a:pPr>
            <a:r>
              <a:t>21두</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산유량 비유의</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초기 증체 유의</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성장 개선 비유의</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젖소: 일부 유성분 유의 · 한우: 초기 증체 유의, 도체지표 비유의 · 넙치: 성장 비유의</a:t>
            </a:r>
          </a:p>
          <a:p xmlns:a="http://schemas.openxmlformats.org/drawingml/2006/main">
            <a:pPr algn="l">
              <a:buNone/>
              <a:defRPr sz="1600">
                <a:solidFill>
                  <a:srgbClr val="000000"/>
                </a:solidFill>
                <a:latin typeface="Helvetica Neue"/>
                <a:ea typeface="Helvetica Neue"/>
                <a:cs typeface="Helvetica Neue"/>
              </a:defRPr>
            </a:pPr>
            <a:r>
              <a:t>※ 해당 제품·대조군·사전 판정기준으로 다시 확인 필요</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09 | GABA CARE MIX EVIDENCE</a:t>
            </a:r>
          </a:p>
        </p:txBody>
      </p:sp>
    </p:spTree>
    <p:extLst>
      <p:ext uri="{BB962C8B-B14F-4D97-AF65-F5344CB8AC3E}">
        <p14:creationId xmlns:p14="http://schemas.microsoft.com/office/powerpoint/2010/main" val="136431717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10</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가바케어믹스의 첫 검증은 비육 한우 한 축종에 집중한다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시험 대상</a:t>
            </a:r>
          </a:p>
          <a:p xmlns:a="http://schemas.openxmlformats.org/drawingml/2006/main">
            <a:pPr algn="l">
              <a:buNone/>
              <a:defRPr sz="2400">
                <a:solidFill>
                  <a:srgbClr val="000000"/>
                </a:solidFill>
                <a:latin typeface="Helvetica Neue"/>
                <a:ea typeface="Helvetica Neue"/>
                <a:cs typeface="Helvetica Neue"/>
              </a:defRPr>
            </a:pPr>
            <a:r>
              <a:t>비육 한우</a:t>
            </a:r>
          </a:p>
          <a:p xmlns:a="http://schemas.openxmlformats.org/drawingml/2006/main">
            <a:pPr algn="l">
              <a:buNone/>
              <a:defRPr sz="2400">
                <a:solidFill>
                  <a:srgbClr val="000000"/>
                </a:solidFill>
                <a:latin typeface="Helvetica Neue"/>
                <a:ea typeface="Helvetica Neue"/>
                <a:cs typeface="Helvetica Neue"/>
              </a:defRPr>
            </a:pPr>
            <a:r>
              <a:t>동일 사육조건</a:t>
            </a:r>
          </a:p>
          <a:p xmlns:a="http://schemas.openxmlformats.org/drawingml/2006/main">
            <a:pPr algn="l">
              <a:buNone/>
              <a:defRPr sz="2400">
                <a:solidFill>
                  <a:srgbClr val="000000"/>
                </a:solidFill>
                <a:latin typeface="Helvetica Neue"/>
                <a:ea typeface="Helvetica Neue"/>
                <a:cs typeface="Helvetica Neue"/>
              </a:defRPr>
            </a:pPr>
            <a:r>
              <a:t>가바케어믹스·대조군</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 기준</a:t>
            </a:r>
          </a:p>
          <a:p xmlns:a="http://schemas.openxmlformats.org/drawingml/2006/main">
            <a:pPr algn="l">
              <a:buNone/>
              <a:defRPr sz="2400">
                <a:solidFill>
                  <a:srgbClr val="000000"/>
                </a:solidFill>
                <a:latin typeface="Helvetica Neue"/>
                <a:ea typeface="Helvetica Neue"/>
                <a:cs typeface="Helvetica Neue"/>
              </a:defRPr>
            </a:pPr>
            <a:r>
              <a:t>활성함량 고정</a:t>
            </a:r>
          </a:p>
          <a:p xmlns:a="http://schemas.openxmlformats.org/drawingml/2006/main">
            <a:pPr algn="l">
              <a:buNone/>
              <a:defRPr sz="2400">
                <a:solidFill>
                  <a:srgbClr val="000000"/>
                </a:solidFill>
                <a:latin typeface="Helvetica Neue"/>
                <a:ea typeface="Helvetica Neue"/>
                <a:cs typeface="Helvetica Neue"/>
              </a:defRPr>
            </a:pPr>
            <a:r>
              <a:t>배합 균일도</a:t>
            </a:r>
          </a:p>
          <a:p xmlns:a="http://schemas.openxmlformats.org/drawingml/2006/main">
            <a:pPr algn="l">
              <a:buNone/>
              <a:defRPr sz="2400">
                <a:solidFill>
                  <a:srgbClr val="000000"/>
                </a:solidFill>
                <a:latin typeface="Helvetica Neue"/>
                <a:ea typeface="Helvetica Neue"/>
                <a:cs typeface="Helvetica Neue"/>
              </a:defRPr>
            </a:pPr>
            <a:r>
              <a:t>로트별 안정성</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생산성</a:t>
            </a:r>
          </a:p>
          <a:p xmlns:a="http://schemas.openxmlformats.org/drawingml/2006/main">
            <a:pPr algn="l">
              <a:buNone/>
              <a:defRPr sz="2400">
                <a:solidFill>
                  <a:srgbClr val="000000"/>
                </a:solidFill>
                <a:latin typeface="Helvetica Neue"/>
                <a:ea typeface="Helvetica Neue"/>
                <a:cs typeface="Helvetica Neue"/>
              </a:defRPr>
            </a:pPr>
            <a:r>
              <a:t>일당증체량 ADG</a:t>
            </a:r>
          </a:p>
          <a:p xmlns:a="http://schemas.openxmlformats.org/drawingml/2006/main">
            <a:pPr algn="l">
              <a:buNone/>
              <a:defRPr sz="2400">
                <a:solidFill>
                  <a:srgbClr val="000000"/>
                </a:solidFill>
                <a:latin typeface="Helvetica Neue"/>
                <a:ea typeface="Helvetica Neue"/>
                <a:cs typeface="Helvetica Neue"/>
              </a:defRPr>
            </a:pPr>
            <a:r>
              <a:t>사료요구율 FCR</a:t>
            </a:r>
          </a:p>
          <a:p xmlns:a="http://schemas.openxmlformats.org/drawingml/2006/main">
            <a:pPr algn="l">
              <a:buNone/>
              <a:defRPr sz="2400">
                <a:solidFill>
                  <a:srgbClr val="000000"/>
                </a:solidFill>
                <a:latin typeface="Helvetica Neue"/>
                <a:ea typeface="Helvetica Neue"/>
                <a:cs typeface="Helvetica Neue"/>
              </a:defRPr>
            </a:pPr>
            <a:r>
              <a:t>kg 증체당 사료비</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육질</a:t>
            </a:r>
          </a:p>
          <a:p xmlns:a="http://schemas.openxmlformats.org/drawingml/2006/main">
            <a:pPr algn="l">
              <a:buNone/>
              <a:defRPr sz="2400">
                <a:solidFill>
                  <a:srgbClr val="000000"/>
                </a:solidFill>
                <a:latin typeface="Helvetica Neue"/>
                <a:ea typeface="Helvetica Neue"/>
                <a:cs typeface="Helvetica Neue"/>
              </a:defRPr>
            </a:pPr>
            <a:r>
              <a:t>도체중·등심단면적</a:t>
            </a:r>
          </a:p>
          <a:p xmlns:a="http://schemas.openxmlformats.org/drawingml/2006/main">
            <a:pPr algn="l">
              <a:buNone/>
              <a:defRPr sz="2400">
                <a:solidFill>
                  <a:srgbClr val="000000"/>
                </a:solidFill>
                <a:latin typeface="Helvetica Neue"/>
                <a:ea typeface="Helvetica Neue"/>
                <a:cs typeface="Helvetica Neue"/>
              </a:defRPr>
            </a:pPr>
            <a:r>
              <a:t>근내지방도·육질등급</a:t>
            </a:r>
          </a:p>
          <a:p xmlns:a="http://schemas.openxmlformats.org/drawingml/2006/main">
            <a:pPr algn="l">
              <a:buNone/>
              <a:defRPr sz="2400">
                <a:solidFill>
                  <a:srgbClr val="000000"/>
                </a:solidFill>
                <a:latin typeface="Helvetica Neue"/>
                <a:ea typeface="Helvetica Neue"/>
                <a:cs typeface="Helvetica Neue"/>
              </a:defRPr>
            </a:pPr>
            <a:r>
              <a:t>등지방두께</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10 | GABA CARE MIX POV</a:t>
            </a:r>
          </a:p>
        </p:txBody>
      </p:sp>
    </p:spTree>
    <p:extLst>
      <p:ext uri="{BB962C8B-B14F-4D97-AF65-F5344CB8AC3E}">
        <p14:creationId xmlns:p14="http://schemas.microsoft.com/office/powerpoint/2010/main" val="1604558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1D34A078-3FBA-46F8-85A2-00826C88368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C93A012E-BCFE-4293-BD7E-DC4D2D17E54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9F28272-6F11-465D-9090-5F1883B816E6}"/>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469D7F27-099D-43CA-8CFF-C4952289DBC4}"/>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11</a:t>
            </a:r>
          </a:p>
        </p:txBody>
      </p:sp>
      <p:sp>
        <p:nvSpPr>
          <p:cNvPr id="5" name="Title-2-5">
            <a:extLst xmlns:a="http://schemas.openxmlformats.org/drawingml/2006/main">
              <a:ext uri="{FF2B5EF4-FFF2-40B4-BE49-F238E27FC236}">
                <a16:creationId xmlns:a16="http://schemas.microsoft.com/office/drawing/2014/main" id="{1C1F8AD9-AE8E-4562-AC37-26708243BFC1}"/>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가바크루드 공헌이익 8,760원/kg은 실제 견적 확인이 필요하다</a:t>
            </a:r>
          </a:p>
        </p:txBody>
      </p:sp>
      <p:sp>
        <p:nvSpPr>
          <p:cNvPr id="6" name="Content-Placeholder-9-6">
            <a:extLst xmlns:a="http://schemas.openxmlformats.org/drawingml/2006/main">
              <a:ext uri="{FF2B5EF4-FFF2-40B4-BE49-F238E27FC236}">
                <a16:creationId xmlns:a16="http://schemas.microsoft.com/office/drawing/2014/main" id="{1D1250B4-54F3-4782-A4B2-EE1F200D3ABD}"/>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목표 판매가</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7" name="Content-Placeholder-10-7">
            <a:extLst xmlns:a="http://schemas.openxmlformats.org/drawingml/2006/main">
              <a:ext uri="{FF2B5EF4-FFF2-40B4-BE49-F238E27FC236}">
                <a16:creationId xmlns:a16="http://schemas.microsoft.com/office/drawing/2014/main" id="{34AFEE71-7610-48B7-8F8F-99A57BE66387}"/>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단위당 공헌이익</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8" name="Content-Placeholder-11-8">
            <a:extLst xmlns:a="http://schemas.openxmlformats.org/drawingml/2006/main">
              <a:ext uri="{FF2B5EF4-FFF2-40B4-BE49-F238E27FC236}">
                <a16:creationId xmlns:a16="http://schemas.microsoft.com/office/drawing/2014/main" id="{5E11AEC0-D14C-486A-85E7-0A0C6F0810EC}"/>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예상 원가</a:t>
            </a:r>
          </a:p>
          <a:p xmlns:a="http://schemas.openxmlformats.org/drawingml/2006/main">
            <a:pPr algn="l">
              <a:buNone/>
              <a:defRPr sz="2400">
                <a:solidFill>
                  <a:srgbClr val="000000"/>
                </a:solidFill>
                <a:latin typeface="Helvetica Neue"/>
                <a:ea typeface="Helvetica Neue"/>
                <a:cs typeface="Helvetica Neue"/>
              </a:defRPr>
            </a:pPr>
            <a:r>
              <a:t>KRW/kg</a:t>
            </a:r>
          </a:p>
        </p:txBody>
      </p:sp>
      <p:sp>
        <p:nvSpPr>
          <p:cNvPr id="9" name="Content-Placeholder-9-9">
            <a:extLst xmlns:a="http://schemas.openxmlformats.org/drawingml/2006/main">
              <a:ext uri="{FF2B5EF4-FFF2-40B4-BE49-F238E27FC236}">
                <a16:creationId xmlns:a16="http://schemas.microsoft.com/office/drawing/2014/main" id="{A2AE840C-7F28-496B-A49B-159987874C50}"/>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18,000</a:t>
            </a:r>
          </a:p>
        </p:txBody>
      </p:sp>
      <p:sp>
        <p:nvSpPr>
          <p:cNvPr id="10" name="Content-Placeholder-9-10">
            <a:extLst xmlns:a="http://schemas.openxmlformats.org/drawingml/2006/main">
              <a:ext uri="{FF2B5EF4-FFF2-40B4-BE49-F238E27FC236}">
                <a16:creationId xmlns:a16="http://schemas.microsoft.com/office/drawing/2014/main" id="{AA702D10-C695-463A-A3C0-DBF5E496DB6B}"/>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9,240</a:t>
            </a:r>
          </a:p>
        </p:txBody>
      </p:sp>
      <p:sp>
        <p:nvSpPr>
          <p:cNvPr id="11" name="Content-Placeholder-9-11">
            <a:extLst xmlns:a="http://schemas.openxmlformats.org/drawingml/2006/main">
              <a:ext uri="{FF2B5EF4-FFF2-40B4-BE49-F238E27FC236}">
                <a16:creationId xmlns:a16="http://schemas.microsoft.com/office/drawing/2014/main" id="{EAF87244-54F7-4E88-B704-D25904851B8C}"/>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+8,760</a:t>
            </a:r>
          </a:p>
        </p:txBody>
      </p:sp>
      <p:sp>
        <p:nvSpPr>
          <p:cNvPr id="12" name="Content-Placeholder-15-12">
            <a:extLst xmlns:a="http://schemas.openxmlformats.org/drawingml/2006/main">
              <a:ext uri="{FF2B5EF4-FFF2-40B4-BE49-F238E27FC236}">
                <a16:creationId xmlns:a16="http://schemas.microsoft.com/office/drawing/2014/main" id="{8E8A1894-A69C-460E-A838-F3D9255760E7}"/>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18,000−9,240=8,760원/kg · 공헌율 48.7%</a:t>
            </a:r>
          </a:p>
          <a:p xmlns:a="http://schemas.openxmlformats.org/drawingml/2006/main">
            <a:pPr algn="l">
              <a:buNone/>
              <a:defRPr sz="1600">
                <a:solidFill>
                  <a:srgbClr val="000000"/>
                </a:solidFill>
                <a:latin typeface="Helvetica Neue"/>
                <a:ea typeface="Helvetica Neue"/>
                <a:cs typeface="Helvetica Neue"/>
              </a:defRPr>
            </a:pPr>
            <a:r>
              <a:t>※ 9,240원/kg은 원본 가정이며 세부 원가는 아직 확인되지 않음</a:t>
            </a:r>
          </a:p>
        </p:txBody>
      </p:sp>
      <p:sp>
        <p:nvSpPr>
          <p:cNvPr id="13" name="brand-rule-11">
            <a:extLst xmlns:a="http://schemas.openxmlformats.org/drawingml/2006/main">
              <a:ext uri="{FF2B5EF4-FFF2-40B4-BE49-F238E27FC236}">
                <a16:creationId xmlns:a16="http://schemas.microsoft.com/office/drawing/2014/main" id="{FBF57E6B-569F-4078-95A6-F778D02C3ED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1">
            <a:extLst xmlns:a="http://schemas.openxmlformats.org/drawingml/2006/main">
              <a:ext uri="{FF2B5EF4-FFF2-40B4-BE49-F238E27FC236}">
                <a16:creationId xmlns:a16="http://schemas.microsoft.com/office/drawing/2014/main" id="{468E5B88-2580-448F-842A-814D5408AF5E}"/>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11 | GABA CRUDE ECONOMICS</a:t>
            </a:r>
          </a:p>
        </p:txBody>
      </p:sp>
    </p:spTree>
    <p:extLst>
      <p:ext uri="{BB962C8B-B14F-4D97-AF65-F5344CB8AC3E}">
        <p14:creationId xmlns:p14="http://schemas.microsoft.com/office/powerpoint/2010/main" val="162471053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1D34A078-3FBA-46F8-85A2-00826C88368D}"/>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C93A012E-BCFE-4293-BD7E-DC4D2D17E54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9F28272-6F11-465D-9090-5F1883B816E6}"/>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469D7F27-099D-43CA-8CFF-C4952289DBC4}"/>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12</a:t>
            </a:r>
          </a:p>
        </p:txBody>
      </p:sp>
      <p:sp>
        <p:nvSpPr>
          <p:cNvPr id="5" name="Title-2-5">
            <a:extLst xmlns:a="http://schemas.openxmlformats.org/drawingml/2006/main">
              <a:ext uri="{FF2B5EF4-FFF2-40B4-BE49-F238E27FC236}">
                <a16:creationId xmlns:a16="http://schemas.microsoft.com/office/drawing/2014/main" id="{1C1F8AD9-AE8E-4562-AC37-26708243BFC1}"/>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가바케어믹스 공헌이익 4,149원/t은 아직 가정이다</a:t>
            </a:r>
          </a:p>
        </p:txBody>
      </p:sp>
      <p:sp>
        <p:nvSpPr>
          <p:cNvPr id="6" name="Content-Placeholder-9-6">
            <a:extLst xmlns:a="http://schemas.openxmlformats.org/drawingml/2006/main">
              <a:ext uri="{FF2B5EF4-FFF2-40B4-BE49-F238E27FC236}">
                <a16:creationId xmlns:a16="http://schemas.microsoft.com/office/drawing/2014/main" id="{1D1250B4-54F3-4782-A4B2-EE1F200D3ABD}"/>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판매가</a:t>
            </a:r>
          </a:p>
          <a:p xmlns:a="http://schemas.openxmlformats.org/drawingml/2006/main">
            <a:pPr algn="l">
              <a:buNone/>
              <a:defRPr sz="2400">
                <a:solidFill>
                  <a:srgbClr val="000000"/>
                </a:solidFill>
                <a:latin typeface="Helvetica Neue"/>
                <a:ea typeface="Helvetica Neue"/>
                <a:cs typeface="Helvetica Neue"/>
              </a:defRPr>
            </a:pPr>
            <a:r>
              <a:t>KRW/t</a:t>
            </a:r>
          </a:p>
        </p:txBody>
      </p:sp>
      <p:sp>
        <p:nvSpPr>
          <p:cNvPr id="7" name="Content-Placeholder-10-7">
            <a:extLst xmlns:a="http://schemas.openxmlformats.org/drawingml/2006/main">
              <a:ext uri="{FF2B5EF4-FFF2-40B4-BE49-F238E27FC236}">
                <a16:creationId xmlns:a16="http://schemas.microsoft.com/office/drawing/2014/main" id="{34AFEE71-7610-48B7-8F8F-99A57BE66387}"/>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공헌이익</a:t>
            </a:r>
          </a:p>
          <a:p xmlns:a="http://schemas.openxmlformats.org/drawingml/2006/main">
            <a:pPr algn="l">
              <a:buNone/>
              <a:defRPr sz="2400">
                <a:solidFill>
                  <a:srgbClr val="000000"/>
                </a:solidFill>
                <a:latin typeface="Helvetica Neue"/>
                <a:ea typeface="Helvetica Neue"/>
                <a:cs typeface="Helvetica Neue"/>
              </a:defRPr>
            </a:pPr>
            <a:r>
              <a:t>KRW/t</a:t>
            </a:r>
          </a:p>
        </p:txBody>
      </p:sp>
      <p:sp>
        <p:nvSpPr>
          <p:cNvPr id="8" name="Content-Placeholder-11-8">
            <a:extLst xmlns:a="http://schemas.openxmlformats.org/drawingml/2006/main">
              <a:ext uri="{FF2B5EF4-FFF2-40B4-BE49-F238E27FC236}">
                <a16:creationId xmlns:a16="http://schemas.microsoft.com/office/drawing/2014/main" id="{5E11AEC0-D14C-486A-85E7-0A0C6F0810EC}"/>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직접비</a:t>
            </a:r>
          </a:p>
          <a:p xmlns:a="http://schemas.openxmlformats.org/drawingml/2006/main">
            <a:pPr algn="l">
              <a:buNone/>
              <a:defRPr sz="2400">
                <a:solidFill>
                  <a:srgbClr val="000000"/>
                </a:solidFill>
                <a:latin typeface="Helvetica Neue"/>
                <a:ea typeface="Helvetica Neue"/>
                <a:cs typeface="Helvetica Neue"/>
              </a:defRPr>
            </a:pPr>
            <a:r>
              <a:t>KRW/t</a:t>
            </a:r>
          </a:p>
        </p:txBody>
      </p:sp>
      <p:sp>
        <p:nvSpPr>
          <p:cNvPr id="9" name="Content-Placeholder-9-9">
            <a:extLst xmlns:a="http://schemas.openxmlformats.org/drawingml/2006/main">
              <a:ext uri="{FF2B5EF4-FFF2-40B4-BE49-F238E27FC236}">
                <a16:creationId xmlns:a16="http://schemas.microsoft.com/office/drawing/2014/main" id="{A2AE840C-7F28-496B-A49B-159987874C50}"/>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6,000</a:t>
            </a:r>
          </a:p>
        </p:txBody>
      </p:sp>
      <p:sp>
        <p:nvSpPr>
          <p:cNvPr id="10" name="Content-Placeholder-9-10">
            <a:extLst xmlns:a="http://schemas.openxmlformats.org/drawingml/2006/main">
              <a:ext uri="{FF2B5EF4-FFF2-40B4-BE49-F238E27FC236}">
                <a16:creationId xmlns:a16="http://schemas.microsoft.com/office/drawing/2014/main" id="{AA702D10-C695-463A-A3C0-DBF5E496DB6B}"/>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1,851</a:t>
            </a:r>
          </a:p>
        </p:txBody>
      </p:sp>
      <p:sp>
        <p:nvSpPr>
          <p:cNvPr id="11" name="Content-Placeholder-9-11">
            <a:extLst xmlns:a="http://schemas.openxmlformats.org/drawingml/2006/main">
              <a:ext uri="{FF2B5EF4-FFF2-40B4-BE49-F238E27FC236}">
                <a16:creationId xmlns:a16="http://schemas.microsoft.com/office/drawing/2014/main" id="{EAF87244-54F7-4E88-B704-D25904851B8C}"/>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+4,149</a:t>
            </a:r>
          </a:p>
        </p:txBody>
      </p:sp>
      <p:sp>
        <p:nvSpPr>
          <p:cNvPr id="12" name="Content-Placeholder-15-12">
            <a:extLst xmlns:a="http://schemas.openxmlformats.org/drawingml/2006/main">
              <a:ext uri="{FF2B5EF4-FFF2-40B4-BE49-F238E27FC236}">
                <a16:creationId xmlns:a16="http://schemas.microsoft.com/office/drawing/2014/main" id="{8E8A1894-A69C-460E-A838-F3D9255760E7}"/>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제품비 351 + 현장·채널비 1,500 = 직접비 1,851원</a:t>
            </a:r>
          </a:p>
          <a:p xmlns:a="http://schemas.openxmlformats.org/drawingml/2006/main">
            <a:pPr algn="l">
              <a:buNone/>
              <a:defRPr sz="1600">
                <a:solidFill>
                  <a:srgbClr val="000000"/>
                </a:solidFill>
                <a:latin typeface="Helvetica Neue"/>
                <a:ea typeface="Helvetica Neue"/>
                <a:cs typeface="Helvetica Neue"/>
              </a:defRPr>
            </a:pPr>
            <a:r>
              <a:t>※ 75g/사료t과 4,681.8원/kg은 원본 가정</a:t>
            </a:r>
          </a:p>
        </p:txBody>
      </p:sp>
      <p:sp>
        <p:nvSpPr>
          <p:cNvPr id="13" name="brand-rule-11">
            <a:extLst xmlns:a="http://schemas.openxmlformats.org/drawingml/2006/main">
              <a:ext uri="{FF2B5EF4-FFF2-40B4-BE49-F238E27FC236}">
                <a16:creationId xmlns:a16="http://schemas.microsoft.com/office/drawing/2014/main" id="{FBF57E6B-569F-4078-95A6-F778D02C3ED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1">
            <a:extLst xmlns:a="http://schemas.openxmlformats.org/drawingml/2006/main">
              <a:ext uri="{FF2B5EF4-FFF2-40B4-BE49-F238E27FC236}">
                <a16:creationId xmlns:a16="http://schemas.microsoft.com/office/drawing/2014/main" id="{468E5B88-2580-448F-842A-814D5408AF5E}"/>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12 | GABA CARE MIX ECONOMICS</a:t>
            </a:r>
          </a:p>
        </p:txBody>
      </p:sp>
    </p:spTree>
    <p:extLst>
      <p:ext uri="{BB962C8B-B14F-4D97-AF65-F5344CB8AC3E}">
        <p14:creationId xmlns:p14="http://schemas.microsoft.com/office/powerpoint/2010/main" val="162471053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13</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고객 가치 18,000원/사료t은 유료 비교시험으로 확인한다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손실회피 가정</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고객 순가치</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프로그램 가격</a:t>
            </a:r>
          </a:p>
          <a:p xmlns:a="http://schemas.openxmlformats.org/drawingml/2006/main">
            <a:pPr algn="l">
              <a:buNone/>
              <a:defRPr sz="2400">
                <a:solidFill>
                  <a:srgbClr val="000000"/>
                </a:solidFill>
                <a:latin typeface="Helvetica Neue"/>
                <a:ea typeface="Helvetica Neue"/>
                <a:cs typeface="Helvetica Neue"/>
              </a:defRPr>
            </a:pPr>
            <a:r>
              <a:t>KRW/사료t</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18,000</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6,000</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+12,000</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18,000−6,000=12,000원 · B/C=3.0배</a:t>
            </a:r>
          </a:p>
          <a:p xmlns:a="http://schemas.openxmlformats.org/drawingml/2006/main">
            <a:pPr algn="l">
              <a:buNone/>
              <a:defRPr sz="1600">
                <a:solidFill>
                  <a:srgbClr val="000000"/>
                </a:solidFill>
                <a:latin typeface="Helvetica Neue"/>
                <a:ea typeface="Helvetica Neue"/>
                <a:cs typeface="Helvetica Neue"/>
              </a:defRPr>
            </a:pPr>
            <a:r>
              <a:t>※ B/C=편익/비용 비율 · 현재는 가설이며 유료 비교시험에서 확인</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13 | CUSTOMER VALUE HYPOTHESIS</a:t>
            </a:r>
          </a:p>
        </p:txBody>
      </p:sp>
    </p:spTree>
    <p:extLst>
      <p:ext uri="{BB962C8B-B14F-4D97-AF65-F5344CB8AC3E}">
        <p14:creationId xmlns:p14="http://schemas.microsoft.com/office/powerpoint/2010/main" val="136431717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14</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반복 주문 가정 매출은 6.60억원, 공헌이익은 3.83억원이다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가바크루드</a:t>
            </a:r>
          </a:p>
          <a:p xmlns:a="http://schemas.openxmlformats.org/drawingml/2006/main">
            <a:pPr algn="l">
              <a:buNone/>
              <a:defRPr sz="2400">
                <a:solidFill>
                  <a:srgbClr val="000000"/>
                </a:solidFill>
                <a:latin typeface="Helvetica Neue"/>
                <a:ea typeface="Helvetica Neue"/>
                <a:cs typeface="Helvetica Neue"/>
              </a:defRPr>
            </a:pPr>
            <a:r>
              <a:t>공헌이익</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합계</a:t>
            </a:r>
          </a:p>
          <a:p xmlns:a="http://schemas.openxmlformats.org/drawingml/2006/main">
            <a:pPr algn="l">
              <a:buNone/>
              <a:defRPr sz="2400">
                <a:solidFill>
                  <a:srgbClr val="000000"/>
                </a:solidFill>
                <a:latin typeface="Helvetica Neue"/>
                <a:ea typeface="Helvetica Neue"/>
                <a:cs typeface="Helvetica Neue"/>
              </a:defRPr>
            </a:pPr>
            <a:r>
              <a:t>공헌이익</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가바케어믹스</a:t>
            </a:r>
          </a:p>
          <a:p xmlns:a="http://schemas.openxmlformats.org/drawingml/2006/main">
            <a:pPr algn="l">
              <a:buNone/>
              <a:defRPr sz="2400">
                <a:solidFill>
                  <a:srgbClr val="000000"/>
                </a:solidFill>
                <a:latin typeface="Helvetica Neue"/>
                <a:ea typeface="Helvetica Neue"/>
                <a:cs typeface="Helvetica Neue"/>
              </a:defRPr>
            </a:pPr>
            <a:r>
              <a:t>공헌이익</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1.75억원</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2.07억원</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3.83억원</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가바크루드 매출 3.60억 + 가바케어믹스 매출 3.00억</a:t>
            </a:r>
          </a:p>
          <a:p xmlns:a="http://schemas.openxmlformats.org/drawingml/2006/main">
            <a:pPr algn="l">
              <a:buNone/>
              <a:defRPr sz="1600">
                <a:solidFill>
                  <a:srgbClr val="000000"/>
                </a:solidFill>
                <a:latin typeface="Helvetica Neue"/>
                <a:ea typeface="Helvetica Neue"/>
                <a:cs typeface="Helvetica Neue"/>
              </a:defRPr>
            </a:pPr>
            <a:r>
              <a:t>※ 실제 PO가 아닌 반복 주문 가정 시나리오</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14 | REPEAT SCENARIO</a:t>
            </a:r>
          </a:p>
        </p:txBody>
      </p:sp>
    </p:spTree>
    <p:extLst>
      <p:ext uri="{BB962C8B-B14F-4D97-AF65-F5344CB8AC3E}">
        <p14:creationId xmlns:p14="http://schemas.microsoft.com/office/powerpoint/2010/main" val="136431717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3" name="Slide-Number-Placeholder-3-2">
            <a:extLst xmlns:a="http://schemas.openxmlformats.org/drawingml/2006/main">
              <a:ext uri="{FF2B5EF4-FFF2-40B4-BE49-F238E27FC236}">
                <a16:creationId xmlns:a16="http://schemas.microsoft.com/office/drawing/2014/main" id="{673F532A-4272-4AD1-863A-38B22D8FC8CB}"/>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15</a:t>
            </a:r>
          </a:p>
        </p:txBody>
      </p:sp>
      <p:sp>
        <p:nvSpPr>
          <p:cNvPr id="2" name="Title-10-3">
            <a:extLst xmlns:a="http://schemas.openxmlformats.org/drawingml/2006/main">
              <a:ext uri="{FF2B5EF4-FFF2-40B4-BE49-F238E27FC236}">
                <a16:creationId xmlns:a16="http://schemas.microsoft.com/office/drawing/2014/main" id="{C8F0B7E0-788B-4632-AFF8-75CBD8CA15A9}"/>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제공된 배양액 CAPA 합계는 월 220톤이다</a:t>
            </a:r>
          </a:p>
        </p:txBody>
      </p:sp>
      <p:sp>
        <p:nvSpPr>
          <p:cNvPr id="3" name="Rounded-Rectangle-36-4">
            <a:extLst xmlns:a="http://schemas.openxmlformats.org/drawingml/2006/main">
              <a:ext uri="{FF2B5EF4-FFF2-40B4-BE49-F238E27FC236}">
                <a16:creationId xmlns:a16="http://schemas.microsoft.com/office/drawing/2014/main" id="{F7A1D57F-EF2D-418C-9C73-2303C9114CC6}"/>
              </a:ext>
            </a:extLst>
          </p:cNvPr>
          <p:cNvSpPr>
            <a:spLocks xmlns:a="http://schemas.openxmlformats.org/drawingml/2006/main" noGrp="1"/>
          </p:cNvSpPr>
          <p:nvPr/>
        </p:nvSpPr>
        <p:spPr>
          <a:xfrm xmlns:a="http://schemas.openxmlformats.org/drawingml/2006/main">
            <a:off x="6272022"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4" name="Content-Placeholder-9-5">
            <a:extLst xmlns:a="http://schemas.openxmlformats.org/drawingml/2006/main">
              <a:ext uri="{FF2B5EF4-FFF2-40B4-BE49-F238E27FC236}">
                <a16:creationId xmlns:a16="http://schemas.microsoft.com/office/drawing/2014/main" id="{409F2D52-88D4-45A2-A354-BBC0108FB8A1}"/>
              </a:ext>
            </a:extLst>
          </p:cNvPr>
          <p:cNvSpPr>
            <a:spLocks xmlns:a="http://schemas.openxmlformats.org/drawingml/2006/main" noGrp="1"/>
          </p:cNvSpPr>
          <p:nvPr/>
        </p:nvSpPr>
        <p:spPr>
          <a:xfrm xmlns:a="http://schemas.openxmlformats.org/drawingml/2006/main">
            <a:off x="6509385"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월 20톤</a:t>
            </a:r>
          </a:p>
        </p:txBody>
      </p:sp>
      <p:sp>
        <p:nvSpPr>
          <p:cNvPr id="5" name="Content-Placeholder-15-6">
            <a:extLst xmlns:a="http://schemas.openxmlformats.org/drawingml/2006/main">
              <a:ext uri="{FF2B5EF4-FFF2-40B4-BE49-F238E27FC236}">
                <a16:creationId xmlns:a16="http://schemas.microsoft.com/office/drawing/2014/main" id="{9714F1A2-F61B-4DC0-AAB9-3FCBF3425A93}"/>
              </a:ext>
            </a:extLst>
          </p:cNvPr>
          <p:cNvSpPr>
            <a:spLocks xmlns:a="http://schemas.openxmlformats.org/drawingml/2006/main" noGrp="1"/>
          </p:cNvSpPr>
          <p:nvPr/>
        </p:nvSpPr>
        <p:spPr>
          <a:xfrm xmlns:a="http://schemas.openxmlformats.org/drawingml/2006/main">
            <a:off x="6575965" y="5068253"/>
            <a:ext cx="2066735" cy="61598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비전바이오켐</a:t>
            </a:r>
          </a:p>
          <a:p xmlns:a="http://schemas.openxmlformats.org/drawingml/2006/main">
            <a:pPr algn="l">
              <a:buNone/>
              <a:defRPr sz="2400">
                <a:solidFill>
                  <a:srgbClr val="000000"/>
                </a:solidFill>
                <a:latin typeface="Helvetica Neue"/>
                <a:ea typeface="Helvetica Neue"/>
                <a:cs typeface="Helvetica Neue"/>
              </a:defRPr>
            </a:pPr>
            <a:r>
              <a:t>배양액 CAPA</a:t>
            </a:r>
          </a:p>
        </p:txBody>
      </p:sp>
      <p:sp>
        <p:nvSpPr>
          <p:cNvPr id="6" name="Rounded-Rectangle-39-7">
            <a:extLst xmlns:a="http://schemas.openxmlformats.org/drawingml/2006/main">
              <a:ext uri="{FF2B5EF4-FFF2-40B4-BE49-F238E27FC236}">
                <a16:creationId xmlns:a16="http://schemas.microsoft.com/office/drawing/2014/main" id="{C0047798-46C2-406A-9B7B-A4732250E1E5}"/>
              </a:ext>
            </a:extLst>
          </p:cNvPr>
          <p:cNvSpPr>
            <a:spLocks xmlns:a="http://schemas.openxmlformats.org/drawingml/2006/main" noGrp="1"/>
          </p:cNvSpPr>
          <p:nvPr/>
        </p:nvSpPr>
        <p:spPr>
          <a:xfrm xmlns:a="http://schemas.openxmlformats.org/drawingml/2006/main">
            <a:off x="9224201" y="3360039"/>
            <a:ext cx="2581942" cy="2656523"/>
          </a:xfrm>
          <a:prstGeom xmlns:a="http://schemas.openxmlformats.org/drawingml/2006/main" prst="roundRect">
            <a:avLst>
              <a:gd name="adj" fmla="val 2951"/>
            </a:avLst>
          </a:prstGeom>
          <a:solidFill xmlns:a="http://schemas.openxmlformats.org/drawingml/2006/main">
            <a:srgbClr val="F2F2F2"/>
          </a:solidFill>
        </p:spPr>
      </p:sp>
      <p:sp>
        <p:nvSpPr>
          <p:cNvPr id="7" name="Content-Placeholder-9-8">
            <a:extLst xmlns:a="http://schemas.openxmlformats.org/drawingml/2006/main">
              <a:ext uri="{FF2B5EF4-FFF2-40B4-BE49-F238E27FC236}">
                <a16:creationId xmlns:a16="http://schemas.microsoft.com/office/drawing/2014/main" id="{F316EECB-DF1E-45BE-8BBA-588C6D78DC63}"/>
              </a:ext>
            </a:extLst>
          </p:cNvPr>
          <p:cNvSpPr>
            <a:spLocks xmlns:a="http://schemas.openxmlformats.org/drawingml/2006/main" noGrp="1"/>
          </p:cNvSpPr>
          <p:nvPr/>
        </p:nvSpPr>
        <p:spPr>
          <a:xfrm xmlns:a="http://schemas.openxmlformats.org/drawingml/2006/main">
            <a:off x="9461564" y="3579971"/>
            <a:ext cx="2133314" cy="1155859"/>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월 200톤</a:t>
            </a:r>
          </a:p>
        </p:txBody>
      </p:sp>
      <p:sp>
        <p:nvSpPr>
          <p:cNvPr id="8" name="Content-Placeholder-15-9">
            <a:extLst xmlns:a="http://schemas.openxmlformats.org/drawingml/2006/main">
              <a:ext uri="{FF2B5EF4-FFF2-40B4-BE49-F238E27FC236}">
                <a16:creationId xmlns:a16="http://schemas.microsoft.com/office/drawing/2014/main" id="{2DF94C34-D4F4-4039-8AF7-F69409C5A8CF}"/>
              </a:ext>
            </a:extLst>
          </p:cNvPr>
          <p:cNvSpPr>
            <a:spLocks xmlns:a="http://schemas.openxmlformats.org/drawingml/2006/main" noGrp="1"/>
          </p:cNvSpPr>
          <p:nvPr/>
        </p:nvSpPr>
        <p:spPr>
          <a:xfrm xmlns:a="http://schemas.openxmlformats.org/drawingml/2006/main">
            <a:off x="9528143" y="5068253"/>
            <a:ext cx="2066735" cy="615982"/>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지에프퍼멘텍</a:t>
            </a:r>
          </a:p>
          <a:p xmlns:a="http://schemas.openxmlformats.org/drawingml/2006/main">
            <a:pPr algn="l">
              <a:buNone/>
              <a:defRPr sz="2400">
                <a:solidFill>
                  <a:srgbClr val="000000"/>
                </a:solidFill>
                <a:latin typeface="Helvetica Neue"/>
                <a:ea typeface="Helvetica Neue"/>
                <a:cs typeface="Helvetica Neue"/>
              </a:defRPr>
            </a:pPr>
            <a:r>
              <a:t>배양액 CAPA</a:t>
            </a:r>
          </a:p>
        </p:txBody>
      </p:sp>
      <p:sp>
        <p:nvSpPr>
          <p:cNvPr id="9" name="Content-Placeholder-2-10">
            <a:extLst xmlns:a="http://schemas.openxmlformats.org/drawingml/2006/main">
              <a:ext uri="{FF2B5EF4-FFF2-40B4-BE49-F238E27FC236}">
                <a16:creationId xmlns:a16="http://schemas.microsoft.com/office/drawing/2014/main" id="{6B9CA33A-9DE8-4E60-84D8-67F414473DED}"/>
              </a:ext>
            </a:extLst>
          </p:cNvPr>
          <p:cNvSpPr>
            <a:spLocks xmlns:a="http://schemas.openxmlformats.org/drawingml/2006/main" noGrp="1"/>
          </p:cNvSpPr>
          <p:nvPr/>
        </p:nvSpPr>
        <p:spPr>
          <a:xfrm xmlns:a="http://schemas.openxmlformats.org/drawingml/2006/main">
            <a:off x="6261068" y="1955578"/>
            <a:ext cx="5539835" cy="9906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사용자 제공 자료 합계 월 220톤</a:t>
            </a:r>
          </a:p>
          <a:p xmlns:a="http://schemas.openxmlformats.org/drawingml/2006/main">
            <a:pPr algn="l">
              <a:buNone/>
              <a:defRPr sz="2400">
                <a:solidFill>
                  <a:srgbClr val="000000"/>
                </a:solidFill>
                <a:latin typeface="Helvetica Neue"/>
                <a:ea typeface="Helvetica Neue"/>
                <a:cs typeface="Helvetica Neue"/>
              </a:defRPr>
            </a:pPr>
            <a:r>
              <a:t>※ 계약·실가동·품질체계 확인 후 공급계획에 반영</a:t>
            </a:r>
          </a:p>
        </p:txBody>
      </p:sp>
      <p:graphicFrame>
        <p:nvGraphicFramePr>
          <p:cNvPr id="24" name="Chart"/>
          <p:cNvGraphicFramePr/>
          <p:nvPr/>
        </p:nvGraphicFramePr>
        <p:xfrm>
          <a:off xmlns:a="http://schemas.openxmlformats.org/drawingml/2006/main" x="385858" y="1254728"/>
          <a:ext xmlns:a="http://schemas.openxmlformats.org/drawingml/2006/main" cx="5534216" cy="5024533"/>
        </p:xfrm>
        <a:graphic xmlns:a="http://schemas.openxmlformats.org/drawingml/2006/main">
          <a:graphicData uri="http://schemas.openxmlformats.org/drawingml/2006/chart">
            <c:chart xmlns:r="http://schemas.openxmlformats.org/officeDocument/2006/relationships" xmlns:c="http://schemas.openxmlformats.org/drawingml/2006/chart" r:id="R53f6c218a0474b8d"/>
          </a:graphicData>
        </a:graphic>
      </p:graphicFrame>
      <p:sp>
        <p:nvSpPr>
          <p:cNvPr id="11" name="brand-rule-13">
            <a:extLst xmlns:a="http://schemas.openxmlformats.org/drawingml/2006/main">
              <a:ext uri="{FF2B5EF4-FFF2-40B4-BE49-F238E27FC236}">
                <a16:creationId xmlns:a16="http://schemas.microsoft.com/office/drawing/2014/main" id="{0BD47CD5-4599-4BFF-B057-7CB71052F222}"/>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2" name="brand-footer-13">
            <a:extLst xmlns:a="http://schemas.openxmlformats.org/drawingml/2006/main">
              <a:ext uri="{FF2B5EF4-FFF2-40B4-BE49-F238E27FC236}">
                <a16:creationId xmlns:a16="http://schemas.microsoft.com/office/drawing/2014/main" id="{2ECFDDE6-3722-418B-8E1B-1264083A0EA7}"/>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15 | PRODUCTION PARTNERS</a:t>
            </a:r>
          </a:p>
        </p:txBody>
      </p:sp>
    </p:spTree>
    <p:extLst>
      <p:ext uri="{BB962C8B-B14F-4D97-AF65-F5344CB8AC3E}">
        <p14:creationId xmlns:p14="http://schemas.microsoft.com/office/powerpoint/2010/main" val="185588583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16</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검증 속도는 높이되, 육질 판정 시점은 출하에 맞춘다</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30일</a:t>
            </a:r>
          </a:p>
          <a:p xmlns:a="http://schemas.openxmlformats.org/drawingml/2006/main">
            <a:pPr algn="l">
              <a:buNone/>
              <a:defRPr sz="2400">
                <a:solidFill>
                  <a:srgbClr val="000000"/>
                </a:solidFill>
                <a:latin typeface="Helvetica Neue"/>
                <a:ea typeface="Helvetica Neue"/>
                <a:cs typeface="Helvetica Neue"/>
              </a:defRPr>
            </a:pPr>
            <a:r>
              <a:t>규격·품목 검토</a:t>
            </a:r>
          </a:p>
          <a:p xmlns:a="http://schemas.openxmlformats.org/drawingml/2006/main">
            <a:pPr algn="l">
              <a:buNone/>
              <a:defRPr sz="2400">
                <a:solidFill>
                  <a:srgbClr val="000000"/>
                </a:solidFill>
                <a:latin typeface="Helvetica Neue"/>
                <a:ea typeface="Helvetica Neue"/>
                <a:cs typeface="Helvetica Neue"/>
              </a:defRPr>
            </a:pPr>
            <a:r>
              <a:t>시험생산·실제 원가</a:t>
            </a:r>
          </a:p>
          <a:p xmlns:a="http://schemas.openxmlformats.org/drawingml/2006/main">
            <a:pPr algn="l">
              <a:buNone/>
              <a:defRPr sz="2400">
                <a:solidFill>
                  <a:srgbClr val="000000"/>
                </a:solidFill>
                <a:latin typeface="Helvetica Neue"/>
                <a:ea typeface="Helvetica Neue"/>
                <a:cs typeface="Helvetica Neue"/>
              </a:defRPr>
            </a:pPr>
            <a:r>
              <a:t>유료 실증 착수</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90일</a:t>
            </a:r>
          </a:p>
          <a:p xmlns:a="http://schemas.openxmlformats.org/drawingml/2006/main">
            <a:pPr algn="l">
              <a:buNone/>
              <a:defRPr sz="2400">
                <a:solidFill>
                  <a:srgbClr val="000000"/>
                </a:solidFill>
                <a:latin typeface="Helvetica Neue"/>
                <a:ea typeface="Helvetica Neue"/>
                <a:cs typeface="Helvetica Neue"/>
              </a:defRPr>
            </a:pPr>
            <a:r>
              <a:t>섭취량·ADG</a:t>
            </a:r>
          </a:p>
          <a:p xmlns:a="http://schemas.openxmlformats.org/drawingml/2006/main">
            <a:pPr algn="l">
              <a:buNone/>
              <a:defRPr sz="2400">
                <a:solidFill>
                  <a:srgbClr val="000000"/>
                </a:solidFill>
                <a:latin typeface="Helvetica Neue"/>
                <a:ea typeface="Helvetica Neue"/>
                <a:cs typeface="Helvetica Neue"/>
              </a:defRPr>
            </a:pPr>
            <a:r>
              <a:t>FCR·kg 증체당 비용</a:t>
            </a:r>
          </a:p>
          <a:p xmlns:a="http://schemas.openxmlformats.org/drawingml/2006/main">
            <a:pPr algn="l">
              <a:buNone/>
              <a:defRPr sz="2400">
                <a:solidFill>
                  <a:srgbClr val="000000"/>
                </a:solidFill>
                <a:latin typeface="Helvetica Neue"/>
                <a:ea typeface="Helvetica Neue"/>
                <a:cs typeface="Helvetica Neue"/>
              </a:defRPr>
            </a:pPr>
            <a:r>
              <a:t>생산성 조기 신호</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출하 시</a:t>
            </a:r>
          </a:p>
          <a:p xmlns:a="http://schemas.openxmlformats.org/drawingml/2006/main">
            <a:pPr algn="l">
              <a:buNone/>
              <a:defRPr sz="2400">
                <a:solidFill>
                  <a:srgbClr val="000000"/>
                </a:solidFill>
                <a:latin typeface="Helvetica Neue"/>
                <a:ea typeface="Helvetica Neue"/>
                <a:cs typeface="Helvetica Neue"/>
              </a:defRPr>
            </a:pPr>
            <a:r>
              <a:t>도체중·등심단면적</a:t>
            </a:r>
          </a:p>
          <a:p xmlns:a="http://schemas.openxmlformats.org/drawingml/2006/main">
            <a:pPr algn="l">
              <a:buNone/>
              <a:defRPr sz="2400">
                <a:solidFill>
                  <a:srgbClr val="000000"/>
                </a:solidFill>
                <a:latin typeface="Helvetica Neue"/>
                <a:ea typeface="Helvetica Neue"/>
                <a:cs typeface="Helvetica Neue"/>
              </a:defRPr>
            </a:pPr>
            <a:r>
              <a:t>근내지방도·육질등급</a:t>
            </a:r>
          </a:p>
          <a:p xmlns:a="http://schemas.openxmlformats.org/drawingml/2006/main">
            <a:pPr algn="l">
              <a:buNone/>
              <a:defRPr sz="2400">
                <a:solidFill>
                  <a:srgbClr val="000000"/>
                </a:solidFill>
                <a:latin typeface="Helvetica Neue"/>
                <a:ea typeface="Helvetica Neue"/>
                <a:cs typeface="Helvetica Neue"/>
              </a:defRPr>
            </a:pPr>
            <a:r>
              <a:t>육질 최종 평가</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중단·보류</a:t>
            </a:r>
          </a:p>
          <a:p xmlns:a="http://schemas.openxmlformats.org/drawingml/2006/main">
            <a:pPr algn="l">
              <a:buNone/>
              <a:defRPr sz="2400">
                <a:solidFill>
                  <a:srgbClr val="000000"/>
                </a:solidFill>
                <a:latin typeface="Helvetica Neue"/>
                <a:ea typeface="Helvetica Neue"/>
                <a:cs typeface="Helvetica Neue"/>
              </a:defRPr>
            </a:pPr>
            <a:r>
              <a:t>이상반응·섭취 저하</a:t>
            </a:r>
          </a:p>
          <a:p xmlns:a="http://schemas.openxmlformats.org/drawingml/2006/main">
            <a:pPr algn="l">
              <a:buNone/>
              <a:defRPr sz="2400">
                <a:solidFill>
                  <a:srgbClr val="000000"/>
                </a:solidFill>
                <a:latin typeface="Helvetica Neue"/>
                <a:ea typeface="Helvetica Neue"/>
                <a:cs typeface="Helvetica Neue"/>
              </a:defRPr>
            </a:pPr>
            <a:r>
              <a:t>비용 개선 없음</a:t>
            </a:r>
          </a:p>
          <a:p xmlns:a="http://schemas.openxmlformats.org/drawingml/2006/main">
            <a:pPr algn="l">
              <a:buNone/>
              <a:defRPr sz="2400">
                <a:solidFill>
                  <a:srgbClr val="000000"/>
                </a:solidFill>
                <a:latin typeface="Helvetica Neue"/>
                <a:ea typeface="Helvetica Neue"/>
                <a:cs typeface="Helvetica Neue"/>
              </a:defRPr>
            </a:pPr>
            <a:r>
              <a:t>규격 미달·표시 미확정</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16 | EXPANSION CRITERIA</a:t>
            </a:r>
          </a:p>
        </p:txBody>
      </p:sp>
    </p:spTree>
    <p:extLst>
      <p:ext uri="{BB962C8B-B14F-4D97-AF65-F5344CB8AC3E}">
        <p14:creationId xmlns:p14="http://schemas.microsoft.com/office/powerpoint/2010/main" val="160455868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15" name="Slide-Number-Placeholder-3-2">
            <a:extLst xmlns:a="http://schemas.openxmlformats.org/drawingml/2006/main">
              <a:ext uri="{FF2B5EF4-FFF2-40B4-BE49-F238E27FC236}">
                <a16:creationId xmlns:a16="http://schemas.microsoft.com/office/drawing/2014/main" id="{B496B7F5-0060-42C5-8E64-3225E107460D}"/>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17</a:t>
            </a:r>
          </a:p>
        </p:txBody>
      </p:sp>
      <p:sp>
        <p:nvSpPr>
          <p:cNvPr id="2" name="Title-10-3">
            <a:extLst xmlns:a="http://schemas.openxmlformats.org/drawingml/2006/main">
              <a:ext uri="{FF2B5EF4-FFF2-40B4-BE49-F238E27FC236}">
                <a16:creationId xmlns:a16="http://schemas.microsoft.com/office/drawing/2014/main" id="{2EFF0847-A637-4DB9-87E4-30B0DAE8EF2C}"/>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첫 30일은 7일·21일·30일 세 번의 결정을 만든다</a:t>
            </a:r>
          </a:p>
        </p:txBody>
      </p:sp>
      <p:cxnSp>
        <p:nvCxnSpPr>
          <p:cNvPr id="59" name="Google-Shape-2259-p159-4"/>
          <p:cNvCxnSpPr/>
          <p:nvPr/>
        </p:nvCxnSpPr>
        <p:spPr>
          <a:xfrm xmlns:a="http://schemas.openxmlformats.org/drawingml/2006/main">
            <a:off x="337757" y="3373755"/>
            <a:ext cx="12245435" cy="286"/>
          </a:xfrm>
          <a:prstGeom xmlns:a="http://schemas.openxmlformats.org/drawingml/2006/main" prst="straightConnector1">
            <a:avLst/>
          </a:prstGeom>
          <a:ln xmlns:a="http://schemas.openxmlformats.org/drawingml/2006/main" w="9525">
            <a:solidFill>
              <a:srgbClr val="000000"/>
            </a:solidFill>
            <a:prstDash val="solid"/>
          </a:ln>
        </p:spPr>
      </p:cxnSp>
      <p:sp>
        <p:nvSpPr>
          <p:cNvPr id="4" name="Google-Shape-2260-p159-5">
            <a:extLst xmlns:a="http://schemas.openxmlformats.org/drawingml/2006/main">
              <a:ext uri="{FF2B5EF4-FFF2-40B4-BE49-F238E27FC236}">
                <a16:creationId xmlns:a16="http://schemas.microsoft.com/office/drawing/2014/main" id="{243B184A-5714-470F-861E-0880A4B3822B}"/>
              </a:ext>
            </a:extLst>
          </p:cNvPr>
          <p:cNvSpPr>
            <a:spLocks xmlns:a="http://schemas.openxmlformats.org/drawingml/2006/main" noGrp="1"/>
          </p:cNvSpPr>
          <p:nvPr/>
        </p:nvSpPr>
        <p:spPr>
          <a:xfrm xmlns:a="http://schemas.openxmlformats.org/drawingml/2006/main">
            <a:off x="337757" y="3320225"/>
            <a:ext cx="107061" cy="107061"/>
          </a:xfrm>
          <a:prstGeom xmlns:a="http://schemas.openxmlformats.org/drawingml/2006/main" prst="ellipse">
            <a:avLst/>
          </a:prstGeom>
          <a:solidFill xmlns:a="http://schemas.openxmlformats.org/drawingml/2006/main">
            <a:srgbClr val="000000"/>
          </a:solidFill>
        </p:spPr>
      </p:sp>
      <p:sp>
        <p:nvSpPr>
          <p:cNvPr id="5" name="Google-Shape-2261-p159-6">
            <a:extLst xmlns:a="http://schemas.openxmlformats.org/drawingml/2006/main">
              <a:ext uri="{FF2B5EF4-FFF2-40B4-BE49-F238E27FC236}">
                <a16:creationId xmlns:a16="http://schemas.microsoft.com/office/drawing/2014/main" id="{175C1DC6-EE18-4075-8D6A-38DBD46445E6}"/>
              </a:ext>
            </a:extLst>
          </p:cNvPr>
          <p:cNvSpPr>
            <a:spLocks xmlns:a="http://schemas.openxmlformats.org/drawingml/2006/main" noGrp="1"/>
          </p:cNvSpPr>
          <p:nvPr/>
        </p:nvSpPr>
        <p:spPr>
          <a:xfrm xmlns:a="http://schemas.openxmlformats.org/drawingml/2006/main">
            <a:off x="4251770" y="3320225"/>
            <a:ext cx="107061" cy="107061"/>
          </a:xfrm>
          <a:prstGeom xmlns:a="http://schemas.openxmlformats.org/drawingml/2006/main" prst="ellipse">
            <a:avLst/>
          </a:prstGeom>
          <a:solidFill xmlns:a="http://schemas.openxmlformats.org/drawingml/2006/main">
            <a:srgbClr val="000000"/>
          </a:solidFill>
        </p:spPr>
      </p:sp>
      <p:sp>
        <p:nvSpPr>
          <p:cNvPr id="6" name="Google-Shape-2262-p159-7">
            <a:extLst xmlns:a="http://schemas.openxmlformats.org/drawingml/2006/main">
              <a:ext uri="{FF2B5EF4-FFF2-40B4-BE49-F238E27FC236}">
                <a16:creationId xmlns:a16="http://schemas.microsoft.com/office/drawing/2014/main" id="{A7E15ADD-2361-408A-87FD-131AA6388C2E}"/>
              </a:ext>
            </a:extLst>
          </p:cNvPr>
          <p:cNvSpPr>
            <a:spLocks xmlns:a="http://schemas.openxmlformats.org/drawingml/2006/main" noGrp="1"/>
          </p:cNvSpPr>
          <p:nvPr/>
        </p:nvSpPr>
        <p:spPr>
          <a:xfrm xmlns:a="http://schemas.openxmlformats.org/drawingml/2006/main">
            <a:off x="8176070" y="3320225"/>
            <a:ext cx="107061" cy="107061"/>
          </a:xfrm>
          <a:prstGeom xmlns:a="http://schemas.openxmlformats.org/drawingml/2006/main" prst="ellipse">
            <a:avLst/>
          </a:prstGeom>
          <a:solidFill xmlns:a="http://schemas.openxmlformats.org/drawingml/2006/main">
            <a:srgbClr val="000000"/>
          </a:solidFill>
        </p:spPr>
      </p:sp>
      <p:sp>
        <p:nvSpPr>
          <p:cNvPr id="7" name="Content-Placeholder-15-8">
            <a:extLst xmlns:a="http://schemas.openxmlformats.org/drawingml/2006/main">
              <a:ext uri="{FF2B5EF4-FFF2-40B4-BE49-F238E27FC236}">
                <a16:creationId xmlns:a16="http://schemas.microsoft.com/office/drawing/2014/main" id="{8DE72BF7-233C-4347-B53E-1BBB871445A6}"/>
              </a:ext>
            </a:extLst>
          </p:cNvPr>
          <p:cNvSpPr>
            <a:spLocks xmlns:a="http://schemas.openxmlformats.org/drawingml/2006/main" noGrp="1"/>
          </p:cNvSpPr>
          <p:nvPr/>
        </p:nvSpPr>
        <p:spPr>
          <a:xfrm xmlns:a="http://schemas.openxmlformats.org/drawingml/2006/main">
            <a:off x="39366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0–7일</a:t>
            </a:r>
          </a:p>
        </p:txBody>
      </p:sp>
      <p:sp>
        <p:nvSpPr>
          <p:cNvPr id="8" name="Content-Placeholder-15-9">
            <a:extLst xmlns:a="http://schemas.openxmlformats.org/drawingml/2006/main">
              <a:ext uri="{FF2B5EF4-FFF2-40B4-BE49-F238E27FC236}">
                <a16:creationId xmlns:a16="http://schemas.microsoft.com/office/drawing/2014/main" id="{FBA56E75-1370-458F-ACBB-6B3996EE1512}"/>
              </a:ext>
            </a:extLst>
          </p:cNvPr>
          <p:cNvSpPr>
            <a:spLocks xmlns:a="http://schemas.openxmlformats.org/drawingml/2006/main" noGrp="1"/>
          </p:cNvSpPr>
          <p:nvPr/>
        </p:nvSpPr>
        <p:spPr>
          <a:xfrm xmlns:a="http://schemas.openxmlformats.org/drawingml/2006/main">
            <a:off x="4294156"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8–21일</a:t>
            </a:r>
          </a:p>
        </p:txBody>
      </p:sp>
      <p:sp>
        <p:nvSpPr>
          <p:cNvPr id="9" name="Content-Placeholder-15-10">
            <a:extLst xmlns:a="http://schemas.openxmlformats.org/drawingml/2006/main">
              <a:ext uri="{FF2B5EF4-FFF2-40B4-BE49-F238E27FC236}">
                <a16:creationId xmlns:a16="http://schemas.microsoft.com/office/drawing/2014/main" id="{B63CBB6C-9454-4282-9788-768A6B008AEC}"/>
              </a:ext>
            </a:extLst>
          </p:cNvPr>
          <p:cNvSpPr>
            <a:spLocks xmlns:a="http://schemas.openxmlformats.org/drawingml/2006/main" noGrp="1"/>
          </p:cNvSpPr>
          <p:nvPr/>
        </p:nvSpPr>
        <p:spPr>
          <a:xfrm xmlns:a="http://schemas.openxmlformats.org/drawingml/2006/main">
            <a:off x="8223218" y="2843308"/>
            <a:ext cx="1612868" cy="26241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22–30일</a:t>
            </a:r>
          </a:p>
        </p:txBody>
      </p:sp>
      <p:sp>
        <p:nvSpPr>
          <p:cNvPr id="10" name="Text-Placeholder-16-11">
            <a:extLst xmlns:a="http://schemas.openxmlformats.org/drawingml/2006/main">
              <a:ext uri="{FF2B5EF4-FFF2-40B4-BE49-F238E27FC236}">
                <a16:creationId xmlns:a16="http://schemas.microsoft.com/office/drawing/2014/main" id="{AF24F0EC-48C2-45AF-8DCE-09616248C3B7}"/>
              </a:ext>
            </a:extLst>
          </p:cNvPr>
          <p:cNvSpPr>
            <a:spLocks xmlns:a="http://schemas.openxmlformats.org/drawingml/2006/main" noGrp="1"/>
          </p:cNvSpPr>
          <p:nvPr/>
        </p:nvSpPr>
        <p:spPr>
          <a:xfrm xmlns:a="http://schemas.openxmlformats.org/drawingml/2006/main">
            <a:off x="4317111"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규격·시험 설계</a:t>
            </a:r>
          </a:p>
          <a:p xmlns:a="http://schemas.openxmlformats.org/drawingml/2006/main">
            <a:pPr algn="l">
              <a:buNone/>
              <a:defRPr sz="2400">
                <a:solidFill>
                  <a:srgbClr val="000000"/>
                </a:solidFill>
                <a:latin typeface="Helvetica Neue"/>
                <a:ea typeface="Helvetica Neue"/>
                <a:cs typeface="Helvetica Neue"/>
              </a:defRPr>
            </a:pPr>
            <a:r>
              <a:t>제품 규격서</a:t>
            </a:r>
          </a:p>
          <a:p xmlns:a="http://schemas.openxmlformats.org/drawingml/2006/main">
            <a:pPr algn="l">
              <a:buNone/>
              <a:defRPr sz="2400">
                <a:solidFill>
                  <a:srgbClr val="000000"/>
                </a:solidFill>
                <a:latin typeface="Helvetica Neue"/>
                <a:ea typeface="Helvetica Neue"/>
                <a:cs typeface="Helvetica Neue"/>
              </a:defRPr>
            </a:pPr>
            <a:r>
              <a:t>품목·표시 사전검토</a:t>
            </a:r>
          </a:p>
          <a:p xmlns:a="http://schemas.openxmlformats.org/drawingml/2006/main">
            <a:pPr algn="l">
              <a:buNone/>
              <a:defRPr sz="2400">
                <a:solidFill>
                  <a:srgbClr val="000000"/>
                </a:solidFill>
                <a:latin typeface="Helvetica Neue"/>
                <a:ea typeface="Helvetica Neue"/>
                <a:cs typeface="Helvetica Neue"/>
              </a:defRPr>
            </a:pPr>
            <a:r>
              <a:t>비육 한우 대조군 계획</a:t>
            </a:r>
          </a:p>
        </p:txBody>
      </p:sp>
      <p:sp>
        <p:nvSpPr>
          <p:cNvPr id="11" name="Text-Placeholder-16-12">
            <a:extLst xmlns:a="http://schemas.openxmlformats.org/drawingml/2006/main">
              <a:ext uri="{FF2B5EF4-FFF2-40B4-BE49-F238E27FC236}">
                <a16:creationId xmlns:a16="http://schemas.microsoft.com/office/drawing/2014/main" id="{B6E06F27-F095-485D-BEBC-A99720AF45F5}"/>
              </a:ext>
            </a:extLst>
          </p:cNvPr>
          <p:cNvSpPr>
            <a:spLocks xmlns:a="http://schemas.openxmlformats.org/drawingml/2006/main" noGrp="1"/>
          </p:cNvSpPr>
          <p:nvPr/>
        </p:nvSpPr>
        <p:spPr>
          <a:xfrm xmlns:a="http://schemas.openxmlformats.org/drawingml/2006/main">
            <a:off x="39985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제품 재현성</a:t>
            </a:r>
          </a:p>
          <a:p xmlns:a="http://schemas.openxmlformats.org/drawingml/2006/main">
            <a:pPr algn="l">
              <a:buNone/>
              <a:defRPr sz="2400">
                <a:solidFill>
                  <a:srgbClr val="000000"/>
                </a:solidFill>
                <a:latin typeface="Helvetica Neue"/>
                <a:ea typeface="Helvetica Neue"/>
                <a:cs typeface="Helvetica Neue"/>
              </a:defRPr>
            </a:pPr>
            <a:r>
              <a:t>시험생산 1회</a:t>
            </a:r>
          </a:p>
          <a:p xmlns:a="http://schemas.openxmlformats.org/drawingml/2006/main">
            <a:pPr algn="l">
              <a:buNone/>
              <a:defRPr sz="2400">
                <a:solidFill>
                  <a:srgbClr val="000000"/>
                </a:solidFill>
                <a:latin typeface="Helvetica Neue"/>
                <a:ea typeface="Helvetica Neue"/>
                <a:cs typeface="Helvetica Neue"/>
              </a:defRPr>
            </a:pPr>
            <a:r>
              <a:t>3지점 시료·균일도</a:t>
            </a:r>
          </a:p>
          <a:p xmlns:a="http://schemas.openxmlformats.org/drawingml/2006/main">
            <a:pPr algn="l">
              <a:buNone/>
              <a:defRPr sz="2400">
                <a:solidFill>
                  <a:srgbClr val="000000"/>
                </a:solidFill>
                <a:latin typeface="Helvetica Neue"/>
                <a:ea typeface="Helvetica Neue"/>
                <a:cs typeface="Helvetica Neue"/>
              </a:defRPr>
            </a:pPr>
            <a:r>
              <a:t>실제 견적·원가</a:t>
            </a:r>
          </a:p>
        </p:txBody>
      </p:sp>
      <p:sp>
        <p:nvSpPr>
          <p:cNvPr id="12" name="Text-Placeholder-16-13">
            <a:extLst xmlns:a="http://schemas.openxmlformats.org/drawingml/2006/main">
              <a:ext uri="{FF2B5EF4-FFF2-40B4-BE49-F238E27FC236}">
                <a16:creationId xmlns:a16="http://schemas.microsoft.com/office/drawing/2014/main" id="{BAC9D127-353B-49C3-9413-F5CB25757567}"/>
              </a:ext>
            </a:extLst>
          </p:cNvPr>
          <p:cNvSpPr>
            <a:spLocks xmlns:a="http://schemas.openxmlformats.org/drawingml/2006/main" noGrp="1"/>
          </p:cNvSpPr>
          <p:nvPr/>
        </p:nvSpPr>
        <p:spPr>
          <a:xfrm xmlns:a="http://schemas.openxmlformats.org/drawingml/2006/main">
            <a:off x="8177879" y="3822668"/>
            <a:ext cx="3156109" cy="1586294"/>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유료 실증 착수</a:t>
            </a:r>
          </a:p>
          <a:p xmlns:a="http://schemas.openxmlformats.org/drawingml/2006/main">
            <a:pPr algn="l">
              <a:buNone/>
              <a:defRPr sz="2400">
                <a:solidFill>
                  <a:srgbClr val="000000"/>
                </a:solidFill>
                <a:latin typeface="Helvetica Neue"/>
                <a:ea typeface="Helvetica Neue"/>
                <a:cs typeface="Helvetica Neue"/>
              </a:defRPr>
            </a:pPr>
            <a:r>
              <a:t>농장 1곳·발주서 1건</a:t>
            </a:r>
          </a:p>
          <a:p xmlns:a="http://schemas.openxmlformats.org/drawingml/2006/main">
            <a:pPr algn="l">
              <a:buNone/>
              <a:defRPr sz="2400">
                <a:solidFill>
                  <a:srgbClr val="000000"/>
                </a:solidFill>
                <a:latin typeface="Helvetica Neue"/>
                <a:ea typeface="Helvetica Neue"/>
                <a:cs typeface="Helvetica Neue"/>
              </a:defRPr>
            </a:pPr>
            <a:r>
              <a:t>기초 체중·섭취량</a:t>
            </a:r>
          </a:p>
          <a:p xmlns:a="http://schemas.openxmlformats.org/drawingml/2006/main">
            <a:pPr algn="l">
              <a:buNone/>
              <a:defRPr sz="2400">
                <a:solidFill>
                  <a:srgbClr val="000000"/>
                </a:solidFill>
                <a:latin typeface="Helvetica Neue"/>
                <a:ea typeface="Helvetica Neue"/>
                <a:cs typeface="Helvetica Neue"/>
              </a:defRPr>
            </a:pPr>
            <a:r>
              <a:t>개체·출하 성적 연결</a:t>
            </a:r>
          </a:p>
        </p:txBody>
      </p:sp>
      <p:sp>
        <p:nvSpPr>
          <p:cNvPr id="13" name="brand-rule-15">
            <a:extLst xmlns:a="http://schemas.openxmlformats.org/drawingml/2006/main">
              <a:ext uri="{FF2B5EF4-FFF2-40B4-BE49-F238E27FC236}">
                <a16:creationId xmlns:a16="http://schemas.microsoft.com/office/drawing/2014/main" id="{810E5F20-8B15-4F79-96EF-62B242EDEF8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15">
            <a:extLst xmlns:a="http://schemas.openxmlformats.org/drawingml/2006/main">
              <a:ext uri="{FF2B5EF4-FFF2-40B4-BE49-F238E27FC236}">
                <a16:creationId xmlns:a16="http://schemas.microsoft.com/office/drawing/2014/main" id="{E067D592-0B78-481E-9B2E-6E8FAB0B9F30}"/>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17 | 90-DAY VALIDATION</a:t>
            </a:r>
          </a:p>
        </p:txBody>
      </p:sp>
    </p:spTree>
    <p:extLst>
      <p:ext uri="{BB962C8B-B14F-4D97-AF65-F5344CB8AC3E}">
        <p14:creationId xmlns:p14="http://schemas.microsoft.com/office/powerpoint/2010/main" val="116188389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15" name="Rounded-Rectangle-5-1">
            <a:extLst xmlns:a="http://schemas.openxmlformats.org/drawingml/2006/main">
              <a:ext uri="{FF2B5EF4-FFF2-40B4-BE49-F238E27FC236}">
                <a16:creationId xmlns:a16="http://schemas.microsoft.com/office/drawing/2014/main" id="{E16F1EE6-E756-45C0-8617-BB78BF867B63}"/>
              </a:ext>
            </a:extLst>
          </p:cNvPr>
          <p:cNvSpPr>
            <a:spLocks xmlns:a="http://schemas.openxmlformats.org/drawingml/2006/main" noGrp="1"/>
          </p:cNvSpPr>
          <p:nvPr/>
        </p:nvSpPr>
        <p:spPr>
          <a:xfrm xmlns:a="http://schemas.openxmlformats.org/drawingml/2006/main">
            <a:off x="393668"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2" name="Rounded-Rectangle-6-2">
            <a:extLst xmlns:a="http://schemas.openxmlformats.org/drawingml/2006/main">
              <a:ext uri="{FF2B5EF4-FFF2-40B4-BE49-F238E27FC236}">
                <a16:creationId xmlns:a16="http://schemas.microsoft.com/office/drawing/2014/main" id="{D4C87DE3-EBAE-4928-8F13-9D57644F80E9}"/>
              </a:ext>
            </a:extLst>
          </p:cNvPr>
          <p:cNvSpPr>
            <a:spLocks xmlns:a="http://schemas.openxmlformats.org/drawingml/2006/main" noGrp="1"/>
          </p:cNvSpPr>
          <p:nvPr/>
        </p:nvSpPr>
        <p:spPr>
          <a:xfrm xmlns:a="http://schemas.openxmlformats.org/drawingml/2006/main">
            <a:off x="4311682"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3" name="Rounded-Rectangle-7-3">
            <a:extLst xmlns:a="http://schemas.openxmlformats.org/drawingml/2006/main">
              <a:ext uri="{FF2B5EF4-FFF2-40B4-BE49-F238E27FC236}">
                <a16:creationId xmlns:a16="http://schemas.microsoft.com/office/drawing/2014/main" id="{B8FB0289-E741-4BA8-94D1-677C5EF213D1}"/>
              </a:ext>
            </a:extLst>
          </p:cNvPr>
          <p:cNvSpPr>
            <a:spLocks xmlns:a="http://schemas.openxmlformats.org/drawingml/2006/main" noGrp="1"/>
          </p:cNvSpPr>
          <p:nvPr/>
        </p:nvSpPr>
        <p:spPr>
          <a:xfrm xmlns:a="http://schemas.openxmlformats.org/drawingml/2006/main">
            <a:off x="8232267" y="3022568"/>
            <a:ext cx="3568732" cy="2971800"/>
          </a:xfrm>
          <a:prstGeom xmlns:a="http://schemas.openxmlformats.org/drawingml/2006/main" prst="roundRect">
            <a:avLst>
              <a:gd name="adj" fmla="val 2564"/>
            </a:avLst>
          </a:prstGeom>
          <a:solidFill xmlns:a="http://schemas.openxmlformats.org/drawingml/2006/main">
            <a:srgbClr val="F2F2F2"/>
          </a:solidFill>
        </p:spPr>
      </p:sp>
      <p:sp>
        <p:nvSpPr>
          <p:cNvPr id="4" name="Slide-Number-Placeholder-1-4">
            <a:extLst xmlns:a="http://schemas.openxmlformats.org/drawingml/2006/main">
              <a:ext uri="{FF2B5EF4-FFF2-40B4-BE49-F238E27FC236}">
                <a16:creationId xmlns:a16="http://schemas.microsoft.com/office/drawing/2014/main" id="{83969B42-BFA8-448C-8026-85E52F042B13}"/>
              </a:ext>
            </a:extLst>
          </p:cNvPr>
          <p:cNvSpPr>
            <a:spLocks xmlns:a="http://schemas.openxmlformats.org/drawingml/2006/main" noGrp="1"/>
          </p:cNvSpPr>
          <p:nvPr/>
        </p:nvSpPr>
        <p:spPr>
          <a:xfrm xmlns:a="http://schemas.openxmlformats.org/drawingml/2006/main">
            <a:off x="11279315" y="6279261"/>
            <a:ext cx="518922"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18</a:t>
            </a:r>
          </a:p>
        </p:txBody>
      </p:sp>
      <p:sp>
        <p:nvSpPr>
          <p:cNvPr id="5" name="Title-2-5">
            <a:extLst xmlns:a="http://schemas.openxmlformats.org/drawingml/2006/main">
              <a:ext uri="{FF2B5EF4-FFF2-40B4-BE49-F238E27FC236}">
                <a16:creationId xmlns:a16="http://schemas.microsoft.com/office/drawing/2014/main" id="{DCF1A8D5-0AB3-4E51-AEDC-9EBECE5A4517}"/>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핵심 인력은 분석·사료·정밀발효 경험을 함께 갖췄다</a:t>
            </a:r>
          </a:p>
        </p:txBody>
      </p:sp>
      <p:sp>
        <p:nvSpPr>
          <p:cNvPr id="6" name="Content-Placeholder-9-6">
            <a:extLst xmlns:a="http://schemas.openxmlformats.org/drawingml/2006/main">
              <a:ext uri="{FF2B5EF4-FFF2-40B4-BE49-F238E27FC236}">
                <a16:creationId xmlns:a16="http://schemas.microsoft.com/office/drawing/2014/main" id="{3E72F593-79F2-43AE-A593-E6DB7B4B4FC0}"/>
              </a:ext>
            </a:extLst>
          </p:cNvPr>
          <p:cNvSpPr>
            <a:spLocks xmlns:a="http://schemas.openxmlformats.org/drawingml/2006/main" noGrp="1"/>
          </p:cNvSpPr>
          <p:nvPr/>
        </p:nvSpPr>
        <p:spPr>
          <a:xfrm xmlns:a="http://schemas.openxmlformats.org/drawingml/2006/main">
            <a:off x="702374"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분석기술 전문가</a:t>
            </a:r>
          </a:p>
        </p:txBody>
      </p:sp>
      <p:sp>
        <p:nvSpPr>
          <p:cNvPr id="7" name="Content-Placeholder-10-7">
            <a:extLst xmlns:a="http://schemas.openxmlformats.org/drawingml/2006/main">
              <a:ext uri="{FF2B5EF4-FFF2-40B4-BE49-F238E27FC236}">
                <a16:creationId xmlns:a16="http://schemas.microsoft.com/office/drawing/2014/main" id="{F70819C6-E100-46F1-A253-8C7B6596CAA2}"/>
              </a:ext>
            </a:extLst>
          </p:cNvPr>
          <p:cNvSpPr>
            <a:spLocks xmlns:a="http://schemas.openxmlformats.org/drawingml/2006/main" noGrp="1"/>
          </p:cNvSpPr>
          <p:nvPr/>
        </p:nvSpPr>
        <p:spPr>
          <a:xfrm xmlns:a="http://schemas.openxmlformats.org/drawingml/2006/main">
            <a:off x="8541830" y="4900613"/>
            <a:ext cx="2949607" cy="819150"/>
          </a:xfrm>
          <a:prstGeom xmlns:a="http://schemas.openxmlformats.org/drawingml/2006/main" prst="rect">
            <a:avLst/>
          </a:prstGeom>
        </p:spPr>
        <p:txBody>
          <a:bodyPr xmlns:a="http://schemas.openxmlformats.org/drawingml/2006/main" lIns="91440" tIns="45720" rIns="91440" bIns="45720">
            <a:normAutofit fontScale="99479"/>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정밀발효·정제 전문가</a:t>
            </a:r>
          </a:p>
        </p:txBody>
      </p:sp>
      <p:sp>
        <p:nvSpPr>
          <p:cNvPr id="8" name="Content-Placeholder-11-8">
            <a:extLst xmlns:a="http://schemas.openxmlformats.org/drawingml/2006/main">
              <a:ext uri="{FF2B5EF4-FFF2-40B4-BE49-F238E27FC236}">
                <a16:creationId xmlns:a16="http://schemas.microsoft.com/office/drawing/2014/main" id="{7A05743D-C63F-4B00-B533-D7ECE388EBC1}"/>
              </a:ext>
            </a:extLst>
          </p:cNvPr>
          <p:cNvSpPr>
            <a:spLocks xmlns:a="http://schemas.openxmlformats.org/drawingml/2006/main" noGrp="1"/>
          </p:cNvSpPr>
          <p:nvPr/>
        </p:nvSpPr>
        <p:spPr>
          <a:xfrm xmlns:a="http://schemas.openxmlformats.org/drawingml/2006/main">
            <a:off x="4621244" y="4900613"/>
            <a:ext cx="2949607" cy="819150"/>
          </a:xfrm>
          <a:prstGeom xmlns:a="http://schemas.openxmlformats.org/drawingml/2006/main" prst="rect">
            <a:avLst/>
          </a:prstGeom>
        </p:spPr>
        <p:txBody>
          <a:bodyPr xmlns:a="http://schemas.openxmlformats.org/drawingml/2006/main" lIns="91440" tIns="45720" rIns="91440" bIns="4572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분석기술 고문</a:t>
            </a:r>
          </a:p>
        </p:txBody>
      </p:sp>
      <p:sp>
        <p:nvSpPr>
          <p:cNvPr id="9" name="Content-Placeholder-9-9">
            <a:extLst xmlns:a="http://schemas.openxmlformats.org/drawingml/2006/main">
              <a:ext uri="{FF2B5EF4-FFF2-40B4-BE49-F238E27FC236}">
                <a16:creationId xmlns:a16="http://schemas.microsoft.com/office/drawing/2014/main" id="{6B6DF3F5-8239-45F8-9E70-2B3E7F1DB3FF}"/>
              </a:ext>
            </a:extLst>
          </p:cNvPr>
          <p:cNvSpPr>
            <a:spLocks xmlns:a="http://schemas.openxmlformats.org/drawingml/2006/main" noGrp="1"/>
          </p:cNvSpPr>
          <p:nvPr/>
        </p:nvSpPr>
        <p:spPr>
          <a:xfrm xmlns:a="http://schemas.openxmlformats.org/drawingml/2006/main">
            <a:off x="70237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장순욱</a:t>
            </a:r>
          </a:p>
        </p:txBody>
      </p:sp>
      <p:sp>
        <p:nvSpPr>
          <p:cNvPr id="10" name="Content-Placeholder-9-10">
            <a:extLst xmlns:a="http://schemas.openxmlformats.org/drawingml/2006/main">
              <a:ext uri="{FF2B5EF4-FFF2-40B4-BE49-F238E27FC236}">
                <a16:creationId xmlns:a16="http://schemas.microsoft.com/office/drawing/2014/main" id="{CE72FAEF-F255-4F90-AEDE-480E5F8C5F47}"/>
              </a:ext>
            </a:extLst>
          </p:cNvPr>
          <p:cNvSpPr>
            <a:spLocks xmlns:a="http://schemas.openxmlformats.org/drawingml/2006/main" noGrp="1"/>
          </p:cNvSpPr>
          <p:nvPr/>
        </p:nvSpPr>
        <p:spPr>
          <a:xfrm xmlns:a="http://schemas.openxmlformats.org/drawingml/2006/main">
            <a:off x="4612958"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구자룡</a:t>
            </a:r>
          </a:p>
        </p:txBody>
      </p:sp>
      <p:sp>
        <p:nvSpPr>
          <p:cNvPr id="11" name="Content-Placeholder-9-11">
            <a:extLst xmlns:a="http://schemas.openxmlformats.org/drawingml/2006/main">
              <a:ext uri="{FF2B5EF4-FFF2-40B4-BE49-F238E27FC236}">
                <a16:creationId xmlns:a16="http://schemas.microsoft.com/office/drawing/2014/main" id="{70DD8D92-9021-4372-B7E8-35A09E99E87D}"/>
              </a:ext>
            </a:extLst>
          </p:cNvPr>
          <p:cNvSpPr>
            <a:spLocks xmlns:a="http://schemas.openxmlformats.org/drawingml/2006/main" noGrp="1"/>
          </p:cNvSpPr>
          <p:nvPr/>
        </p:nvSpPr>
        <p:spPr>
          <a:xfrm xmlns:a="http://schemas.openxmlformats.org/drawingml/2006/main">
            <a:off x="8562404" y="3429000"/>
            <a:ext cx="2940082" cy="1359313"/>
          </a:xfrm>
          <a:prstGeom xmlns:a="http://schemas.openxmlformats.org/drawingml/2006/main" prst="rect">
            <a:avLst/>
          </a:prstGeom>
        </p:spPr>
        <p:txBody>
          <a:bodyPr xmlns:a="http://schemas.openxmlformats.org/drawingml/2006/main" lIns="0" tIns="0" rIns="0" bIns="0" anchor="b">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박지호</a:t>
            </a:r>
          </a:p>
        </p:txBody>
      </p:sp>
      <p:sp>
        <p:nvSpPr>
          <p:cNvPr id="12" name="Content-Placeholder-15-12">
            <a:extLst xmlns:a="http://schemas.openxmlformats.org/drawingml/2006/main">
              <a:ext uri="{FF2B5EF4-FFF2-40B4-BE49-F238E27FC236}">
                <a16:creationId xmlns:a16="http://schemas.microsoft.com/office/drawing/2014/main" id="{E1FBB930-6AF2-4B7D-84BA-8E934D069C6B}"/>
              </a:ext>
            </a:extLst>
          </p:cNvPr>
          <p:cNvSpPr>
            <a:spLocks xmlns:a="http://schemas.openxmlformats.org/drawingml/2006/main" noGrp="1"/>
          </p:cNvSpPr>
          <p:nvPr/>
        </p:nvSpPr>
        <p:spPr>
          <a:xfrm xmlns:a="http://schemas.openxmlformats.org/drawingml/2006/main">
            <a:off x="393668" y="1138333"/>
            <a:ext cx="11404568" cy="1599438"/>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600">
                <a:solidFill>
                  <a:srgbClr val="000000"/>
                </a:solidFill>
                <a:latin typeface="Helvetica Neue"/>
                <a:ea typeface="Helvetica Neue"/>
                <a:cs typeface="Helvetica Neue"/>
              </a:defRPr>
            </a:pPr>
            <a:r>
              <a:t>장순욱 | 현 셀핀다 생명과학연구소 부사장 · 전 해원바이오 전무 · 전 한국신약 연구소장</a:t>
            </a:r>
          </a:p>
          <a:p xmlns:a="http://schemas.openxmlformats.org/drawingml/2006/main">
            <a:pPr algn="l">
              <a:buNone/>
              <a:defRPr sz="1600">
                <a:solidFill>
                  <a:srgbClr val="000000"/>
                </a:solidFill>
                <a:latin typeface="Helvetica Neue"/>
                <a:ea typeface="Helvetica Neue"/>
                <a:cs typeface="Helvetica Neue"/>
              </a:defRPr>
            </a:pPr>
            <a:r>
              <a:t>구자룡 | 현 충남대 농업과학연구소 총괄책임 · 전 우성사료 연구소장</a:t>
            </a:r>
          </a:p>
          <a:p xmlns:a="http://schemas.openxmlformats.org/drawingml/2006/main">
            <a:pPr algn="l">
              <a:buNone/>
              <a:defRPr sz="1600">
                <a:solidFill>
                  <a:srgbClr val="000000"/>
                </a:solidFill>
                <a:latin typeface="Helvetica Neue"/>
                <a:ea typeface="Helvetica Neue"/>
                <a:cs typeface="Helvetica Neue"/>
              </a:defRPr>
            </a:pPr>
            <a:r>
              <a:t>박지호 | 현 셀핀다 생명과학연구소 소장 · 전 현대바이오랜드 재직</a:t>
            </a:r>
          </a:p>
        </p:txBody>
      </p:sp>
      <p:sp>
        <p:nvSpPr>
          <p:cNvPr id="13" name="brand-rule-3">
            <a:extLst xmlns:a="http://schemas.openxmlformats.org/drawingml/2006/main">
              <a:ext uri="{FF2B5EF4-FFF2-40B4-BE49-F238E27FC236}">
                <a16:creationId xmlns:a16="http://schemas.microsoft.com/office/drawing/2014/main" id="{CF26F2E1-309A-4854-AE35-3CF8D1E0B7D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14" name="brand-footer-3">
            <a:extLst xmlns:a="http://schemas.openxmlformats.org/drawingml/2006/main">
              <a:ext uri="{FF2B5EF4-FFF2-40B4-BE49-F238E27FC236}">
                <a16:creationId xmlns:a16="http://schemas.microsoft.com/office/drawing/2014/main" id="{67FA2FB3-A9A5-4AF6-A336-B21A6025C47A}"/>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18 | COMMERCIALIZATION TEAM</a:t>
            </a:r>
          </a:p>
        </p:txBody>
      </p:sp>
    </p:spTree>
    <p:extLst>
      <p:ext uri="{BB962C8B-B14F-4D97-AF65-F5344CB8AC3E}">
        <p14:creationId xmlns:p14="http://schemas.microsoft.com/office/powerpoint/2010/main" val="136431717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6" name="Title-3-1">
            <a:extLst xmlns:a="http://schemas.openxmlformats.org/drawingml/2006/main">
              <a:ext uri="{FF2B5EF4-FFF2-40B4-BE49-F238E27FC236}">
                <a16:creationId xmlns:a16="http://schemas.microsoft.com/office/drawing/2014/main" id="{93582F7D-404D-46AB-80D1-FE06EE84CD39}"/>
              </a:ext>
            </a:extLst>
          </p:cNvPr>
          <p:cNvSpPr>
            <a:spLocks xmlns:a="http://schemas.openxmlformats.org/drawingml/2006/main" noGrp="1"/>
          </p:cNvSpPr>
          <p:nvPr/>
        </p:nvSpPr>
        <p:spPr>
          <a:xfrm xmlns:a="http://schemas.openxmlformats.org/drawingml/2006/main">
            <a:off x="393668" y="1738789"/>
            <a:ext cx="9448800" cy="2491454"/>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a:solidFill>
                  <a:srgbClr val="000000"/>
                </a:solidFill>
                <a:latin typeface="Helvetica Neue"/>
                <a:ea typeface="Helvetica Neue"/>
                <a:cs typeface="Helvetica Neue"/>
              </a:defRPr>
            </a:pPr>
            <a:r>
              <a:t>30일 제품 검증과</a:t>
            </a:r>
          </a:p>
          <a:p xmlns:a="http://schemas.openxmlformats.org/drawingml/2006/main">
            <a:pPr algn="l">
              <a:buNone/>
              <a:defRPr sz="6000">
                <a:solidFill>
                  <a:srgbClr val="000000"/>
                </a:solidFill>
                <a:latin typeface="Helvetica Neue"/>
                <a:ea typeface="Helvetica Neue"/>
                <a:cs typeface="Helvetica Neue"/>
              </a:defRPr>
            </a:pPr>
            <a:r>
              <a:t>비육 한우 유료 실증을</a:t>
            </a:r>
          </a:p>
          <a:p xmlns:a="http://schemas.openxmlformats.org/drawingml/2006/main">
            <a:pPr algn="l">
              <a:buNone/>
              <a:defRPr sz="6000">
                <a:solidFill>
                  <a:srgbClr val="000000"/>
                </a:solidFill>
                <a:latin typeface="Helvetica Neue"/>
                <a:ea typeface="Helvetica Neue"/>
                <a:cs typeface="Helvetica Neue"/>
              </a:defRPr>
            </a:pPr>
            <a:r>
              <a:t>승인해 주십시오</a:t>
            </a:r>
          </a:p>
        </p:txBody>
      </p:sp>
      <p:sp>
        <p:nvSpPr>
          <p:cNvPr id="2" name="Subtitle-4-2">
            <a:extLst xmlns:a="http://schemas.openxmlformats.org/drawingml/2006/main">
              <a:ext uri="{FF2B5EF4-FFF2-40B4-BE49-F238E27FC236}">
                <a16:creationId xmlns:a16="http://schemas.microsoft.com/office/drawing/2014/main" id="{6DBE01A0-2CC5-41DA-85B6-ED57A07E76EC}"/>
              </a:ext>
            </a:extLst>
          </p:cNvPr>
          <p:cNvSpPr>
            <a:spLocks xmlns:a="http://schemas.openxmlformats.org/drawingml/2006/main" noGrp="1"/>
          </p:cNvSpPr>
          <p:nvPr/>
        </p:nvSpPr>
        <p:spPr>
          <a:xfrm xmlns:a="http://schemas.openxmlformats.org/drawingml/2006/main">
            <a:off x="393668" y="4973288"/>
            <a:ext cx="10953750" cy="108023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100">
                <a:solidFill>
                  <a:srgbClr val="000000"/>
                </a:solidFill>
                <a:latin typeface="Helvetica Neue"/>
                <a:ea typeface="Helvetica Neue"/>
                <a:cs typeface="Helvetica Neue"/>
              </a:defRPr>
            </a:pPr>
            <a:r>
              <a:t>① 규격·품목·표시 검토  ② 시험생산·3지점 시료·실제 원가</a:t>
            </a:r>
          </a:p>
          <a:p xmlns:a="http://schemas.openxmlformats.org/drawingml/2006/main">
            <a:pPr algn="l">
              <a:buNone/>
              <a:defRPr sz="2100">
                <a:solidFill>
                  <a:srgbClr val="000000"/>
                </a:solidFill>
                <a:latin typeface="Helvetica Neue"/>
                <a:ea typeface="Helvetica Neue"/>
                <a:cs typeface="Helvetica Neue"/>
              </a:defRPr>
            </a:pPr>
            <a:r>
              <a:t>③ 유료 농장 1곳·발주서 1건  ④ 90일 생산성·출하 육질 측정</a:t>
            </a:r>
          </a:p>
        </p:txBody>
      </p:sp>
      <p:sp>
        <p:nvSpPr>
          <p:cNvPr id="3" name="Subtitle-4-3">
            <a:extLst xmlns:a="http://schemas.openxmlformats.org/drawingml/2006/main">
              <a:ext uri="{FF2B5EF4-FFF2-40B4-BE49-F238E27FC236}">
                <a16:creationId xmlns:a16="http://schemas.microsoft.com/office/drawing/2014/main" id="{83CFF434-0D8D-452B-9588-51118CD257D7}"/>
              </a:ext>
            </a:extLst>
          </p:cNvPr>
          <p:cNvSpPr>
            <a:spLocks xmlns:a="http://schemas.openxmlformats.org/drawingml/2006/main" noGrp="1"/>
          </p:cNvSpPr>
          <p:nvPr/>
        </p:nvSpPr>
        <p:spPr>
          <a:xfrm xmlns:a="http://schemas.openxmlformats.org/drawingml/2006/main">
            <a:off x="393668" y="392240"/>
            <a:ext cx="1612868" cy="649129"/>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승인 요청 · 검증 예산 4,560만원</a:t>
            </a:r>
          </a:p>
        </p:txBody>
      </p:sp>
      <p:sp>
        <p:nvSpPr>
          <p:cNvPr id="4" name="brand-rule-19">
            <a:extLst xmlns:a="http://schemas.openxmlformats.org/drawingml/2006/main">
              <a:ext uri="{FF2B5EF4-FFF2-40B4-BE49-F238E27FC236}">
                <a16:creationId xmlns:a16="http://schemas.microsoft.com/office/drawing/2014/main" id="{7AAF7002-EC9D-469C-84D7-2EC7F0804319}"/>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5" name="brand-footer-19">
            <a:extLst xmlns:a="http://schemas.openxmlformats.org/drawingml/2006/main">
              <a:ext uri="{FF2B5EF4-FFF2-40B4-BE49-F238E27FC236}">
                <a16:creationId xmlns:a16="http://schemas.microsoft.com/office/drawing/2014/main" id="{5673E306-1329-4C06-B385-21CE77F2D44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19 | DECISION ASK</a:t>
            </a:r>
          </a:p>
        </p:txBody>
      </p:sp>
    </p:spTree>
    <p:extLst>
      <p:ext uri="{BB962C8B-B14F-4D97-AF65-F5344CB8AC3E}">
        <p14:creationId xmlns:p14="http://schemas.microsoft.com/office/powerpoint/2010/main" val="1951378401"/>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9" name="Slide-Number-Placeholder-1-2">
            <a:extLst xmlns:a="http://schemas.openxmlformats.org/drawingml/2006/main">
              <a:ext uri="{FF2B5EF4-FFF2-40B4-BE49-F238E27FC236}">
                <a16:creationId xmlns:a16="http://schemas.microsoft.com/office/drawing/2014/main" id="{899BFBB6-2B10-416C-B0B8-D3DCD3722082}"/>
              </a:ext>
            </a:extLst>
          </p:cNvPr>
          <p:cNvSpPr>
            <a:spLocks xmlns:a="http://schemas.openxmlformats.org/drawingml/2006/main" noGrp="1"/>
          </p:cNvSpPr>
          <p:nvPr/>
        </p:nvSpPr>
        <p:spPr>
          <a:xfrm xmlns:a="http://schemas.openxmlformats.org/drawingml/2006/main">
            <a:off x="11279219" y="6278594"/>
            <a:ext cx="519113" cy="241268"/>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000">
                <a:solidFill>
                  <a:srgbClr val="000000"/>
                </a:solidFill>
                <a:latin typeface="Helvetica Neue"/>
                <a:ea typeface="Helvetica Neue"/>
                <a:cs typeface="Helvetica Neue"/>
              </a:defRPr>
            </a:pPr>
            <a:r>
              <a:t>20</a:t>
            </a:r>
          </a:p>
        </p:txBody>
      </p:sp>
      <p:sp>
        <p:nvSpPr>
          <p:cNvPr id="2" name="Title-2-3">
            <a:extLst xmlns:a="http://schemas.openxmlformats.org/drawingml/2006/main">
              <a:ext uri="{FF2B5EF4-FFF2-40B4-BE49-F238E27FC236}">
                <a16:creationId xmlns:a16="http://schemas.microsoft.com/office/drawing/2014/main" id="{5CFAC748-585C-4584-8553-0EC8E67AB075}"/>
              </a:ext>
            </a:extLst>
          </p:cNvPr>
          <p:cNvSpPr>
            <a:spLocks xmlns:a="http://schemas.openxmlformats.org/drawingml/2006/main" noGrp="1"/>
          </p:cNvSpPr>
          <p:nvPr/>
        </p:nvSpPr>
        <p:spPr>
          <a:xfrm xmlns:a="http://schemas.openxmlformats.org/drawingml/2006/main">
            <a:off x="393668" y="344043"/>
            <a:ext cx="11404568" cy="1047464"/>
          </a:xfrm>
          <a:prstGeom xmlns:a="http://schemas.openxmlformats.org/drawingml/2006/main" prst="rect">
            <a:avLst/>
          </a:prstGeom>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900">
                <a:solidFill>
                  <a:srgbClr val="000000"/>
                </a:solidFill>
                <a:latin typeface="Helvetica Neue"/>
                <a:ea typeface="Helvetica Neue"/>
                <a:cs typeface="Helvetica Neue"/>
              </a:defRPr>
            </a:pPr>
            <a:r>
              <a:t>APPENDIX · 사업 정의·측정 용어·검증 일정</a:t>
            </a:r>
          </a:p>
        </p:txBody>
      </p:sp>
      <p:sp>
        <p:nvSpPr>
          <p:cNvPr id="3" name="Content-Placeholder-9-4">
            <a:extLst xmlns:a="http://schemas.openxmlformats.org/drawingml/2006/main">
              <a:ext uri="{FF2B5EF4-FFF2-40B4-BE49-F238E27FC236}">
                <a16:creationId xmlns:a16="http://schemas.microsoft.com/office/drawing/2014/main" id="{34DB5DEF-8114-43EB-BCF8-0B628E7C364A}"/>
              </a:ext>
            </a:extLst>
          </p:cNvPr>
          <p:cNvSpPr>
            <a:spLocks xmlns:a="http://schemas.openxmlformats.org/drawingml/2006/main" noGrp="1"/>
          </p:cNvSpPr>
          <p:nvPr/>
        </p:nvSpPr>
        <p:spPr>
          <a:xfrm xmlns:a="http://schemas.openxmlformats.org/drawingml/2006/main">
            <a:off x="393668"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사업</a:t>
            </a:r>
          </a:p>
          <a:p xmlns:a="http://schemas.openxmlformats.org/drawingml/2006/main">
            <a:pPr algn="l">
              <a:buNone/>
              <a:defRPr sz="2400">
                <a:solidFill>
                  <a:srgbClr val="000000"/>
                </a:solidFill>
                <a:latin typeface="Helvetica Neue"/>
                <a:ea typeface="Helvetica Neue"/>
                <a:cs typeface="Helvetica Neue"/>
              </a:defRPr>
            </a:pPr>
            <a:r>
              <a:t>가바크루드=GABA 원료</a:t>
            </a:r>
          </a:p>
          <a:p xmlns:a="http://schemas.openxmlformats.org/drawingml/2006/main">
            <a:pPr algn="l">
              <a:buNone/>
              <a:defRPr sz="2400">
                <a:solidFill>
                  <a:srgbClr val="000000"/>
                </a:solidFill>
                <a:latin typeface="Helvetica Neue"/>
                <a:ea typeface="Helvetica Neue"/>
                <a:cs typeface="Helvetica Neue"/>
              </a:defRPr>
            </a:pPr>
            <a:r>
              <a:t>가바케어믹스=비육 한우 배합사료</a:t>
            </a:r>
          </a:p>
          <a:p xmlns:a="http://schemas.openxmlformats.org/drawingml/2006/main">
            <a:pPr algn="l">
              <a:buNone/>
              <a:defRPr sz="2400">
                <a:solidFill>
                  <a:srgbClr val="000000"/>
                </a:solidFill>
                <a:latin typeface="Helvetica Neue"/>
                <a:ea typeface="Helvetica Neue"/>
                <a:cs typeface="Helvetica Neue"/>
              </a:defRPr>
            </a:pPr>
            <a:r>
              <a:t>CAPA=배양액 생산가능량</a:t>
            </a:r>
          </a:p>
        </p:txBody>
      </p:sp>
      <p:sp>
        <p:nvSpPr>
          <p:cNvPr id="4" name="Content-Placeholder-10-5">
            <a:extLst xmlns:a="http://schemas.openxmlformats.org/drawingml/2006/main">
              <a:ext uri="{FF2B5EF4-FFF2-40B4-BE49-F238E27FC236}">
                <a16:creationId xmlns:a16="http://schemas.microsoft.com/office/drawing/2014/main" id="{EFACA7CB-B804-47CA-AB1B-80FE7DDA4BA7}"/>
              </a:ext>
            </a:extLst>
          </p:cNvPr>
          <p:cNvSpPr>
            <a:spLocks xmlns:a="http://schemas.openxmlformats.org/drawingml/2006/main" noGrp="1"/>
          </p:cNvSpPr>
          <p:nvPr/>
        </p:nvSpPr>
        <p:spPr>
          <a:xfrm xmlns:a="http://schemas.openxmlformats.org/drawingml/2006/main">
            <a:off x="6256592" y="2031968"/>
            <a:ext cx="5537168" cy="1643063"/>
          </a:xfrm>
          <a:prstGeom xmlns:a="http://schemas.openxmlformats.org/drawingml/2006/main" prst="rect">
            <a:avLst/>
          </a:prstGeom>
        </p:spPr>
        <p:txBody>
          <a:bodyPr xmlns:a="http://schemas.openxmlformats.org/drawingml/2006/main" lIns="91440" tIns="45720" rIns="91440" bIns="45720"/>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측정 용어</a:t>
            </a:r>
          </a:p>
          <a:p xmlns:a="http://schemas.openxmlformats.org/drawingml/2006/main">
            <a:pPr algn="l">
              <a:buNone/>
              <a:defRPr sz="2400">
                <a:solidFill>
                  <a:srgbClr val="000000"/>
                </a:solidFill>
                <a:latin typeface="Helvetica Neue"/>
                <a:ea typeface="Helvetica Neue"/>
                <a:cs typeface="Helvetica Neue"/>
              </a:defRPr>
            </a:pPr>
            <a:r>
              <a:t>ADG=일당증체량</a:t>
            </a:r>
          </a:p>
          <a:p xmlns:a="http://schemas.openxmlformats.org/drawingml/2006/main">
            <a:pPr algn="l">
              <a:buNone/>
              <a:defRPr sz="2400">
                <a:solidFill>
                  <a:srgbClr val="000000"/>
                </a:solidFill>
                <a:latin typeface="Helvetica Neue"/>
                <a:ea typeface="Helvetica Neue"/>
                <a:cs typeface="Helvetica Neue"/>
              </a:defRPr>
            </a:pPr>
            <a:r>
              <a:t>FCR=사료요구율</a:t>
            </a:r>
          </a:p>
          <a:p xmlns:a="http://schemas.openxmlformats.org/drawingml/2006/main">
            <a:pPr algn="l">
              <a:buNone/>
              <a:defRPr sz="2400">
                <a:solidFill>
                  <a:srgbClr val="000000"/>
                </a:solidFill>
                <a:latin typeface="Helvetica Neue"/>
                <a:ea typeface="Helvetica Neue"/>
                <a:cs typeface="Helvetica Neue"/>
              </a:defRPr>
            </a:pPr>
            <a:r>
              <a:t>대조군=비교 기준 집단</a:t>
            </a:r>
          </a:p>
        </p:txBody>
      </p:sp>
      <p:sp>
        <p:nvSpPr>
          <p:cNvPr id="5" name="Content-Placeholder-9-6">
            <a:extLst xmlns:a="http://schemas.openxmlformats.org/drawingml/2006/main">
              <a:ext uri="{FF2B5EF4-FFF2-40B4-BE49-F238E27FC236}">
                <a16:creationId xmlns:a16="http://schemas.microsoft.com/office/drawing/2014/main" id="{234C9D70-A9C5-49B5-8918-C361BF8A333B}"/>
              </a:ext>
            </a:extLst>
          </p:cNvPr>
          <p:cNvSpPr>
            <a:spLocks xmlns:a="http://schemas.openxmlformats.org/drawingml/2006/main" noGrp="1"/>
          </p:cNvSpPr>
          <p:nvPr/>
        </p:nvSpPr>
        <p:spPr>
          <a:xfrm xmlns:a="http://schemas.openxmlformats.org/drawingml/2006/main">
            <a:off x="393668"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검증 일정</a:t>
            </a:r>
          </a:p>
          <a:p xmlns:a="http://schemas.openxmlformats.org/drawingml/2006/main">
            <a:pPr algn="l">
              <a:buNone/>
              <a:defRPr sz="2400">
                <a:solidFill>
                  <a:srgbClr val="000000"/>
                </a:solidFill>
                <a:latin typeface="Helvetica Neue"/>
                <a:ea typeface="Helvetica Neue"/>
                <a:cs typeface="Helvetica Neue"/>
              </a:defRPr>
            </a:pPr>
            <a:r>
              <a:t>30일=착수</a:t>
            </a:r>
          </a:p>
          <a:p xmlns:a="http://schemas.openxmlformats.org/drawingml/2006/main">
            <a:pPr algn="l">
              <a:buNone/>
              <a:defRPr sz="2400">
                <a:solidFill>
                  <a:srgbClr val="000000"/>
                </a:solidFill>
                <a:latin typeface="Helvetica Neue"/>
                <a:ea typeface="Helvetica Neue"/>
                <a:cs typeface="Helvetica Neue"/>
              </a:defRPr>
            </a:pPr>
            <a:r>
              <a:t>90일=신호</a:t>
            </a:r>
          </a:p>
          <a:p xmlns:a="http://schemas.openxmlformats.org/drawingml/2006/main">
            <a:pPr algn="l">
              <a:buNone/>
              <a:defRPr sz="2400">
                <a:solidFill>
                  <a:srgbClr val="000000"/>
                </a:solidFill>
                <a:latin typeface="Helvetica Neue"/>
                <a:ea typeface="Helvetica Neue"/>
                <a:cs typeface="Helvetica Neue"/>
              </a:defRPr>
            </a:pPr>
            <a:r>
              <a:t>출하=육질</a:t>
            </a:r>
          </a:p>
        </p:txBody>
      </p:sp>
      <p:sp>
        <p:nvSpPr>
          <p:cNvPr id="6" name="Content-Placeholder-10-7">
            <a:extLst xmlns:a="http://schemas.openxmlformats.org/drawingml/2006/main">
              <a:ext uri="{FF2B5EF4-FFF2-40B4-BE49-F238E27FC236}">
                <a16:creationId xmlns:a16="http://schemas.microsoft.com/office/drawing/2014/main" id="{1A34C16A-8F7A-4B12-BA58-172260CF0F97}"/>
              </a:ext>
            </a:extLst>
          </p:cNvPr>
          <p:cNvSpPr>
            <a:spLocks xmlns:a="http://schemas.openxmlformats.org/drawingml/2006/main" noGrp="1"/>
          </p:cNvSpPr>
          <p:nvPr/>
        </p:nvSpPr>
        <p:spPr>
          <a:xfrm xmlns:a="http://schemas.openxmlformats.org/drawingml/2006/main">
            <a:off x="6256592" y="4016978"/>
            <a:ext cx="5537168" cy="1643158"/>
          </a:xfrm>
          <a:prstGeom xmlns:a="http://schemas.openxmlformats.org/drawingml/2006/main" prst="rect">
            <a:avLst/>
          </a:prstGeom>
        </p:spPr>
        <p:txBody>
          <a:bodyPr xmlns:a="http://schemas.openxmlformats.org/drawingml/2006/main" lIns="0" tIns="0" rIns="0" bIns="0">
            <a:normAutofit fontScale="100000"/>
          </a:bodyPr>
          <a:lstStyle xmlns:a="http://schemas.openxmlformats.org/drawingml/2006/main"/>
          <a:p xmlns:a="http://schemas.openxmlformats.org/drawingml/2006/main">
            <a:pPr algn="l">
              <a:buNone/>
              <a:defRPr sz="2400">
                <a:solidFill>
                  <a:srgbClr val="000000"/>
                </a:solidFill>
                <a:latin typeface="Helvetica Neue"/>
                <a:ea typeface="Helvetica Neue"/>
                <a:cs typeface="Helvetica Neue"/>
              </a:defRPr>
            </a:pPr>
            <a:r>
              <a:t>이용 안내</a:t>
            </a:r>
          </a:p>
          <a:p xmlns:a="http://schemas.openxmlformats.org/drawingml/2006/main">
            <a:pPr algn="l">
              <a:buNone/>
              <a:defRPr sz="2400">
                <a:solidFill>
                  <a:srgbClr val="000000"/>
                </a:solidFill>
                <a:latin typeface="Helvetica Neue"/>
                <a:ea typeface="Helvetica Neue"/>
                <a:cs typeface="Helvetica Neue"/>
              </a:defRPr>
            </a:pPr>
            <a:r>
              <a:t>30일은 효능 확정 시점이 아님</a:t>
            </a:r>
          </a:p>
          <a:p xmlns:a="http://schemas.openxmlformats.org/drawingml/2006/main">
            <a:pPr algn="l">
              <a:buNone/>
              <a:defRPr sz="2400">
                <a:solidFill>
                  <a:srgbClr val="000000"/>
                </a:solidFill>
                <a:latin typeface="Helvetica Neue"/>
                <a:ea typeface="Helvetica Neue"/>
                <a:cs typeface="Helvetica Neue"/>
              </a:defRPr>
            </a:pPr>
            <a:r>
              <a:t>법적 분류·표시·효능·원가</a:t>
            </a:r>
          </a:p>
          <a:p xmlns:a="http://schemas.openxmlformats.org/drawingml/2006/main">
            <a:pPr algn="l">
              <a:buNone/>
              <a:defRPr sz="2400">
                <a:solidFill>
                  <a:srgbClr val="000000"/>
                </a:solidFill>
                <a:latin typeface="Helvetica Neue"/>
                <a:ea typeface="Helvetica Neue"/>
                <a:cs typeface="Helvetica Neue"/>
              </a:defRPr>
            </a:pPr>
            <a:r>
              <a:t>전문 검토·시험·실제 견적 확인</a:t>
            </a:r>
          </a:p>
        </p:txBody>
      </p:sp>
      <p:sp>
        <p:nvSpPr>
          <p:cNvPr id="7" name="brand-rule-16">
            <a:extLst xmlns:a="http://schemas.openxmlformats.org/drawingml/2006/main">
              <a:ext uri="{FF2B5EF4-FFF2-40B4-BE49-F238E27FC236}">
                <a16:creationId xmlns:a16="http://schemas.microsoft.com/office/drawing/2014/main" id="{55BD5789-824C-4804-8B5F-C81E993C9E53}"/>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00A878"/>
          </a:solidFill>
          <a:ln xmlns:a="http://schemas.openxmlformats.org/drawingml/2006/main" w="0">
            <a:solidFill>
              <a:srgbClr val="00A878"/>
            </a:solidFill>
            <a:prstDash val="solid"/>
          </a:ln>
        </p:spPr>
      </p:sp>
      <p:sp>
        <p:nvSpPr>
          <p:cNvPr id="8" name="brand-footer-16">
            <a:extLst xmlns:a="http://schemas.openxmlformats.org/drawingml/2006/main">
              <a:ext uri="{FF2B5EF4-FFF2-40B4-BE49-F238E27FC236}">
                <a16:creationId xmlns:a16="http://schemas.microsoft.com/office/drawing/2014/main" id="{B551CBFC-E8C9-4FAA-B5CF-AB153853215C}"/>
              </a:ext>
            </a:extLst>
          </p:cNvPr>
          <p:cNvSpPr>
            <a:spLocks xmlns:a="http://schemas.openxmlformats.org/drawingml/2006/main" noGrp="1"/>
          </p:cNvSpPr>
          <p:nvPr/>
        </p:nvSpPr>
        <p:spPr>
          <a:xfrm xmlns:a="http://schemas.openxmlformats.org/drawingml/2006/main">
            <a:off x="393668" y="6272213"/>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buNone/>
              <a:defRPr sz="1000" b="1">
                <a:solidFill>
                  <a:srgbClr val="667085"/>
                </a:solidFill>
                <a:latin typeface="Arial"/>
                <a:ea typeface="Arial"/>
                <a:cs typeface="Arial"/>
              </a:defRPr>
            </a:pPr>
            <a:r>
              <a:rPr sz="1000" b="1">
                <a:solidFill>
                  <a:srgbClr val="667085"/>
                </a:solidFill>
                <a:latin typeface="Arial"/>
                <a:ea typeface="Arial"/>
                <a:cs typeface="Arial"/>
              </a:rPr>
              <a:t>GABA BUSINESS MODEL | 20 | APPENDIX</a:t>
            </a:r>
          </a:p>
        </p:txBody>
      </p:sp>
    </p:spTree>
    <p:extLst>
      <p:ext uri="{BB962C8B-B14F-4D97-AF65-F5344CB8AC3E}">
        <p14:creationId xmlns:p14="http://schemas.microsoft.com/office/powerpoint/2010/main" val="16045586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2026-08-03T04:12:51.9310000Z</dcterms:created>
  <dcterms:modified xsi:type="dcterms:W3CDTF">2026-08-03T04:12:51.9310000Z</dcterms:modified>
</coreProperties>
</file>