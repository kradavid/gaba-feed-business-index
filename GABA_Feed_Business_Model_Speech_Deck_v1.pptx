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5de6f1c441b4302" /><Relationship Type="http://schemas.openxmlformats.org/officeDocument/2006/relationships/extended-properties" Target="/docProps/app.xml" Id="R84b24e67975f46cb" /><Relationship Type="http://schemas.openxmlformats.org/officeDocument/2006/relationships/officeDocument" Target="/ppt/presentation.xml" Id="R075a5e78065e4b83" /></Relationships>
</file>

<file path=ppt/presentation.xml><?xml version="1.0" encoding="utf-8"?>
<p:presentation xmlns:p="http://schemas.openxmlformats.org/presentationml/2006/main">
  <p:sldMasterIdLst>
    <p:sldMasterId xmlns:r="http://schemas.openxmlformats.org/officeDocument/2006/relationships" id="2147483648" r:id="R23b2f4b2b0bc4d4e"/>
  </p:sldMasterIdLst>
  <p:notesMasterIdLst>
    <p:notesMasterId xmlns:r="http://schemas.openxmlformats.org/officeDocument/2006/relationships" r:id="Rd45be563a9784949"/>
  </p:notesMasterIdLst>
  <p:sldIdLst>
    <p:sldId xmlns:r="http://schemas.openxmlformats.org/officeDocument/2006/relationships" id="256" r:id="R0771553f57cd47bf"/>
    <p:sldId xmlns:r="http://schemas.openxmlformats.org/officeDocument/2006/relationships" id="257" r:id="R4789fc1fa3ba45e8"/>
    <p:sldId xmlns:r="http://schemas.openxmlformats.org/officeDocument/2006/relationships" id="258" r:id="Re167f1bb8a8b485f"/>
    <p:sldId xmlns:r="http://schemas.openxmlformats.org/officeDocument/2006/relationships" id="259" r:id="Raf0482924f844156"/>
    <p:sldId xmlns:r="http://schemas.openxmlformats.org/officeDocument/2006/relationships" id="260" r:id="R15544ece48e048b1"/>
    <p:sldId xmlns:r="http://schemas.openxmlformats.org/officeDocument/2006/relationships" id="261" r:id="R084c648901f34139"/>
    <p:sldId xmlns:r="http://schemas.openxmlformats.org/officeDocument/2006/relationships" id="262" r:id="R7bb0df0478f4442f"/>
    <p:sldId xmlns:r="http://schemas.openxmlformats.org/officeDocument/2006/relationships" id="263" r:id="Rf13056fbfdec4fb7"/>
    <p:sldId xmlns:r="http://schemas.openxmlformats.org/officeDocument/2006/relationships" id="264" r:id="Rfaabb8ad912140b5"/>
    <p:sldId xmlns:r="http://schemas.openxmlformats.org/officeDocument/2006/relationships" id="265" r:id="R350f45f6bd684f17"/>
    <p:sldId xmlns:r="http://schemas.openxmlformats.org/officeDocument/2006/relationships" id="266" r:id="R35d054d2b1b84a79"/>
    <p:sldId xmlns:r="http://schemas.openxmlformats.org/officeDocument/2006/relationships" id="267" r:id="R645c896dfe364a63"/>
    <p:sldId xmlns:r="http://schemas.openxmlformats.org/officeDocument/2006/relationships" id="268" r:id="Rb346897b1f854083"/>
    <p:sldId xmlns:r="http://schemas.openxmlformats.org/officeDocument/2006/relationships" id="269" r:id="Rb4243cea195d4637"/>
    <p:sldId xmlns:r="http://schemas.openxmlformats.org/officeDocument/2006/relationships" id="270" r:id="Rcbfcc3ec0c9341be"/>
    <p:sldId xmlns:r="http://schemas.openxmlformats.org/officeDocument/2006/relationships" id="271" r:id="R4e463d64aea0489a"/>
    <p:sldId xmlns:r="http://schemas.openxmlformats.org/officeDocument/2006/relationships" id="272" r:id="Rab76e8785970448a"/>
    <p:sldId xmlns:r="http://schemas.openxmlformats.org/officeDocument/2006/relationships" id="273" r:id="R4bfc68dc3daa4e0a"/>
    <p:sldId xmlns:r="http://schemas.openxmlformats.org/officeDocument/2006/relationships" id="274" r:id="R873e928d48834c36"/>
    <p:sldId xmlns:r="http://schemas.openxmlformats.org/officeDocument/2006/relationships" id="275" r:id="Rd175f4c199a9444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965764c23814437" /><Relationship Type="http://schemas.openxmlformats.org/officeDocument/2006/relationships/slideMaster" Target="/ppt/slideMasters/slideMaster1.xml" Id="R23b2f4b2b0bc4d4e" /><Relationship Type="http://schemas.openxmlformats.org/officeDocument/2006/relationships/notesMaster" Target="/ppt/notesMasters/notesMaster1.xml" Id="Rd45be563a9784949" /><Relationship Type="http://schemas.openxmlformats.org/officeDocument/2006/relationships/presProps" Target="/ppt/presProps.xml" Id="Rd3ac1def23664f6b" /><Relationship Type="http://schemas.openxmlformats.org/officeDocument/2006/relationships/tableStyles" Target="/ppt/tableStyles.xml" Id="R0a03798f68f84ed4" /><Relationship Type="http://schemas.openxmlformats.org/officeDocument/2006/relationships/slide" Target="/ppt/slides/slide1.xml" Id="R0771553f57cd47bf" /><Relationship Type="http://schemas.openxmlformats.org/officeDocument/2006/relationships/slide" Target="/ppt/slides/slide2.xml" Id="R4789fc1fa3ba45e8" /><Relationship Type="http://schemas.openxmlformats.org/officeDocument/2006/relationships/slide" Target="/ppt/slides/slide3.xml" Id="Re167f1bb8a8b485f" /><Relationship Type="http://schemas.openxmlformats.org/officeDocument/2006/relationships/slide" Target="/ppt/slides/slide4.xml" Id="Raf0482924f844156" /><Relationship Type="http://schemas.openxmlformats.org/officeDocument/2006/relationships/slide" Target="/ppt/slides/slide5.xml" Id="R15544ece48e048b1" /><Relationship Type="http://schemas.openxmlformats.org/officeDocument/2006/relationships/slide" Target="/ppt/slides/slide6.xml" Id="R084c648901f34139" /><Relationship Type="http://schemas.openxmlformats.org/officeDocument/2006/relationships/slide" Target="/ppt/slides/slide7.xml" Id="R7bb0df0478f4442f" /><Relationship Type="http://schemas.openxmlformats.org/officeDocument/2006/relationships/slide" Target="/ppt/slides/slide8.xml" Id="Rf13056fbfdec4fb7" /><Relationship Type="http://schemas.openxmlformats.org/officeDocument/2006/relationships/slide" Target="/ppt/slides/slide9.xml" Id="Rfaabb8ad912140b5" /><Relationship Type="http://schemas.openxmlformats.org/officeDocument/2006/relationships/slide" Target="/ppt/slides/slide10.xml" Id="R350f45f6bd684f17" /><Relationship Type="http://schemas.openxmlformats.org/officeDocument/2006/relationships/slide" Target="/ppt/slides/slide11.xml" Id="R35d054d2b1b84a79" /><Relationship Type="http://schemas.openxmlformats.org/officeDocument/2006/relationships/slide" Target="/ppt/slides/slide12.xml" Id="R645c896dfe364a63" /><Relationship Type="http://schemas.openxmlformats.org/officeDocument/2006/relationships/slide" Target="/ppt/slides/slide13.xml" Id="Rb346897b1f854083" /><Relationship Type="http://schemas.openxmlformats.org/officeDocument/2006/relationships/slide" Target="/ppt/slides/slide14.xml" Id="Rb4243cea195d4637" /><Relationship Type="http://schemas.openxmlformats.org/officeDocument/2006/relationships/slide" Target="/ppt/slides/slide15.xml" Id="Rcbfcc3ec0c9341be" /><Relationship Type="http://schemas.openxmlformats.org/officeDocument/2006/relationships/slide" Target="/ppt/slides/slide16.xml" Id="R4e463d64aea0489a" /><Relationship Type="http://schemas.openxmlformats.org/officeDocument/2006/relationships/slide" Target="/ppt/slides/slide17.xml" Id="Rab76e8785970448a" /><Relationship Type="http://schemas.openxmlformats.org/officeDocument/2006/relationships/slide" Target="/ppt/slides/slide18.xml" Id="R4bfc68dc3daa4e0a" /><Relationship Type="http://schemas.openxmlformats.org/officeDocument/2006/relationships/slide" Target="/ppt/slides/slide19.xml" Id="R873e928d48834c36" /><Relationship Type="http://schemas.openxmlformats.org/officeDocument/2006/relationships/slide" Target="/ppt/slides/slide20.xml" Id="Rd175f4c199a9444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5779588942d4c5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a3a2ba28796429f" /><Relationship Type="http://schemas.openxmlformats.org/officeDocument/2006/relationships/notesMaster" Target="/ppt/notesMasters/notesMaster1.xml" Id="Rf21bb02a4a0643c8" /></Relationships>
</file>

<file path=ppt/notesSlides/_rels/notesSlide2.xml.rels>&#65279;<?xml version="1.0" encoding="utf-8"?><Relationships xmlns="http://schemas.openxmlformats.org/package/2006/relationships"><Relationship Type="http://schemas.openxmlformats.org/officeDocument/2006/relationships/slide" Target="/ppt/slides/slide2.xml" Id="R869aaccd29b046b5" /><Relationship Type="http://schemas.openxmlformats.org/officeDocument/2006/relationships/notesMaster" Target="/ppt/notesMasters/notesMaster1.xml" Id="Rc06b3f3c86f14293" /></Relationships>
</file>

<file path=ppt/notesSlides/_rels/notesSlide3.xml.rels>&#65279;<?xml version="1.0" encoding="utf-8"?><Relationships xmlns="http://schemas.openxmlformats.org/package/2006/relationships"><Relationship Type="http://schemas.openxmlformats.org/officeDocument/2006/relationships/slide" Target="/ppt/slides/slide3.xml" Id="Re39e4206a5264fda" /><Relationship Type="http://schemas.openxmlformats.org/officeDocument/2006/relationships/notesMaster" Target="/ppt/notesMasters/notesMaster1.xml" Id="R4530713d199041a6" /></Relationships>
</file>

<file path=ppt/notesSlides/_rels/notesSlide4.xml.rels>&#65279;<?xml version="1.0" encoding="utf-8"?><Relationships xmlns="http://schemas.openxmlformats.org/package/2006/relationships"><Relationship Type="http://schemas.openxmlformats.org/officeDocument/2006/relationships/slide" Target="/ppt/slides/slide4.xml" Id="R17b0a21abf8c4648" /><Relationship Type="http://schemas.openxmlformats.org/officeDocument/2006/relationships/notesMaster" Target="/ppt/notesMasters/notesMaster1.xml" Id="R4013d3648cd649ba" /></Relationships>
</file>

<file path=ppt/notesSlides/_rels/notesSlide5.xml.rels>&#65279;<?xml version="1.0" encoding="utf-8"?><Relationships xmlns="http://schemas.openxmlformats.org/package/2006/relationships"><Relationship Type="http://schemas.openxmlformats.org/officeDocument/2006/relationships/slide" Target="/ppt/slides/slide5.xml" Id="Rd99deb0d51a2471b" /><Relationship Type="http://schemas.openxmlformats.org/officeDocument/2006/relationships/notesMaster" Target="/ppt/notesMasters/notesMaster1.xml" Id="R9ab229b410584937" /></Relationships>
</file>

<file path=ppt/notesSlides/_rels/notesSlide6.xml.rels>&#65279;<?xml version="1.0" encoding="utf-8"?><Relationships xmlns="http://schemas.openxmlformats.org/package/2006/relationships"><Relationship Type="http://schemas.openxmlformats.org/officeDocument/2006/relationships/slide" Target="/ppt/slides/slide6.xml" Id="Re5da6d4fc76e4918" /><Relationship Type="http://schemas.openxmlformats.org/officeDocument/2006/relationships/notesMaster" Target="/ppt/notesMasters/notesMaster1.xml" Id="R052883548ff74519"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7951597999478f" /><Relationship Type="http://schemas.openxmlformats.org/officeDocument/2006/relationships/notesMaster" Target="/ppt/notesMasters/notesMaster1.xml" Id="Rcfdff2cdea3c4336"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d0b8f919f04d1d" /><Relationship Type="http://schemas.openxmlformats.org/officeDocument/2006/relationships/notesMaster" Target="/ppt/notesMasters/notesMaster1.xml" Id="R817c00e44ca54584" /></Relationships>
</file>

<file path=ppt/notesSlides/_rels/notesSlide9.xml.rels>&#65279;<?xml version="1.0" encoding="utf-8"?><Relationships xmlns="http://schemas.openxmlformats.org/package/2006/relationships"><Relationship Type="http://schemas.openxmlformats.org/officeDocument/2006/relationships/slide" Target="/ppt/slides/slide9.xml" Id="R10838b46743047d1" /><Relationship Type="http://schemas.openxmlformats.org/officeDocument/2006/relationships/notesMaster" Target="/ppt/notesMasters/notesMaster1.xml" Id="Re6a782a4e4a34b5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6a5ae4627224bc4" /><Relationship Type="http://schemas.openxmlformats.org/officeDocument/2006/relationships/notesMaster" Target="/ppt/notesMasters/notesMaster1.xml" Id="R61266affdf7143b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e401d6a710149de" /><Relationship Type="http://schemas.openxmlformats.org/officeDocument/2006/relationships/notesMaster" Target="/ppt/notesMasters/notesMaster1.xml" Id="R65c2587b74554b7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550714ea5854d08" /><Relationship Type="http://schemas.openxmlformats.org/officeDocument/2006/relationships/notesMaster" Target="/ppt/notesMasters/notesMaster1.xml" Id="Rc2e9f775ecf4462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677c228d0a74a02" /><Relationship Type="http://schemas.openxmlformats.org/officeDocument/2006/relationships/notesMaster" Target="/ppt/notesMasters/notesMaster1.xml" Id="R35f34aabcb86468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b94c132a53644c1" /><Relationship Type="http://schemas.openxmlformats.org/officeDocument/2006/relationships/notesMaster" Target="/ppt/notesMasters/notesMaster1.xml" Id="R0f7fab8b933e4a4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37e57e8e6494f9c" /><Relationship Type="http://schemas.openxmlformats.org/officeDocument/2006/relationships/notesMaster" Target="/ppt/notesMasters/notesMaster1.xml" Id="R68f2eaaa59744b3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c1755ab3e054b5f" /><Relationship Type="http://schemas.openxmlformats.org/officeDocument/2006/relationships/notesMaster" Target="/ppt/notesMasters/notesMaster1.xml" Id="R67e3062c0290495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ca03602d82a4f73" /><Relationship Type="http://schemas.openxmlformats.org/officeDocument/2006/relationships/notesMaster" Target="/ppt/notesMasters/notesMaster1.xml" Id="R82cc61eb82e94e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3a0b38148a54375" /><Relationship Type="http://schemas.openxmlformats.org/officeDocument/2006/relationships/notesMaster" Target="/ppt/notesMasters/notesMaster1.xml" Id="R3d80bd83263548a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32f1392df4e46ae" /><Relationship Type="http://schemas.openxmlformats.org/officeDocument/2006/relationships/notesMaster" Target="/ppt/notesMasters/notesMaster1.xml" Id="R9d920d82515c4db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7679f0da8664944" /><Relationship Type="http://schemas.openxmlformats.org/officeDocument/2006/relationships/notesMaster" Target="/ppt/notesMasters/notesMaster1.xml" Id="Ra52b7bde9b4d42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가바사료 사업은 두 부문으로 나눕니다. 가바크루드는 GABA 20% 기준품과 고객 주문에 맞춘 5~20% OEM 원료를 공급합니다. 가바케어믹스는 가바크루드와 미네랄매트릭스를 결합한 배합사료입니다. 두 사업은 품질 기준과 규제·제품 검증 체계를 함께 사용합니다.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사업을 나누면 고객과 매출 방식이 분명해집니다. 가바크루드는 원료 영업과 OEM 주문을, 가바케어믹스는 배합사료와 현장 적용을 담당합니다. 현재 준비도는 41점이며 품목 분류, 유효 용량, OEM 실제 견적, 유료 반복 주문은 아직 확인되지 않았습니다.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가바크루드는 원료 고객에게 기준품과 주문형 농도를 공급합니다. 가바케어믹스는 그 원료에 미네랄매트릭스를 결합해 축종별 배합사료로 확장합니다. CoA는 로트별 시험성적서입니다.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가바크루드는 GABA 20% 기준품을 품질의 기준점으로 삼습니다. 고객이 5~20% 농도를 주문하면 기준품을 바탕으로 OEM 생산합니다. OEM은 주문자 상표 부착 생산을 뜻합니다.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원본은 배양액 1톤의 원가와 산출량을 제시합니다. 그러나 이 정보만으로는 20% 마스터의 kg당 원가 9,240원을 다시 계산할 수 없습니다. 건조, 부형제, 시험, 포장, 수율에 드는 비용을 항목별로 확인해야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재고정책은 단순합니다. 20% 마스터만 안전재고와 재주문점을 관리하고, 완제품은 선생산하지 않습니다. MOQ는 최소주문수량, 리드타임은 주문부터 납품까지 걸리는 시간입니다.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주문은 제품 규격 확정, 마스터 출고, OEM 완제품 생산의 세 단계로 처리합니다. 고객의 농도, 수량, 표시 사항이 정해지기 전에는 생산하지 않습니다. 이 원칙이 불필요한 완제품 재고를 막아 줍니다.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현행 규정에서 GABA 또는 발효배양물의 허용 품목을 이 자료만으로 확정하지 않았습니다. 신규·변경 물질 검토에는 제조방법, 안전성, 품질, 첨가수준 자료가 중요하므로 사전검토를 서면으로 받아야 합니다. 공장 QA에는 추적·검사·회수 체계까지 포함합니다.</a:t>
            </a:r>
          </a:p>
          <a:p xmlns:a="http://schemas.openxmlformats.org/drawingml/2006/main">
            <a:r>
              <a:t/>
            </a:r>
          </a:p>
          <a:p xmlns:a="http://schemas.openxmlformats.org/drawingml/2006/main">
            <a:r>
              <a:t>[Sources]</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https://www.mafra.go.kr/bbs/home/792/577302/artclView.do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연구의 결과는 일관되지 않습니다. 2026년 젖소 연구에서는 산유량 차이가 통계적으로 유의하지 않았고 일부 유성분만 유의했습니다. 2023년 한우 연구는 초기 증체에서 가능성을 보였지만 도체 지표는 유의하지 않았습니다. 2025년 넙치 연구에서도 성장 개선이 확인되지 않았습니다. 따라서 한 축종, 한 제형, 한 용량으로 조건을 좁혀 해당 제품의 고객 시험을 진행해야 합니다.</a:t>
            </a:r>
          </a:p>
          <a:p xmlns:a="http://schemas.openxmlformats.org/drawingml/2006/main">
            <a:r>
              <a:t/>
            </a:r>
          </a:p>
          <a:p xmlns:a="http://schemas.openxmlformats.org/drawingml/2006/main">
            <a:r>
              <a:t>[Sources]</a:t>
            </a:r>
          </a:p>
          <a:p xmlns:a="http://schemas.openxmlformats.org/drawingml/2006/main">
            <a:r>
              <a:t>- https://www.mdpi.com/2076-2615/16/2/262</a:t>
            </a:r>
          </a:p>
          <a:p xmlns:a="http://schemas.openxmlformats.org/drawingml/2006/main">
            <a:r>
              <a:t>- https://www.kci.go.kr/kciportal/landing/article.kci?arti_id=ART003036784</a:t>
            </a:r>
          </a:p>
          <a:p xmlns:a="http://schemas.openxmlformats.org/drawingml/2006/main">
            <a:r>
              <a:t>- https://www.e-kfas.org/Upload/files/kfas/4.%2058%281%29%2033-45.pdf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시험은 넓게 하면 학습이 흐려집니다. 반추위 보호 제형, 열스트레스 상황, 고객군 하나, 1차 지표 하나로 좁히고 시작 전에 성공·중단 기준을 합의합니다. PoV는 실제 고객 환경에서 경제적 가치를 확인하는 가치검증입니다.</a:t>
            </a:r>
          </a:p>
          <a:p xmlns:a="http://schemas.openxmlformats.org/drawingml/2006/main">
            <a:r>
              <a:t/>
            </a:r>
          </a:p>
          <a:p xmlns:a="http://schemas.openxmlformats.org/drawingml/2006/main">
            <a:r>
              <a:t>[Sources]</a:t>
            </a:r>
          </a:p>
          <a:p xmlns:a="http://schemas.openxmlformats.org/drawingml/2006/main">
            <a:r>
              <a:t>- https://www.mdpi.com/2076-2615/16/2/262</a:t>
            </a:r>
          </a:p>
          <a:p xmlns:a="http://schemas.openxmlformats.org/drawingml/2006/main">
            <a:r>
              <a:t>- https://www.kci.go.kr/kciportal/landing/article.kci?arti_id=ART003036784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단위당 공헌이익은 판매가에서 제품 원가와 직접 변동비를 뺀 금액입니다. 원본 계산에서는 kg당 8,760원이 남지만, 예상 원가의 세부 항목을 확인하지 못했습니다. 투자자에게는 확정 수익이 아니라 검증해야 할 목표로 설명해야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원본은 사료 1톤당 매트릭스 75g과 kg당 제품 원가 4,681.8원을 사용합니다. 그러나 제품의 활성 함량과 제형이 연구의 투여량과 연결되지 않아 유효한 투입량으로 확정할 수 없습니다. 실제 공헌이익은 투입량, OEM 견적, 채널비, 현장비를 확인한 뒤 다시 계산해야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a:p xmlns:a="http://schemas.openxmlformats.org/drawingml/2006/main">
            <a:r>
              <a:t>- https://www.mdpi.com/2076-2615/16/2/262</a:t>
            </a:r>
          </a:p>
          <a:p xmlns:a="http://schemas.openxmlformats.org/drawingml/2006/main">
            <a:r>
              <a:t>- https://www.kci.go.kr/kciportal/landing/article.kci?arti_id=ART003036784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고객가치 18,000원/사료t은 원본의 가정입니다. 이 숫자는 고객 현장에서 비교군을 두고 손실회피 또는 생산성 개선을 측정할 때만 영업 근거가 됩니다. B/C는 편익을 비용으로 나눈 비율입니다.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페이지는 잠재 규모를 보여주는 시나리오이지 매출 예측이 아닙니다. 마스터 20톤과 매트릭스 5만 사료톤이 실제 반복주문으로 확인될 때만 경제성이 실현됩니다. 숫자를 사용하려면 반드시 실제 PO와 실현 원가를 함께 제시해야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비전바이오켐의 배양액 생산가능량은 월 20톤, 지에프퍼멘텍은 월 200톤으로 제공됐습니다. 합계는 월 220톤입니다. CAPA는 생산가능량을 뜻합니다. 이 수치는 계약, 실제 가동률, 품질체계, 규격별 수율을 확인한 뒤 공급계획에 반영해야 합니다.</a:t>
            </a:r>
          </a:p>
          <a:p xmlns:a="http://schemas.openxmlformats.org/drawingml/2006/main">
            <a:r>
              <a:t/>
            </a:r>
          </a:p>
          <a:p xmlns:a="http://schemas.openxmlformats.org/drawingml/2006/main">
            <a:r>
              <a:t>[Sources]</a:t>
            </a:r>
          </a:p>
          <a:p xmlns:a="http://schemas.openxmlformats.org/drawingml/2006/main">
            <a:r>
              <a:t>- 사용자 제공 사업화 정보 · 2026-08-03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사업 확대는 네 가지 검증을 모두 마친 뒤 결정합니다. 규제와 표시 문구는 서면 검토 결과로, 제품 근거는 해당 제품의 시험 결과로 확인합니다. OEM 조건은 공장 실사와 품질 협약서로, 상업성은 유료 고객 시험과 반복 주문으로 확인합니다. 품질 협약서는 발주자와 제조자가 시험, 변경, 일탈, 회수 책임을 합의한 문서입니다.</a:t>
            </a:r>
          </a:p>
          <a:p xmlns:a="http://schemas.openxmlformats.org/drawingml/2006/main">
            <a:r>
              <a:t/>
            </a:r>
          </a:p>
          <a:p xmlns:a="http://schemas.openxmlformats.org/drawingml/2006/main">
            <a:r>
              <a:t>[Sources]</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https://www.mafra.go.kr/bbs/home/792/577302/artclView.do</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30일에는 규제 경로와 제품 조건을 확인합니다. 다음 30일에는 시험 생산을 진행하고 고객 시험계획을 확정합니다. 마지막 30일에는 첫 유료 발주서와 반복 주문 조건을 확보한 뒤 실제 원가를 기준으로 계속 추진할지 결정합니다. RFI는 잠재 제조사에 필요한 정보와 조건을 요청하는 문서입니다.</a:t>
            </a:r>
          </a:p>
          <a:p xmlns:a="http://schemas.openxmlformats.org/drawingml/2006/main">
            <a:r>
              <a:t/>
            </a:r>
          </a:p>
          <a:p xmlns:a="http://schemas.openxmlformats.org/drawingml/2006/main">
            <a:r>
              <a:t>[Sources]</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분석기술 전문가는 장순욱 셀핀다 생명과학연구소 부사장으로, 해원바이오 전무와 한국신약 연구소장을 지냈습니다. 분석기술 고문은 구장룡 충남대 농업과학연구소 총괄책임으로, 우성사료 연구소장을 지냈습니다. 정밀발효·정제 전문가는 박지호 셀핀다 생명과학연구소 소장으로, 현대바이오랜드 재직 경력이 있습니다. 박지호 소장의 과거 직책은 제공되지 않아 재직 경력으로만 표기했습니다.</a:t>
            </a:r>
          </a:p>
          <a:p xmlns:a="http://schemas.openxmlformats.org/drawingml/2006/main">
            <a:r>
              <a:t/>
            </a:r>
          </a:p>
          <a:p xmlns:a="http://schemas.openxmlformats.org/drawingml/2006/main">
            <a:r>
              <a:t>[Sources]</a:t>
            </a:r>
          </a:p>
          <a:p xmlns:a="http://schemas.openxmlformats.org/drawingml/2006/main">
            <a:r>
              <a:t>- 사용자 제공 사업화 정보 · 2026-08-03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요청드리는 것은 대규모 설비 투자가 아닙니다. 원본에 제시된 4,560만원의 검증 예산을 두 사업이 공통으로 확인해야 할 네 과제에 단계적으로 집행하는 것입니다. 어느 한 과제에서 기준을 충족하지 못하면 멈추고, 모두 확인되면 고객사와 투자자에게 사업 확대 계획을 다시 제안합니다.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 장은 두 사업의 정의, 어려운 용어, 핵심 가정과 이용 시 주의사항을 정리했습니다. 핵심 인력과 생산가능량은 사용자 제공 자료입니다. 원본의 가격, 원가, 용량, 고객가치는 검증 전 가정이며, 법적 분류와 표시·광고 문구는 별도 전문 검토가 필요합니다.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https://www.mafra.go.kr/bbs/home/791/597692/download.do</a:t>
            </a:r>
          </a:p>
          <a:p xmlns:a="http://schemas.openxmlformats.org/drawingml/2006/main">
            <a:r>
              <a:t>- https://www.mdpi.com/2076-2615/16/2/262</a:t>
            </a:r>
          </a:p>
          <a:p xmlns:a="http://schemas.openxmlformats.org/drawingml/2006/main">
            <a:r>
              <a:t>- https://www.kci.go.kr/kciportal/landing/article.kci?arti_id=ART003036784</a:t>
            </a:r>
          </a:p>
          <a:p xmlns:a="http://schemas.openxmlformats.org/drawingml/2006/main">
            <a:r>
              <a:t>- https://www.e-kfas.org/Upload/files/kfas/4.%2058%281%29%2033-45.pdf</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b9d5d494c5a49f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0053a0c586643c7" /><Relationship Type="http://schemas.openxmlformats.org/officeDocument/2006/relationships/slideLayout" Target="/ppt/slideLayouts/slideLayout1.xml" Id="R8567dc6f08e2465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567dc6f08e2465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96ff3ac4dd64c6f" /><Relationship Type="http://schemas.openxmlformats.org/officeDocument/2006/relationships/notesSlide" Target="/ppt/notesSlides/notesSlide1.xml" Id="R923e0e806858491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2724aa717b64010" /><Relationship Type="http://schemas.openxmlformats.org/officeDocument/2006/relationships/notesSlide" Target="/ppt/notesSlides/notesSlide2.xml" Id="R034fcc48d997402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d26080494db4ba7" /><Relationship Type="http://schemas.openxmlformats.org/officeDocument/2006/relationships/notesSlide" Target="/ppt/notesSlides/notesSlide3.xml" Id="Ra642bd70eaee44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3e784d16f0d4e0f" /><Relationship Type="http://schemas.openxmlformats.org/officeDocument/2006/relationships/notesSlide" Target="/ppt/notesSlides/notesSlide4.xml" Id="Re530c5c2afc0496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339e675594440b6" /><Relationship Type="http://schemas.openxmlformats.org/officeDocument/2006/relationships/notesSlide" Target="/ppt/notesSlides/notesSlide5.xml" Id="Rfb94015ff94d40e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42427c3d60d45b6" /><Relationship Type="http://schemas.openxmlformats.org/officeDocument/2006/relationships/notesSlide" Target="/ppt/notesSlides/notesSlide6.xml" Id="Ra0171c3fdb7149c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b831ba404f94f49" /><Relationship Type="http://schemas.openxmlformats.org/officeDocument/2006/relationships/notesSlide" Target="/ppt/notesSlides/notesSlide7.xml" Id="R19184e8da6a8452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cd0bfb1f9bd4fb1" /><Relationship Type="http://schemas.openxmlformats.org/officeDocument/2006/relationships/notesSlide" Target="/ppt/notesSlides/notesSlide8.xml" Id="R93a0ad213c4a44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9d4be989a644c27" /><Relationship Type="http://schemas.openxmlformats.org/officeDocument/2006/relationships/notesSlide" Target="/ppt/notesSlides/notesSlide9.xml" Id="R3bef367ff112404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3fbcdd27620478a" /><Relationship Type="http://schemas.openxmlformats.org/officeDocument/2006/relationships/notesSlide" Target="/ppt/notesSlides/notesSlide10.xml" Id="Rd26a6e92afbb437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f71a0830d594fcc" /><Relationship Type="http://schemas.openxmlformats.org/officeDocument/2006/relationships/notesSlide" Target="/ppt/notesSlides/notesSlide11.xml" Id="Rd538b638ed89448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b9f0035204747ec" /><Relationship Type="http://schemas.openxmlformats.org/officeDocument/2006/relationships/notesSlide" Target="/ppt/notesSlides/notesSlide12.xml" Id="Rfa0c844ccf6642c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807f1f708b44e44" /><Relationship Type="http://schemas.openxmlformats.org/officeDocument/2006/relationships/notesSlide" Target="/ppt/notesSlides/notesSlide13.xml" Id="R5818b29dbf3a462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7869430ef1c431d" /><Relationship Type="http://schemas.openxmlformats.org/officeDocument/2006/relationships/notesSlide" Target="/ppt/notesSlides/notesSlide14.xml" Id="R86eecf0519ea4fd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172670c96fc43ed" /><Relationship Type="http://schemas.openxmlformats.org/officeDocument/2006/relationships/chart" Target="/ppt/slides/charts/chart1.xml" Id="R151c71a12c7c4cea" /><Relationship Type="http://schemas.openxmlformats.org/officeDocument/2006/relationships/notesSlide" Target="/ppt/notesSlides/notesSlide15.xml" Id="Rf249d641e4eb4fa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8270807d15a4b42" /><Relationship Type="http://schemas.openxmlformats.org/officeDocument/2006/relationships/notesSlide" Target="/ppt/notesSlides/notesSlide16.xml" Id="R55b76992a1344ed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44696c20d5c4768" /><Relationship Type="http://schemas.openxmlformats.org/officeDocument/2006/relationships/notesSlide" Target="/ppt/notesSlides/notesSlide17.xml" Id="Red84beec683c412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28106ad58054e1b" /><Relationship Type="http://schemas.openxmlformats.org/officeDocument/2006/relationships/notesSlide" Target="/ppt/notesSlides/notesSlide18.xml" Id="R17f497a0e1424d8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fb150e2c92843df" /><Relationship Type="http://schemas.openxmlformats.org/officeDocument/2006/relationships/notesSlide" Target="/ppt/notesSlides/notesSlide19.xml" Id="R748e60b18bb941a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86016d3e5a64858" /><Relationship Type="http://schemas.openxmlformats.org/officeDocument/2006/relationships/notesSlide" Target="/ppt/notesSlides/notesSlide20.xml" Id="Rbad463c20a3c4cac" /></Relationships>
</file>

<file path=ppt/slides/charts/chart1.xml><?xml version="1.0" encoding="utf-8"?>
<c:chartSpace xmlns:c="http://schemas.openxmlformats.org/drawingml/2006/chart">
  <c:lang val="en-US"/>
  <c:chart>
    <c:plotArea>
      <c:lineChart>
        <c:grouping val="standard"/>
        <c:varyColors val="0"/>
        <c:ser>
          <c:idx val="0"/>
          <c:order val="0"/>
          <c:tx>
            <c:v>활성 GABA(t/년)</c:v>
          </c:tx>
          <c:spPr>
            <a:ln xmlns:a="http://schemas.openxmlformats.org/drawingml/2006/main" w="28575">
              <a:solidFill>
                <a:srgbClr val="00A878"/>
              </a:solidFill>
              <a:prstDash val="solid"/>
            </a:ln>
          </c:spPr>
          <c:marker>
            <c:symbol val="circle"/>
            <c:size val="6"/>
          </c:marker>
          <c:cat>
            <c:strLit>
              <c:ptCount val="4"/>
              <c:pt idx="0">
                <c:v>비전바이오켐</c:v>
              </c:pt>
              <c:pt idx="1">
                <c:v>비전바이오켐</c:v>
              </c:pt>
              <c:pt idx="2">
                <c:v>지에프퍼멘텍</c:v>
              </c:pt>
              <c:pt idx="3">
                <c:v>지에프퍼멘텍</c:v>
              </c:pt>
            </c:strLit>
          </c:cat>
          <c:val>
            <c:numLit>
              <c:formatCode>0.0</c:formatCode>
              <c:ptCount val="4"/>
              <c:pt idx="0">
                <c:v>20</c:v>
              </c:pt>
              <c:pt idx="1">
                <c:v>20</c:v>
              </c:pt>
              <c:pt idx="2">
                <c:v>200</c:v>
              </c:pt>
              <c:pt idx="3">
                <c:v>200</c:v>
              </c:pt>
            </c:numLit>
          </c:val>
        </c:ser>
        <c:dLbls>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72768"/>
        <c:lblAlgn val="ctr"/>
        <c:lblOffset val="100"/>
        <c:noMultiLvlLbl val="0"/>
      </c:catAx>
      <c:valAx>
        <c:axId val="48672768"/>
        <c:scaling>
          <c:orientation val="minMax"/>
          <c:max val="220"/>
          <c:min val="0"/>
        </c:scaling>
        <c:delete val="0"/>
        <c:axPos val="l"/>
        <c:majorGridlines>
          <c:spPr>
            <a:ln xmlns:a="http://schemas.openxmlformats.org/drawingml/2006/main" w="9525">
              <a:solidFill>
                <a:srgbClr val="EDEDED"/>
              </a:solidFill>
              <a:prstDash val="solid"/>
            </a:ln>
          </c:spPr>
        </c:majorGridlines>
        <c:numFmt formatCode="0"/>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50112"/>
        <c:crossBetween val="between"/>
        <c:majorUnit val="50"/>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CEC8634E-8608-4CFC-AABB-C79CBFD2183A}"/>
              </a:ext>
            </a:extLst>
          </p:cNvPr>
          <p:cNvSpPr>
            <a:spLocks xmlns:a="http://schemas.openxmlformats.org/drawingml/2006/main" noGrp="1"/>
          </p:cNvSpPr>
          <p:nvPr/>
        </p:nvSpPr>
        <p:spPr>
          <a:xfrm xmlns:a="http://schemas.openxmlformats.org/drawingml/2006/main">
            <a:off x="393668" y="1738789"/>
            <a:ext cx="944880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a:solidFill>
                  <a:srgbClr val="000000"/>
                </a:solidFill>
                <a:latin typeface="Helvetica Neue"/>
                <a:ea typeface="Helvetica Neue"/>
                <a:cs typeface="Helvetica Neue"/>
              </a:defRPr>
            </a:pPr>
            <a:r>
              <a:t>두 사업, 하나의 품질 기준으로 시작한다</a:t>
            </a:r>
          </a:p>
        </p:txBody>
      </p:sp>
      <p:sp>
        <p:nvSpPr>
          <p:cNvPr id="2" name="Subtitle-4-2">
            <a:extLst xmlns:a="http://schemas.openxmlformats.org/drawingml/2006/main">
              <a:ext uri="{FF2B5EF4-FFF2-40B4-BE49-F238E27FC236}">
                <a16:creationId xmlns:a16="http://schemas.microsoft.com/office/drawing/2014/main" id="{362AD5FE-C022-4A84-8566-7192195AE44D}"/>
              </a:ext>
            </a:extLst>
          </p:cNvPr>
          <p:cNvSpPr>
            <a:spLocks xmlns:a="http://schemas.openxmlformats.org/drawingml/2006/main" noGrp="1"/>
          </p:cNvSpPr>
          <p:nvPr/>
        </p:nvSpPr>
        <p:spPr>
          <a:xfrm xmlns:a="http://schemas.openxmlformats.org/drawingml/2006/main">
            <a:off x="393668" y="4742212"/>
            <a:ext cx="5702332" cy="108023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가바크루드: GABA 20% 기준품·OEM 5~20% 원료</a:t>
            </a:r>
          </a:p>
          <a:p xmlns:a="http://schemas.openxmlformats.org/drawingml/2006/main">
            <a:pPr algn="l">
              <a:buNone/>
              <a:defRPr sz="2400">
                <a:solidFill>
                  <a:srgbClr val="000000"/>
                </a:solidFill>
                <a:latin typeface="Helvetica Neue"/>
                <a:ea typeface="Helvetica Neue"/>
                <a:cs typeface="Helvetica Neue"/>
              </a:defRPr>
            </a:pPr>
            <a:r>
              <a:t>가바케어믹스: 가바크루드+미네랄매트릭스 배합사료</a:t>
            </a:r>
          </a:p>
        </p:txBody>
      </p:sp>
      <p:sp>
        <p:nvSpPr>
          <p:cNvPr id="3" name="Subtitle-4-3">
            <a:extLst xmlns:a="http://schemas.openxmlformats.org/drawingml/2006/main">
              <a:ext uri="{FF2B5EF4-FFF2-40B4-BE49-F238E27FC236}">
                <a16:creationId xmlns:a16="http://schemas.microsoft.com/office/drawing/2014/main" id="{A8CDEDD7-7EBB-4481-B233-7DADAAE8D654}"/>
              </a:ext>
            </a:extLst>
          </p:cNvPr>
          <p:cNvSpPr>
            <a:spLocks xmlns:a="http://schemas.openxmlformats.org/drawingml/2006/main" noGrp="1"/>
          </p:cNvSpPr>
          <p:nvPr/>
        </p:nvSpPr>
        <p:spPr>
          <a:xfrm xmlns:a="http://schemas.openxmlformats.org/drawingml/2006/main">
            <a:off x="393668" y="392240"/>
            <a:ext cx="5702332"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사업화 발표자료 · 2026.08</a:t>
            </a:r>
          </a:p>
        </p:txBody>
      </p:sp>
      <p:sp>
        <p:nvSpPr>
          <p:cNvPr id="4" name="brand-rule-1">
            <a:extLst xmlns:a="http://schemas.openxmlformats.org/drawingml/2006/main">
              <a:ext uri="{FF2B5EF4-FFF2-40B4-BE49-F238E27FC236}">
                <a16:creationId xmlns:a16="http://schemas.microsoft.com/office/drawing/2014/main" id="{CA1F29A9-BADD-4BED-BF68-8B0C79487B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5" name="brand-footer-1">
            <a:extLst xmlns:a="http://schemas.openxmlformats.org/drawingml/2006/main">
              <a:ext uri="{FF2B5EF4-FFF2-40B4-BE49-F238E27FC236}">
                <a16:creationId xmlns:a16="http://schemas.microsoft.com/office/drawing/2014/main" id="{FF036762-6761-4834-ADCD-DA1291523648}"/>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01 | THESIS</a:t>
            </a:r>
          </a:p>
        </p:txBody>
      </p:sp>
    </p:spTree>
    <p:extLst>
      <p:ext uri="{BB962C8B-B14F-4D97-AF65-F5344CB8AC3E}">
        <p14:creationId xmlns:p14="http://schemas.microsoft.com/office/powerpoint/2010/main" val="69088520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4E73852B-3E73-49A0-9BFA-C1069C65A177}"/>
              </a:ext>
            </a:extLst>
          </p:cNvPr>
          <p:cNvSpPr>
            <a:spLocks xmlns:a="http://schemas.openxmlformats.org/drawingml/2006/main" noGrp="1"/>
          </p:cNvSpPr>
          <p:nvPr/>
        </p:nvSpPr>
        <p:spPr>
          <a:xfrm xmlns:a="http://schemas.openxmlformats.org/drawingml/2006/main">
            <a:off x="393668" y="2579942"/>
            <a:ext cx="9448800" cy="3624263"/>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a:solidFill>
                  <a:srgbClr val="000000"/>
                </a:solidFill>
                <a:latin typeface="Helvetica Neue"/>
                <a:ea typeface="Helvetica Neue"/>
                <a:cs typeface="Helvetica Neue"/>
              </a:defRPr>
            </a:pPr>
            <a:r>
              <a:t>원료와 배합사료를 나누고,</a:t>
            </a:r>
          </a:p>
          <a:p xmlns:a="http://schemas.openxmlformats.org/drawingml/2006/main">
            <a:pPr algn="l">
              <a:buNone/>
              <a:defRPr sz="6000">
                <a:solidFill>
                  <a:srgbClr val="000000"/>
                </a:solidFill>
                <a:latin typeface="Helvetica Neue"/>
                <a:ea typeface="Helvetica Neue"/>
                <a:cs typeface="Helvetica Neue"/>
              </a:defRPr>
            </a:pPr>
            <a:r>
              <a:t>검증 기준은 함께 관리한다</a:t>
            </a:r>
          </a:p>
        </p:txBody>
      </p:sp>
      <p:sp>
        <p:nvSpPr>
          <p:cNvPr id="2" name="Subtitle-4-2">
            <a:extLst xmlns:a="http://schemas.openxmlformats.org/drawingml/2006/main">
              <a:ext uri="{FF2B5EF4-FFF2-40B4-BE49-F238E27FC236}">
                <a16:creationId xmlns:a16="http://schemas.microsoft.com/office/drawing/2014/main" id="{41D73F4A-10CA-4BEC-8903-349333AA7EF9}"/>
              </a:ext>
            </a:extLst>
          </p:cNvPr>
          <p:cNvSpPr>
            <a:spLocks xmlns:a="http://schemas.openxmlformats.org/drawingml/2006/main" noGrp="1"/>
          </p:cNvSpPr>
          <p:nvPr/>
        </p:nvSpPr>
        <p:spPr>
          <a:xfrm xmlns:a="http://schemas.openxmlformats.org/drawingml/2006/main">
            <a:off x="393668" y="392240"/>
            <a:ext cx="6157817"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GABA CRUDE + GABA CARE MIX</a:t>
            </a:r>
          </a:p>
        </p:txBody>
      </p:sp>
      <p:sp>
        <p:nvSpPr>
          <p:cNvPr id="3" name="Subtitle-4-3">
            <a:extLst xmlns:a="http://schemas.openxmlformats.org/drawingml/2006/main">
              <a:ext uri="{FF2B5EF4-FFF2-40B4-BE49-F238E27FC236}">
                <a16:creationId xmlns:a16="http://schemas.microsoft.com/office/drawing/2014/main" id="{DF9034B2-BA94-4EB3-B461-4FBB5F96BACA}"/>
              </a:ext>
            </a:extLst>
          </p:cNvPr>
          <p:cNvSpPr>
            <a:spLocks xmlns:a="http://schemas.openxmlformats.org/drawingml/2006/main" noGrp="1"/>
          </p:cNvSpPr>
          <p:nvPr/>
        </p:nvSpPr>
        <p:spPr>
          <a:xfrm xmlns:a="http://schemas.openxmlformats.org/drawingml/2006/main">
            <a:off x="7886700" y="392240"/>
            <a:ext cx="3911632"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준비도 41/100 · 검증 단계</a:t>
            </a:r>
          </a:p>
        </p:txBody>
      </p:sp>
      <p:sp>
        <p:nvSpPr>
          <p:cNvPr id="4" name="brand-rule-2">
            <a:extLst xmlns:a="http://schemas.openxmlformats.org/drawingml/2006/main">
              <a:ext uri="{FF2B5EF4-FFF2-40B4-BE49-F238E27FC236}">
                <a16:creationId xmlns:a16="http://schemas.microsoft.com/office/drawing/2014/main" id="{25713A14-BD67-4D51-87F2-93F34382ACE1}"/>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5" name="brand-footer-2">
            <a:extLst xmlns:a="http://schemas.openxmlformats.org/drawingml/2006/main">
              <a:ext uri="{FF2B5EF4-FFF2-40B4-BE49-F238E27FC236}">
                <a16:creationId xmlns:a16="http://schemas.microsoft.com/office/drawing/2014/main" id="{E9521AF2-7264-4CC8-AEBF-DEB9799FF568}"/>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02 | EXECUTIVE THESIS</a:t>
            </a:r>
          </a:p>
        </p:txBody>
      </p:sp>
    </p:spTree>
    <p:extLst>
      <p:ext uri="{BB962C8B-B14F-4D97-AF65-F5344CB8AC3E}">
        <p14:creationId xmlns:p14="http://schemas.microsoft.com/office/powerpoint/2010/main" val="5048347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3</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가바크루드가 원료 매출을 만들고, 가바케어믹스가 고객 현장으로 확장한다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기준 원료</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맞춤 원료</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배합사료</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GABA 20% 기준품</a:t>
            </a:r>
          </a:p>
          <a:p xmlns:a="http://schemas.openxmlformats.org/drawingml/2006/main">
            <a:pPr algn="l">
              <a:buNone/>
              <a:defRPr sz="2400">
                <a:solidFill>
                  <a:srgbClr val="000000"/>
                </a:solidFill>
                <a:latin typeface="Helvetica Neue"/>
                <a:ea typeface="Helvetica Neue"/>
                <a:cs typeface="Helvetica Neue"/>
              </a:defRPr>
            </a:pPr>
            <a:r>
              <a:t>품질·출하 기준</a:t>
            </a:r>
          </a:p>
          <a:p xmlns:a="http://schemas.openxmlformats.org/drawingml/2006/main">
            <a:pPr algn="l">
              <a:buNone/>
              <a:defRPr sz="2400">
                <a:solidFill>
                  <a:srgbClr val="000000"/>
                </a:solidFill>
                <a:latin typeface="Helvetica Neue"/>
                <a:ea typeface="Helvetica Neue"/>
                <a:cs typeface="Helvetica Neue"/>
              </a:defRPr>
            </a:pPr>
            <a:r>
              <a:t>로트별 CoA</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OEM 5~20%</a:t>
            </a:r>
          </a:p>
          <a:p xmlns:a="http://schemas.openxmlformats.org/drawingml/2006/main">
            <a:pPr algn="l">
              <a:buNone/>
              <a:defRPr sz="2400">
                <a:solidFill>
                  <a:srgbClr val="000000"/>
                </a:solidFill>
                <a:latin typeface="Helvetica Neue"/>
                <a:ea typeface="Helvetica Neue"/>
                <a:cs typeface="Helvetica Neue"/>
              </a:defRPr>
            </a:pPr>
            <a:r>
              <a:t>고객 주문 후 생산</a:t>
            </a:r>
          </a:p>
          <a:p xmlns:a="http://schemas.openxmlformats.org/drawingml/2006/main">
            <a:pPr algn="l">
              <a:buNone/>
              <a:defRPr sz="2400">
                <a:solidFill>
                  <a:srgbClr val="000000"/>
                </a:solidFill>
                <a:latin typeface="Helvetica Neue"/>
                <a:ea typeface="Helvetica Neue"/>
                <a:cs typeface="Helvetica Neue"/>
              </a:defRPr>
            </a:pPr>
            <a:r>
              <a:t>농도·포장 맞춤</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가바크루드+</a:t>
            </a:r>
          </a:p>
          <a:p xmlns:a="http://schemas.openxmlformats.org/drawingml/2006/main">
            <a:pPr algn="l">
              <a:buNone/>
              <a:defRPr sz="2400">
                <a:solidFill>
                  <a:srgbClr val="000000"/>
                </a:solidFill>
                <a:latin typeface="Helvetica Neue"/>
                <a:ea typeface="Helvetica Neue"/>
                <a:cs typeface="Helvetica Neue"/>
              </a:defRPr>
            </a:pPr>
            <a:r>
              <a:t>미네랄매트릭스</a:t>
            </a:r>
          </a:p>
          <a:p xmlns:a="http://schemas.openxmlformats.org/drawingml/2006/main">
            <a:pPr algn="l">
              <a:buNone/>
              <a:defRPr sz="2400">
                <a:solidFill>
                  <a:srgbClr val="000000"/>
                </a:solidFill>
                <a:latin typeface="Helvetica Neue"/>
                <a:ea typeface="Helvetica Neue"/>
                <a:cs typeface="Helvetica Neue"/>
              </a:defRPr>
            </a:pPr>
            <a:r>
              <a:t>축종별 맞춤 배합</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03 | TWO BUSINESS TRACKS</a:t>
            </a:r>
          </a:p>
        </p:txBody>
      </p:sp>
    </p:spTree>
    <p:extLst>
      <p:ext uri="{BB962C8B-B14F-4D97-AF65-F5344CB8AC3E}">
        <p14:creationId xmlns:p14="http://schemas.microsoft.com/office/powerpoint/2010/main" val="116188389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4</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가바크루드는 GABA 20% 기준품을 축으로 주문 농도까지 확장한다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원료의 출발점</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단일 재고 SKU</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주문형 원료</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GABA 20% 기준품</a:t>
            </a:r>
          </a:p>
          <a:p xmlns:a="http://schemas.openxmlformats.org/drawingml/2006/main">
            <a:pPr algn="l">
              <a:buNone/>
              <a:defRPr sz="2400">
                <a:solidFill>
                  <a:srgbClr val="000000"/>
                </a:solidFill>
                <a:latin typeface="Helvetica Neue"/>
                <a:ea typeface="Helvetica Neue"/>
                <a:cs typeface="Helvetica Neue"/>
              </a:defRPr>
            </a:pPr>
            <a:r>
              <a:t>로트·CoA 관리</a:t>
            </a:r>
          </a:p>
          <a:p xmlns:a="http://schemas.openxmlformats.org/drawingml/2006/main">
            <a:pPr algn="l">
              <a:buNone/>
              <a:defRPr sz="2400">
                <a:solidFill>
                  <a:srgbClr val="000000"/>
                </a:solidFill>
                <a:latin typeface="Helvetica Neue"/>
                <a:ea typeface="Helvetica Neue"/>
                <a:cs typeface="Helvetica Neue"/>
              </a:defRPr>
            </a:pPr>
            <a:r>
              <a:t>품질·출하 기준</a:t>
            </a:r>
          </a:p>
          <a:p xmlns:a="http://schemas.openxmlformats.org/drawingml/2006/main">
            <a:pPr algn="l">
              <a:buNone/>
              <a:defRPr sz="2400">
                <a:solidFill>
                  <a:srgbClr val="000000"/>
                </a:solidFill>
                <a:latin typeface="Helvetica Neue"/>
                <a:ea typeface="Helvetica Neue"/>
                <a:cs typeface="Helvetica Neue"/>
              </a:defRPr>
            </a:pPr>
            <a:r>
              <a:t>재고 집중</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발효배양액</a:t>
            </a:r>
          </a:p>
          <a:p xmlns:a="http://schemas.openxmlformats.org/drawingml/2006/main">
            <a:pPr algn="l">
              <a:buNone/>
              <a:defRPr sz="2400">
                <a:solidFill>
                  <a:srgbClr val="000000"/>
                </a:solidFill>
                <a:latin typeface="Helvetica Neue"/>
                <a:ea typeface="Helvetica Neue"/>
                <a:cs typeface="Helvetica Neue"/>
              </a:defRPr>
            </a:pPr>
            <a:r>
              <a:t>정밀발효·정제</a:t>
            </a:r>
          </a:p>
          <a:p xmlns:a="http://schemas.openxmlformats.org/drawingml/2006/main">
            <a:pPr algn="l">
              <a:buNone/>
              <a:defRPr sz="2400">
                <a:solidFill>
                  <a:srgbClr val="000000"/>
                </a:solidFill>
                <a:latin typeface="Helvetica Neue"/>
                <a:ea typeface="Helvetica Neue"/>
                <a:cs typeface="Helvetica Neue"/>
              </a:defRPr>
            </a:pPr>
            <a:r>
              <a:t>품질 변동 관리</a:t>
            </a:r>
          </a:p>
          <a:p xmlns:a="http://schemas.openxmlformats.org/drawingml/2006/main">
            <a:pPr algn="l">
              <a:buNone/>
              <a:defRPr sz="2400">
                <a:solidFill>
                  <a:srgbClr val="000000"/>
                </a:solidFill>
                <a:latin typeface="Helvetica Neue"/>
                <a:ea typeface="Helvetica Neue"/>
                <a:cs typeface="Helvetica Neue"/>
              </a:defRPr>
            </a:pPr>
            <a:r>
              <a:t>기준품 원료</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OEM 5~20%</a:t>
            </a:r>
          </a:p>
          <a:p xmlns:a="http://schemas.openxmlformats.org/drawingml/2006/main">
            <a:pPr algn="l">
              <a:buNone/>
              <a:defRPr sz="2400">
                <a:solidFill>
                  <a:srgbClr val="000000"/>
                </a:solidFill>
                <a:latin typeface="Helvetica Neue"/>
                <a:ea typeface="Helvetica Neue"/>
                <a:cs typeface="Helvetica Neue"/>
              </a:defRPr>
            </a:pPr>
            <a:r>
              <a:t>농도·포장 맞춤</a:t>
            </a:r>
          </a:p>
          <a:p xmlns:a="http://schemas.openxmlformats.org/drawingml/2006/main">
            <a:pPr algn="l">
              <a:buNone/>
              <a:defRPr sz="2400">
                <a:solidFill>
                  <a:srgbClr val="000000"/>
                </a:solidFill>
                <a:latin typeface="Helvetica Neue"/>
                <a:ea typeface="Helvetica Neue"/>
                <a:cs typeface="Helvetica Neue"/>
              </a:defRPr>
            </a:pPr>
            <a:r>
              <a:t>고객 발주 후 생산</a:t>
            </a:r>
          </a:p>
          <a:p xmlns:a="http://schemas.openxmlformats.org/drawingml/2006/main">
            <a:pPr algn="l">
              <a:buNone/>
              <a:defRPr sz="2400">
                <a:solidFill>
                  <a:srgbClr val="000000"/>
                </a:solidFill>
                <a:latin typeface="Helvetica Neue"/>
                <a:ea typeface="Helvetica Neue"/>
                <a:cs typeface="Helvetica Neue"/>
              </a:defRPr>
            </a:pPr>
            <a:r>
              <a:t>원료 매출</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04 | GABA CRUDE</a:t>
            </a:r>
          </a:p>
        </p:txBody>
      </p:sp>
    </p:spTree>
    <p:extLst>
      <p:ext uri="{BB962C8B-B14F-4D97-AF65-F5344CB8AC3E}">
        <p14:creationId xmlns:p14="http://schemas.microsoft.com/office/powerpoint/2010/main" val="116188389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5</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가바크루드 기준품의 kg당 9,240원 원가는 세부 내역 확인이 필요하다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배양액 원가</a:t>
            </a:r>
          </a:p>
          <a:p xmlns:a="http://schemas.openxmlformats.org/drawingml/2006/main">
            <a:pPr algn="l">
              <a:buNone/>
              <a:defRPr sz="2400">
                <a:solidFill>
                  <a:srgbClr val="000000"/>
                </a:solidFill>
                <a:latin typeface="Helvetica Neue"/>
                <a:ea typeface="Helvetica Neue"/>
                <a:cs typeface="Helvetica Neue"/>
              </a:defRPr>
            </a:pPr>
            <a:r>
              <a:t>1톤/1,000L</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GABA 함량</a:t>
            </a:r>
          </a:p>
          <a:p xmlns:a="http://schemas.openxmlformats.org/drawingml/2006/main">
            <a:pPr algn="l">
              <a:buNone/>
              <a:defRPr sz="2400">
                <a:solidFill>
                  <a:srgbClr val="000000"/>
                </a:solidFill>
                <a:latin typeface="Helvetica Neue"/>
                <a:ea typeface="Helvetica Neue"/>
                <a:cs typeface="Helvetica Neue"/>
              </a:defRPr>
            </a:pPr>
            <a:r>
              <a:t>배양액 1톤</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건조 고형분</a:t>
            </a:r>
          </a:p>
          <a:p xmlns:a="http://schemas.openxmlformats.org/drawingml/2006/main">
            <a:pPr algn="l">
              <a:buNone/>
              <a:defRPr sz="2400">
                <a:solidFill>
                  <a:srgbClr val="000000"/>
                </a:solidFill>
                <a:latin typeface="Helvetica Neue"/>
                <a:ea typeface="Helvetica Neue"/>
                <a:cs typeface="Helvetica Neue"/>
              </a:defRPr>
            </a:pPr>
            <a:r>
              <a:t>회수량</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400만원</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300kg</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100kg</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원본: 1,000L×4,000원/L · ※ 건조·부형제·검사·포장·수율 비용의 반영 여부는 아직 확인되지 않음</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05 | GABA CRUDE COST</a:t>
            </a:r>
          </a:p>
        </p:txBody>
      </p:sp>
    </p:spTree>
    <p:extLst>
      <p:ext uri="{BB962C8B-B14F-4D97-AF65-F5344CB8AC3E}">
        <p14:creationId xmlns:p14="http://schemas.microsoft.com/office/powerpoint/2010/main" val="136431717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6</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가바크루드 20% 기준품에 재고를 집중하면 폐기와 사양 변경 위험이 줄어든다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생산 단위</a:t>
            </a:r>
          </a:p>
          <a:p xmlns:a="http://schemas.openxmlformats.org/drawingml/2006/main">
            <a:pPr algn="l">
              <a:buNone/>
              <a:defRPr sz="2400">
                <a:solidFill>
                  <a:srgbClr val="000000"/>
                </a:solidFill>
                <a:latin typeface="Helvetica Neue"/>
                <a:ea typeface="Helvetica Neue"/>
                <a:cs typeface="Helvetica Neue"/>
              </a:defRPr>
            </a:pPr>
            <a:r>
              <a:t>배양액→가바크루드</a:t>
            </a:r>
          </a:p>
          <a:p xmlns:a="http://schemas.openxmlformats.org/drawingml/2006/main">
            <a:pPr algn="l">
              <a:buNone/>
              <a:defRPr sz="2400">
                <a:solidFill>
                  <a:srgbClr val="000000"/>
                </a:solidFill>
                <a:latin typeface="Helvetica Neue"/>
                <a:ea typeface="Helvetica Neue"/>
                <a:cs typeface="Helvetica Neue"/>
              </a:defRPr>
            </a:pPr>
            <a:r>
              <a:t>500kg/배치</a:t>
            </a:r>
          </a:p>
          <a:p xmlns:a="http://schemas.openxmlformats.org/drawingml/2006/main">
            <a:pPr algn="l">
              <a:buNone/>
              <a:defRPr sz="2400">
                <a:solidFill>
                  <a:srgbClr val="000000"/>
                </a:solidFill>
                <a:latin typeface="Helvetica Neue"/>
                <a:ea typeface="Helvetica Neue"/>
                <a:cs typeface="Helvetica Neue"/>
              </a:defRPr>
            </a:pPr>
            <a:r>
              <a:t>로트별 승인</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재고 관리</a:t>
            </a:r>
          </a:p>
          <a:p xmlns:a="http://schemas.openxmlformats.org/drawingml/2006/main">
            <a:pPr algn="l">
              <a:buNone/>
              <a:defRPr sz="2400">
                <a:solidFill>
                  <a:srgbClr val="000000"/>
                </a:solidFill>
                <a:latin typeface="Helvetica Neue"/>
                <a:ea typeface="Helvetica Neue"/>
                <a:cs typeface="Helvetica Neue"/>
              </a:defRPr>
            </a:pPr>
            <a:r>
              <a:t>CoA(성적서)</a:t>
            </a:r>
          </a:p>
          <a:p xmlns:a="http://schemas.openxmlformats.org/drawingml/2006/main">
            <a:pPr algn="l">
              <a:buNone/>
              <a:defRPr sz="2400">
                <a:solidFill>
                  <a:srgbClr val="000000"/>
                </a:solidFill>
                <a:latin typeface="Helvetica Neue"/>
                <a:ea typeface="Helvetica Neue"/>
                <a:cs typeface="Helvetica Neue"/>
              </a:defRPr>
            </a:pPr>
            <a:r>
              <a:t>유통기한·안전재고</a:t>
            </a:r>
          </a:p>
          <a:p xmlns:a="http://schemas.openxmlformats.org/drawingml/2006/main">
            <a:pPr algn="l">
              <a:buNone/>
              <a:defRPr sz="2400">
                <a:solidFill>
                  <a:srgbClr val="000000"/>
                </a:solidFill>
                <a:latin typeface="Helvetica Neue"/>
                <a:ea typeface="Helvetica Neue"/>
                <a:cs typeface="Helvetica Neue"/>
              </a:defRPr>
            </a:pPr>
            <a:r>
              <a:t>FIFO(선입선출)</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완제품 무재고</a:t>
            </a:r>
          </a:p>
          <a:p xmlns:a="http://schemas.openxmlformats.org/drawingml/2006/main">
            <a:pPr algn="l">
              <a:buNone/>
              <a:defRPr sz="2400">
                <a:solidFill>
                  <a:srgbClr val="000000"/>
                </a:solidFill>
                <a:latin typeface="Helvetica Neue"/>
                <a:ea typeface="Helvetica Neue"/>
                <a:cs typeface="Helvetica Neue"/>
              </a:defRPr>
            </a:pPr>
            <a:r>
              <a:t>5·10·15·20%</a:t>
            </a:r>
          </a:p>
          <a:p xmlns:a="http://schemas.openxmlformats.org/drawingml/2006/main">
            <a:pPr algn="l">
              <a:buNone/>
              <a:defRPr sz="2400">
                <a:solidFill>
                  <a:srgbClr val="000000"/>
                </a:solidFill>
                <a:latin typeface="Helvetica Neue"/>
                <a:ea typeface="Helvetica Neue"/>
                <a:cs typeface="Helvetica Neue"/>
              </a:defRPr>
            </a:pPr>
            <a:r>
              <a:t>OEM 전 0kg</a:t>
            </a:r>
          </a:p>
          <a:p xmlns:a="http://schemas.openxmlformats.org/drawingml/2006/main">
            <a:pPr algn="l">
              <a:buNone/>
              <a:defRPr sz="2400">
                <a:solidFill>
                  <a:srgbClr val="000000"/>
                </a:solidFill>
                <a:latin typeface="Helvetica Neue"/>
                <a:ea typeface="Helvetica Neue"/>
                <a:cs typeface="Helvetica Neue"/>
              </a:defRPr>
            </a:pPr>
            <a:r>
              <a:t>사양폐기 최소화</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출고 원칙</a:t>
            </a:r>
          </a:p>
          <a:p xmlns:a="http://schemas.openxmlformats.org/drawingml/2006/main">
            <a:pPr algn="l">
              <a:buNone/>
              <a:defRPr sz="2400">
                <a:solidFill>
                  <a:srgbClr val="000000"/>
                </a:solidFill>
                <a:latin typeface="Helvetica Neue"/>
                <a:ea typeface="Helvetica Neue"/>
                <a:cs typeface="Helvetica Neue"/>
              </a:defRPr>
            </a:pPr>
            <a:r>
              <a:t>PO(발주서) 승인</a:t>
            </a:r>
          </a:p>
          <a:p xmlns:a="http://schemas.openxmlformats.org/drawingml/2006/main">
            <a:pPr algn="l">
              <a:buNone/>
              <a:defRPr sz="2400">
                <a:solidFill>
                  <a:srgbClr val="000000"/>
                </a:solidFill>
                <a:latin typeface="Helvetica Neue"/>
                <a:ea typeface="Helvetica Neue"/>
                <a:cs typeface="Helvetica Neue"/>
              </a:defRPr>
            </a:pPr>
            <a:r>
              <a:t>MOQ·납기 확인</a:t>
            </a:r>
          </a:p>
          <a:p xmlns:a="http://schemas.openxmlformats.org/drawingml/2006/main">
            <a:pPr algn="l">
              <a:buNone/>
              <a:defRPr sz="2400">
                <a:solidFill>
                  <a:srgbClr val="000000"/>
                </a:solidFill>
                <a:latin typeface="Helvetica Neue"/>
                <a:ea typeface="Helvetica Neue"/>
                <a:cs typeface="Helvetica Neue"/>
              </a:defRPr>
            </a:pPr>
            <a:r>
              <a:t>그 뒤 OEM 생산</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06 | GABA CRUDE INVENTORY</a:t>
            </a:r>
          </a:p>
        </p:txBody>
      </p:sp>
    </p:spTree>
    <p:extLst>
      <p:ext uri="{BB962C8B-B14F-4D97-AF65-F5344CB8AC3E}">
        <p14:creationId xmlns:p14="http://schemas.microsoft.com/office/powerpoint/2010/main" val="1604558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7</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가바크루드 주문 농도와 발주서를 확인한 뒤 OEM 생산을 시작한다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발주서·규격 확정</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마스터 출고</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OEM 완제품화</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필요량 계산</a:t>
            </a:r>
          </a:p>
          <a:p xmlns:a="http://schemas.openxmlformats.org/drawingml/2006/main">
            <a:pPr algn="l">
              <a:buNone/>
              <a:defRPr sz="2400">
                <a:solidFill>
                  <a:srgbClr val="000000"/>
                </a:solidFill>
                <a:latin typeface="Helvetica Neue"/>
                <a:ea typeface="Helvetica Neue"/>
                <a:cs typeface="Helvetica Neue"/>
              </a:defRPr>
            </a:pPr>
            <a:r>
              <a:t>로트 지정·출고</a:t>
            </a:r>
          </a:p>
          <a:p xmlns:a="http://schemas.openxmlformats.org/drawingml/2006/main">
            <a:pPr algn="l">
              <a:buNone/>
              <a:defRPr sz="2400">
                <a:solidFill>
                  <a:srgbClr val="000000"/>
                </a:solidFill>
                <a:latin typeface="Helvetica Neue"/>
                <a:ea typeface="Helvetica Neue"/>
                <a:cs typeface="Helvetica Neue"/>
              </a:defRPr>
            </a:pPr>
            <a:r>
              <a:t>희석비 확정</a:t>
            </a:r>
          </a:p>
          <a:p xmlns:a="http://schemas.openxmlformats.org/drawingml/2006/main">
            <a:pPr algn="l">
              <a:buNone/>
              <a:defRPr sz="2400">
                <a:solidFill>
                  <a:srgbClr val="000000"/>
                </a:solidFill>
                <a:latin typeface="Helvetica Neue"/>
                <a:ea typeface="Helvetica Neue"/>
                <a:cs typeface="Helvetica Neue"/>
              </a:defRPr>
            </a:pPr>
            <a:r>
              <a:t>OEM 입고검사</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농도·수량</a:t>
            </a:r>
          </a:p>
          <a:p xmlns:a="http://schemas.openxmlformats.org/drawingml/2006/main">
            <a:pPr algn="l">
              <a:buNone/>
              <a:defRPr sz="2400">
                <a:solidFill>
                  <a:srgbClr val="000000"/>
                </a:solidFill>
                <a:latin typeface="Helvetica Neue"/>
                <a:ea typeface="Helvetica Neue"/>
                <a:cs typeface="Helvetica Neue"/>
              </a:defRPr>
            </a:pPr>
            <a:r>
              <a:t>담체·포장단위</a:t>
            </a:r>
          </a:p>
          <a:p xmlns:a="http://schemas.openxmlformats.org/drawingml/2006/main">
            <a:pPr algn="l">
              <a:buNone/>
              <a:defRPr sz="2400">
                <a:solidFill>
                  <a:srgbClr val="000000"/>
                </a:solidFill>
                <a:latin typeface="Helvetica Neue"/>
                <a:ea typeface="Helvetica Neue"/>
                <a:cs typeface="Helvetica Neue"/>
              </a:defRPr>
            </a:pPr>
            <a:r>
              <a:t>표시사항·CoA</a:t>
            </a:r>
          </a:p>
          <a:p xmlns:a="http://schemas.openxmlformats.org/drawingml/2006/main">
            <a:pPr algn="l">
              <a:buNone/>
              <a:defRPr sz="2400">
                <a:solidFill>
                  <a:srgbClr val="000000"/>
                </a:solidFill>
                <a:latin typeface="Helvetica Neue"/>
                <a:ea typeface="Helvetica Neue"/>
                <a:cs typeface="Helvetica Neue"/>
              </a:defRPr>
            </a:pPr>
            <a:r>
              <a:t>선금/발주 확정</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혼합·포장</a:t>
            </a:r>
          </a:p>
          <a:p xmlns:a="http://schemas.openxmlformats.org/drawingml/2006/main">
            <a:pPr algn="l">
              <a:buNone/>
              <a:defRPr sz="2400">
                <a:solidFill>
                  <a:srgbClr val="000000"/>
                </a:solidFill>
                <a:latin typeface="Helvetica Neue"/>
                <a:ea typeface="Helvetica Neue"/>
                <a:cs typeface="Helvetica Neue"/>
              </a:defRPr>
            </a:pPr>
            <a:r>
              <a:t>성분·안전성 검사</a:t>
            </a:r>
          </a:p>
          <a:p xmlns:a="http://schemas.openxmlformats.org/drawingml/2006/main">
            <a:pPr algn="l">
              <a:buNone/>
              <a:defRPr sz="2400">
                <a:solidFill>
                  <a:srgbClr val="000000"/>
                </a:solidFill>
                <a:latin typeface="Helvetica Neue"/>
                <a:ea typeface="Helvetica Neue"/>
                <a:cs typeface="Helvetica Neue"/>
              </a:defRPr>
            </a:pPr>
            <a:r>
              <a:t>CoA 발행·직송</a:t>
            </a:r>
          </a:p>
          <a:p xmlns:a="http://schemas.openxmlformats.org/drawingml/2006/main">
            <a:pPr algn="l">
              <a:buNone/>
              <a:defRPr sz="2400">
                <a:solidFill>
                  <a:srgbClr val="000000"/>
                </a:solidFill>
                <a:latin typeface="Helvetica Neue"/>
                <a:ea typeface="Helvetica Neue"/>
                <a:cs typeface="Helvetica Neue"/>
              </a:defRPr>
            </a:pPr>
            <a:r>
              <a:t>잔량 비축 금지</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07 | GABA CRUDE OEM FLOW</a:t>
            </a:r>
          </a:p>
        </p:txBody>
      </p:sp>
    </p:spTree>
    <p:extLst>
      <p:ext uri="{BB962C8B-B14F-4D97-AF65-F5344CB8AC3E}">
        <p14:creationId xmlns:p14="http://schemas.microsoft.com/office/powerpoint/2010/main" val="116188389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8</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두 사업 모두 첫 계약 전에 품목 분류와 공장 품질 체계를 서면으로 확인한다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규제 경로</a:t>
            </a:r>
          </a:p>
          <a:p xmlns:a="http://schemas.openxmlformats.org/drawingml/2006/main">
            <a:pPr algn="l">
              <a:buNone/>
              <a:defRPr sz="2400">
                <a:solidFill>
                  <a:srgbClr val="000000"/>
                </a:solidFill>
                <a:latin typeface="Helvetica Neue"/>
                <a:ea typeface="Helvetica Neue"/>
                <a:cs typeface="Helvetica Neue"/>
              </a:defRPr>
            </a:pPr>
            <a:r>
              <a:t>원료 명칭·품목 분류</a:t>
            </a:r>
          </a:p>
          <a:p xmlns:a="http://schemas.openxmlformats.org/drawingml/2006/main">
            <a:pPr algn="l">
              <a:buNone/>
              <a:defRPr sz="2400">
                <a:solidFill>
                  <a:srgbClr val="000000"/>
                </a:solidFill>
                <a:latin typeface="Helvetica Neue"/>
                <a:ea typeface="Helvetica Neue"/>
                <a:cs typeface="Helvetica Neue"/>
              </a:defRPr>
            </a:pPr>
            <a:r>
              <a:t>제조·성분 등록</a:t>
            </a:r>
          </a:p>
          <a:p xmlns:a="http://schemas.openxmlformats.org/drawingml/2006/main">
            <a:pPr algn="l">
              <a:buNone/>
              <a:defRPr sz="2400">
                <a:solidFill>
                  <a:srgbClr val="000000"/>
                </a:solidFill>
                <a:latin typeface="Helvetica Neue"/>
                <a:ea typeface="Helvetica Neue"/>
                <a:cs typeface="Helvetica Neue"/>
              </a:defRPr>
            </a:pPr>
            <a:r>
              <a:t>표시 가능 문구</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제품 규격</a:t>
            </a:r>
          </a:p>
          <a:p xmlns:a="http://schemas.openxmlformats.org/drawingml/2006/main">
            <a:pPr algn="l">
              <a:buNone/>
              <a:defRPr sz="2400">
                <a:solidFill>
                  <a:srgbClr val="000000"/>
                </a:solidFill>
                <a:latin typeface="Helvetica Neue"/>
                <a:ea typeface="Helvetica Neue"/>
                <a:cs typeface="Helvetica Neue"/>
              </a:defRPr>
            </a:pPr>
            <a:r>
              <a:t>GABA 활성함량</a:t>
            </a:r>
          </a:p>
          <a:p xmlns:a="http://schemas.openxmlformats.org/drawingml/2006/main">
            <a:pPr algn="l">
              <a:buNone/>
              <a:defRPr sz="2400">
                <a:solidFill>
                  <a:srgbClr val="000000"/>
                </a:solidFill>
                <a:latin typeface="Helvetica Neue"/>
                <a:ea typeface="Helvetica Neue"/>
                <a:cs typeface="Helvetica Neue"/>
              </a:defRPr>
            </a:pPr>
            <a:r>
              <a:t>로트별 CoA</a:t>
            </a:r>
          </a:p>
          <a:p xmlns:a="http://schemas.openxmlformats.org/drawingml/2006/main">
            <a:pPr algn="l">
              <a:buNone/>
              <a:defRPr sz="2400">
                <a:solidFill>
                  <a:srgbClr val="000000"/>
                </a:solidFill>
                <a:latin typeface="Helvetica Neue"/>
                <a:ea typeface="Helvetica Neue"/>
                <a:cs typeface="Helvetica Neue"/>
              </a:defRPr>
            </a:pPr>
            <a:r>
              <a:t>안정성·보존기한</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공장 적합</a:t>
            </a:r>
          </a:p>
          <a:p xmlns:a="http://schemas.openxmlformats.org/drawingml/2006/main">
            <a:pPr algn="l">
              <a:buNone/>
              <a:defRPr sz="2400">
                <a:solidFill>
                  <a:srgbClr val="000000"/>
                </a:solidFill>
                <a:latin typeface="Helvetica Neue"/>
                <a:ea typeface="Helvetica Neue"/>
                <a:cs typeface="Helvetica Neue"/>
              </a:defRPr>
            </a:pPr>
            <a:r>
              <a:t>정량투입·균일혼합</a:t>
            </a:r>
          </a:p>
          <a:p xmlns:a="http://schemas.openxmlformats.org/drawingml/2006/main">
            <a:pPr algn="l">
              <a:buNone/>
              <a:defRPr sz="2400">
                <a:solidFill>
                  <a:srgbClr val="000000"/>
                </a:solidFill>
                <a:latin typeface="Helvetica Neue"/>
                <a:ea typeface="Helvetica Neue"/>
                <a:cs typeface="Helvetica Neue"/>
              </a:defRPr>
            </a:pPr>
            <a:r>
              <a:t>펠렛 영향·세척</a:t>
            </a:r>
          </a:p>
          <a:p xmlns:a="http://schemas.openxmlformats.org/drawingml/2006/main">
            <a:pPr algn="l">
              <a:buNone/>
              <a:defRPr sz="2400">
                <a:solidFill>
                  <a:srgbClr val="000000"/>
                </a:solidFill>
                <a:latin typeface="Helvetica Neue"/>
                <a:ea typeface="Helvetica Neue"/>
                <a:cs typeface="Helvetica Neue"/>
              </a:defRPr>
            </a:pPr>
            <a:r>
              <a:t>변경관리</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공급·회수</a:t>
            </a:r>
          </a:p>
          <a:p xmlns:a="http://schemas.openxmlformats.org/drawingml/2006/main">
            <a:pPr algn="l">
              <a:buNone/>
              <a:defRPr sz="2400">
                <a:solidFill>
                  <a:srgbClr val="000000"/>
                </a:solidFill>
                <a:latin typeface="Helvetica Neue"/>
                <a:ea typeface="Helvetica Neue"/>
                <a:cs typeface="Helvetica Neue"/>
              </a:defRPr>
            </a:pPr>
            <a:r>
              <a:t>로트 추적·회수</a:t>
            </a:r>
          </a:p>
          <a:p xmlns:a="http://schemas.openxmlformats.org/drawingml/2006/main">
            <a:pPr algn="l">
              <a:buNone/>
              <a:defRPr sz="2400">
                <a:solidFill>
                  <a:srgbClr val="000000"/>
                </a:solidFill>
                <a:latin typeface="Helvetica Neue"/>
                <a:ea typeface="Helvetica Neue"/>
                <a:cs typeface="Helvetica Neue"/>
              </a:defRPr>
            </a:pPr>
            <a:r>
              <a:t>MOQ·납기</a:t>
            </a:r>
          </a:p>
          <a:p xmlns:a="http://schemas.openxmlformats.org/drawingml/2006/main">
            <a:pPr algn="l">
              <a:buNone/>
              <a:defRPr sz="2400">
                <a:solidFill>
                  <a:srgbClr val="000000"/>
                </a:solidFill>
                <a:latin typeface="Helvetica Neue"/>
                <a:ea typeface="Helvetica Neue"/>
                <a:cs typeface="Helvetica Neue"/>
              </a:defRPr>
            </a:pPr>
            <a:r>
              <a:t>반품 조건</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08 | REGULATORY &amp; QA CHECKS</a:t>
            </a:r>
          </a:p>
        </p:txBody>
      </p:sp>
    </p:spTree>
    <p:extLst>
      <p:ext uri="{BB962C8B-B14F-4D97-AF65-F5344CB8AC3E}">
        <p14:creationId xmlns:p14="http://schemas.microsoft.com/office/powerpoint/2010/main" val="1604558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9</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가바케어믹스의 현장 가치는 축종·제형·용량을 정한 시험에서 확인해야 한다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젖소 열스트레스</a:t>
            </a:r>
          </a:p>
          <a:p xmlns:a="http://schemas.openxmlformats.org/drawingml/2006/main">
            <a:pPr algn="l">
              <a:buNone/>
              <a:defRPr sz="2400">
                <a:solidFill>
                  <a:srgbClr val="000000"/>
                </a:solidFill>
                <a:latin typeface="Helvetica Neue"/>
                <a:ea typeface="Helvetica Neue"/>
                <a:cs typeface="Helvetica Neue"/>
              </a:defRPr>
            </a:pPr>
            <a:r>
              <a:t>RP-GABA·18두</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넙치 염분스트레스</a:t>
            </a:r>
          </a:p>
          <a:p xmlns:a="http://schemas.openxmlformats.org/drawingml/2006/main">
            <a:pPr algn="l">
              <a:buNone/>
              <a:defRPr sz="2400">
                <a:solidFill>
                  <a:srgbClr val="000000"/>
                </a:solidFill>
                <a:latin typeface="Helvetica Neue"/>
                <a:ea typeface="Helvetica Neue"/>
                <a:cs typeface="Helvetica Neue"/>
              </a:defRPr>
            </a:pPr>
            <a:r>
              <a:t>8주·9수조</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비육 한우</a:t>
            </a:r>
          </a:p>
          <a:p xmlns:a="http://schemas.openxmlformats.org/drawingml/2006/main">
            <a:pPr algn="l">
              <a:buNone/>
              <a:defRPr sz="2400">
                <a:solidFill>
                  <a:srgbClr val="000000"/>
                </a:solidFill>
                <a:latin typeface="Helvetica Neue"/>
                <a:ea typeface="Helvetica Neue"/>
                <a:cs typeface="Helvetica Neue"/>
              </a:defRPr>
            </a:pPr>
            <a:r>
              <a:t>21두</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산유량 비유의</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초기 증체 유의</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성장 개선 비유의</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젖소: 일부 유성분 유의 · 한우: 도체지표 비유의 · 넙치: 성장·삼투조절 비유의</a:t>
            </a:r>
          </a:p>
          <a:p xmlns:a="http://schemas.openxmlformats.org/drawingml/2006/main">
            <a:pPr algn="l">
              <a:buNone/>
              <a:defRPr sz="1600">
                <a:solidFill>
                  <a:srgbClr val="000000"/>
                </a:solidFill>
                <a:latin typeface="Helvetica Neue"/>
                <a:ea typeface="Helvetica Neue"/>
                <a:cs typeface="Helvetica Neue"/>
              </a:defRPr>
            </a:pPr>
            <a:r>
              <a:t>※ RP-GABA=반추위 보호 GABA · 해당 제품을 사용한 고객 시험 필요</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09 | GABA CARE MIX EVIDENCE</a:t>
            </a:r>
          </a:p>
        </p:txBody>
      </p:sp>
    </p:spTree>
    <p:extLst>
      <p:ext uri="{BB962C8B-B14F-4D97-AF65-F5344CB8AC3E}">
        <p14:creationId xmlns:p14="http://schemas.microsoft.com/office/powerpoint/2010/main" val="136431717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10</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가바케어믹스의 첫 고객 시험은 한 축종·한 제형·한 경제효과에 집중한다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축종</a:t>
            </a:r>
          </a:p>
          <a:p xmlns:a="http://schemas.openxmlformats.org/drawingml/2006/main">
            <a:pPr algn="l">
              <a:buNone/>
              <a:defRPr sz="2400">
                <a:solidFill>
                  <a:srgbClr val="000000"/>
                </a:solidFill>
                <a:latin typeface="Helvetica Neue"/>
                <a:ea typeface="Helvetica Neue"/>
                <a:cs typeface="Helvetica Neue"/>
              </a:defRPr>
            </a:pPr>
            <a:r>
              <a:t>반추동물 1군</a:t>
            </a:r>
          </a:p>
          <a:p xmlns:a="http://schemas.openxmlformats.org/drawingml/2006/main">
            <a:pPr algn="l">
              <a:buNone/>
              <a:defRPr sz="2400">
                <a:solidFill>
                  <a:srgbClr val="000000"/>
                </a:solidFill>
                <a:latin typeface="Helvetica Neue"/>
                <a:ea typeface="Helvetica Neue"/>
                <a:cs typeface="Helvetica Neue"/>
              </a:defRPr>
            </a:pPr>
            <a:r>
              <a:t>열스트레스 상황</a:t>
            </a:r>
          </a:p>
          <a:p xmlns:a="http://schemas.openxmlformats.org/drawingml/2006/main">
            <a:pPr algn="l">
              <a:buNone/>
              <a:defRPr sz="2400">
                <a:solidFill>
                  <a:srgbClr val="000000"/>
                </a:solidFill>
                <a:latin typeface="Helvetica Neue"/>
                <a:ea typeface="Helvetica Neue"/>
                <a:cs typeface="Helvetica Neue"/>
              </a:defRPr>
            </a:pPr>
            <a:r>
              <a:t>고객군 1개</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제형</a:t>
            </a:r>
          </a:p>
          <a:p xmlns:a="http://schemas.openxmlformats.org/drawingml/2006/main">
            <a:pPr algn="l">
              <a:buNone/>
              <a:defRPr sz="2400">
                <a:solidFill>
                  <a:srgbClr val="000000"/>
                </a:solidFill>
                <a:latin typeface="Helvetica Neue"/>
                <a:ea typeface="Helvetica Neue"/>
                <a:cs typeface="Helvetica Neue"/>
              </a:defRPr>
            </a:pPr>
            <a:r>
              <a:t>RP-GABA 우선</a:t>
            </a:r>
          </a:p>
          <a:p xmlns:a="http://schemas.openxmlformats.org/drawingml/2006/main">
            <a:pPr algn="l">
              <a:buNone/>
              <a:defRPr sz="2400">
                <a:solidFill>
                  <a:srgbClr val="000000"/>
                </a:solidFill>
                <a:latin typeface="Helvetica Neue"/>
                <a:ea typeface="Helvetica Neue"/>
                <a:cs typeface="Helvetica Neue"/>
              </a:defRPr>
            </a:pPr>
            <a:r>
              <a:t>활성함량 고정</a:t>
            </a:r>
          </a:p>
          <a:p xmlns:a="http://schemas.openxmlformats.org/drawingml/2006/main">
            <a:pPr algn="l">
              <a:buNone/>
              <a:defRPr sz="2400">
                <a:solidFill>
                  <a:srgbClr val="000000"/>
                </a:solidFill>
                <a:latin typeface="Helvetica Neue"/>
                <a:ea typeface="Helvetica Neue"/>
                <a:cs typeface="Helvetica Neue"/>
              </a:defRPr>
            </a:pPr>
            <a:r>
              <a:t>로트별 안정성</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성과</a:t>
            </a:r>
          </a:p>
          <a:p xmlns:a="http://schemas.openxmlformats.org/drawingml/2006/main">
            <a:pPr algn="l">
              <a:buNone/>
              <a:defRPr sz="2400">
                <a:solidFill>
                  <a:srgbClr val="000000"/>
                </a:solidFill>
                <a:latin typeface="Helvetica Neue"/>
                <a:ea typeface="Helvetica Neue"/>
                <a:cs typeface="Helvetica Neue"/>
              </a:defRPr>
            </a:pPr>
            <a:r>
              <a:t>사료섭취·유성분 중</a:t>
            </a:r>
          </a:p>
          <a:p xmlns:a="http://schemas.openxmlformats.org/drawingml/2006/main">
            <a:pPr algn="l">
              <a:buNone/>
              <a:defRPr sz="2400">
                <a:solidFill>
                  <a:srgbClr val="000000"/>
                </a:solidFill>
                <a:latin typeface="Helvetica Neue"/>
                <a:ea typeface="Helvetica Neue"/>
                <a:cs typeface="Helvetica Neue"/>
              </a:defRPr>
            </a:pPr>
            <a:r>
              <a:t>1차 지표 1개</a:t>
            </a:r>
          </a:p>
          <a:p xmlns:a="http://schemas.openxmlformats.org/drawingml/2006/main">
            <a:pPr algn="l">
              <a:buNone/>
              <a:defRPr sz="2400">
                <a:solidFill>
                  <a:srgbClr val="000000"/>
                </a:solidFill>
                <a:latin typeface="Helvetica Neue"/>
                <a:ea typeface="Helvetica Neue"/>
                <a:cs typeface="Helvetica Neue"/>
              </a:defRPr>
            </a:pPr>
            <a:r>
              <a:t>사전 판정기준</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상업 조건</a:t>
            </a:r>
          </a:p>
          <a:p xmlns:a="http://schemas.openxmlformats.org/drawingml/2006/main">
            <a:pPr algn="l">
              <a:buNone/>
              <a:defRPr sz="2400">
                <a:solidFill>
                  <a:srgbClr val="000000"/>
                </a:solidFill>
                <a:latin typeface="Helvetica Neue"/>
                <a:ea typeface="Helvetica Neue"/>
                <a:cs typeface="Helvetica Neue"/>
              </a:defRPr>
            </a:pPr>
            <a:r>
              <a:t>유료 고객 시험</a:t>
            </a:r>
          </a:p>
          <a:p xmlns:a="http://schemas.openxmlformats.org/drawingml/2006/main">
            <a:pPr algn="l">
              <a:buNone/>
              <a:defRPr sz="2400">
                <a:solidFill>
                  <a:srgbClr val="000000"/>
                </a:solidFill>
                <a:latin typeface="Helvetica Neue"/>
                <a:ea typeface="Helvetica Neue"/>
                <a:cs typeface="Helvetica Neue"/>
              </a:defRPr>
            </a:pPr>
            <a:r>
              <a:t>가격·중단 기준</a:t>
            </a:r>
          </a:p>
          <a:p xmlns:a="http://schemas.openxmlformats.org/drawingml/2006/main">
            <a:pPr algn="l">
              <a:buNone/>
              <a:defRPr sz="2400">
                <a:solidFill>
                  <a:srgbClr val="000000"/>
                </a:solidFill>
                <a:latin typeface="Helvetica Neue"/>
                <a:ea typeface="Helvetica Neue"/>
                <a:cs typeface="Helvetica Neue"/>
              </a:defRPr>
            </a:pPr>
            <a:r>
              <a:t>반복 주문 조건</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10 | GABA CARE MIX POV</a:t>
            </a:r>
          </a:p>
        </p:txBody>
      </p:sp>
    </p:spTree>
    <p:extLst>
      <p:ext uri="{BB962C8B-B14F-4D97-AF65-F5344CB8AC3E}">
        <p14:creationId xmlns:p14="http://schemas.microsoft.com/office/powerpoint/2010/main" val="1604558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1D34A078-3FBA-46F8-85A2-00826C88368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C93A012E-BCFE-4293-BD7E-DC4D2D17E54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9F28272-6F11-465D-9090-5F1883B816E6}"/>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469D7F27-099D-43CA-8CFF-C4952289DBC4}"/>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11</a:t>
            </a:r>
          </a:p>
        </p:txBody>
      </p:sp>
      <p:sp>
        <p:nvSpPr>
          <p:cNvPr id="5" name="Title-2-5">
            <a:extLst xmlns:a="http://schemas.openxmlformats.org/drawingml/2006/main">
              <a:ext uri="{FF2B5EF4-FFF2-40B4-BE49-F238E27FC236}">
                <a16:creationId xmlns:a16="http://schemas.microsoft.com/office/drawing/2014/main" id="{1C1F8AD9-AE8E-4562-AC37-26708243BFC1}"/>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가바크루드 공헌이익 8,760원/kg은 실제 견적 확인이 필요하다</a:t>
            </a:r>
          </a:p>
        </p:txBody>
      </p:sp>
      <p:sp>
        <p:nvSpPr>
          <p:cNvPr id="6" name="Content-Placeholder-9-6">
            <a:extLst xmlns:a="http://schemas.openxmlformats.org/drawingml/2006/main">
              <a:ext uri="{FF2B5EF4-FFF2-40B4-BE49-F238E27FC236}">
                <a16:creationId xmlns:a16="http://schemas.microsoft.com/office/drawing/2014/main" id="{1D1250B4-54F3-4782-A4B2-EE1F200D3ABD}"/>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목표 판매가</a:t>
            </a:r>
          </a:p>
          <a:p xmlns:a="http://schemas.openxmlformats.org/drawingml/2006/main">
            <a:pPr algn="l">
              <a:buNone/>
              <a:defRPr sz="2400">
                <a:solidFill>
                  <a:srgbClr val="000000"/>
                </a:solidFill>
                <a:latin typeface="Helvetica Neue"/>
                <a:ea typeface="Helvetica Neue"/>
                <a:cs typeface="Helvetica Neue"/>
              </a:defRPr>
            </a:pPr>
            <a:r>
              <a:t>KRW/kg</a:t>
            </a:r>
          </a:p>
        </p:txBody>
      </p:sp>
      <p:sp>
        <p:nvSpPr>
          <p:cNvPr id="7" name="Content-Placeholder-10-7">
            <a:extLst xmlns:a="http://schemas.openxmlformats.org/drawingml/2006/main">
              <a:ext uri="{FF2B5EF4-FFF2-40B4-BE49-F238E27FC236}">
                <a16:creationId xmlns:a16="http://schemas.microsoft.com/office/drawing/2014/main" id="{34AFEE71-7610-48B7-8F8F-99A57BE66387}"/>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단위당 공헌이익</a:t>
            </a:r>
          </a:p>
          <a:p xmlns:a="http://schemas.openxmlformats.org/drawingml/2006/main">
            <a:pPr algn="l">
              <a:buNone/>
              <a:defRPr sz="2400">
                <a:solidFill>
                  <a:srgbClr val="000000"/>
                </a:solidFill>
                <a:latin typeface="Helvetica Neue"/>
                <a:ea typeface="Helvetica Neue"/>
                <a:cs typeface="Helvetica Neue"/>
              </a:defRPr>
            </a:pPr>
            <a:r>
              <a:t>KRW/kg</a:t>
            </a:r>
          </a:p>
        </p:txBody>
      </p:sp>
      <p:sp>
        <p:nvSpPr>
          <p:cNvPr id="8" name="Content-Placeholder-11-8">
            <a:extLst xmlns:a="http://schemas.openxmlformats.org/drawingml/2006/main">
              <a:ext uri="{FF2B5EF4-FFF2-40B4-BE49-F238E27FC236}">
                <a16:creationId xmlns:a16="http://schemas.microsoft.com/office/drawing/2014/main" id="{5E11AEC0-D14C-486A-85E7-0A0C6F0810EC}"/>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예상 원가</a:t>
            </a:r>
          </a:p>
          <a:p xmlns:a="http://schemas.openxmlformats.org/drawingml/2006/main">
            <a:pPr algn="l">
              <a:buNone/>
              <a:defRPr sz="2400">
                <a:solidFill>
                  <a:srgbClr val="000000"/>
                </a:solidFill>
                <a:latin typeface="Helvetica Neue"/>
                <a:ea typeface="Helvetica Neue"/>
                <a:cs typeface="Helvetica Neue"/>
              </a:defRPr>
            </a:pPr>
            <a:r>
              <a:t>KRW/kg</a:t>
            </a:r>
          </a:p>
        </p:txBody>
      </p:sp>
      <p:sp>
        <p:nvSpPr>
          <p:cNvPr id="9" name="Content-Placeholder-9-9">
            <a:extLst xmlns:a="http://schemas.openxmlformats.org/drawingml/2006/main">
              <a:ext uri="{FF2B5EF4-FFF2-40B4-BE49-F238E27FC236}">
                <a16:creationId xmlns:a16="http://schemas.microsoft.com/office/drawing/2014/main" id="{A2AE840C-7F28-496B-A49B-159987874C50}"/>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18,000</a:t>
            </a:r>
          </a:p>
        </p:txBody>
      </p:sp>
      <p:sp>
        <p:nvSpPr>
          <p:cNvPr id="10" name="Content-Placeholder-9-10">
            <a:extLst xmlns:a="http://schemas.openxmlformats.org/drawingml/2006/main">
              <a:ext uri="{FF2B5EF4-FFF2-40B4-BE49-F238E27FC236}">
                <a16:creationId xmlns:a16="http://schemas.microsoft.com/office/drawing/2014/main" id="{AA702D10-C695-463A-A3C0-DBF5E496DB6B}"/>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9,240</a:t>
            </a:r>
          </a:p>
        </p:txBody>
      </p:sp>
      <p:sp>
        <p:nvSpPr>
          <p:cNvPr id="11" name="Content-Placeholder-9-11">
            <a:extLst xmlns:a="http://schemas.openxmlformats.org/drawingml/2006/main">
              <a:ext uri="{FF2B5EF4-FFF2-40B4-BE49-F238E27FC236}">
                <a16:creationId xmlns:a16="http://schemas.microsoft.com/office/drawing/2014/main" id="{EAF87244-54F7-4E88-B704-D25904851B8C}"/>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+8,760</a:t>
            </a:r>
          </a:p>
        </p:txBody>
      </p:sp>
      <p:sp>
        <p:nvSpPr>
          <p:cNvPr id="12" name="Content-Placeholder-15-12">
            <a:extLst xmlns:a="http://schemas.openxmlformats.org/drawingml/2006/main">
              <a:ext uri="{FF2B5EF4-FFF2-40B4-BE49-F238E27FC236}">
                <a16:creationId xmlns:a16="http://schemas.microsoft.com/office/drawing/2014/main" id="{8E8A1894-A69C-460E-A838-F3D9255760E7}"/>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18,000−9,240=8,760원/kg · 공헌율 48.7%</a:t>
            </a:r>
          </a:p>
          <a:p xmlns:a="http://schemas.openxmlformats.org/drawingml/2006/main">
            <a:pPr algn="l">
              <a:buNone/>
              <a:defRPr sz="1600">
                <a:solidFill>
                  <a:srgbClr val="000000"/>
                </a:solidFill>
                <a:latin typeface="Helvetica Neue"/>
                <a:ea typeface="Helvetica Neue"/>
                <a:cs typeface="Helvetica Neue"/>
              </a:defRPr>
            </a:pPr>
            <a:r>
              <a:t>※ 9,240원/kg은 원본 가정이며 세부 원가는 아직 확인되지 않음</a:t>
            </a:r>
          </a:p>
        </p:txBody>
      </p:sp>
      <p:sp>
        <p:nvSpPr>
          <p:cNvPr id="13" name="brand-rule-11">
            <a:extLst xmlns:a="http://schemas.openxmlformats.org/drawingml/2006/main">
              <a:ext uri="{FF2B5EF4-FFF2-40B4-BE49-F238E27FC236}">
                <a16:creationId xmlns:a16="http://schemas.microsoft.com/office/drawing/2014/main" id="{FBF57E6B-569F-4078-95A6-F778D02C3ED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1">
            <a:extLst xmlns:a="http://schemas.openxmlformats.org/drawingml/2006/main">
              <a:ext uri="{FF2B5EF4-FFF2-40B4-BE49-F238E27FC236}">
                <a16:creationId xmlns:a16="http://schemas.microsoft.com/office/drawing/2014/main" id="{468E5B88-2580-448F-842A-814D5408AF5E}"/>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11 | GABA CRUDE ECONOMICS</a:t>
            </a:r>
          </a:p>
        </p:txBody>
      </p:sp>
    </p:spTree>
    <p:extLst>
      <p:ext uri="{BB962C8B-B14F-4D97-AF65-F5344CB8AC3E}">
        <p14:creationId xmlns:p14="http://schemas.microsoft.com/office/powerpoint/2010/main" val="162471053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1D34A078-3FBA-46F8-85A2-00826C88368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C93A012E-BCFE-4293-BD7E-DC4D2D17E54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9F28272-6F11-465D-9090-5F1883B816E6}"/>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469D7F27-099D-43CA-8CFF-C4952289DBC4}"/>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12</a:t>
            </a:r>
          </a:p>
        </p:txBody>
      </p:sp>
      <p:sp>
        <p:nvSpPr>
          <p:cNvPr id="5" name="Title-2-5">
            <a:extLst xmlns:a="http://schemas.openxmlformats.org/drawingml/2006/main">
              <a:ext uri="{FF2B5EF4-FFF2-40B4-BE49-F238E27FC236}">
                <a16:creationId xmlns:a16="http://schemas.microsoft.com/office/drawing/2014/main" id="{1C1F8AD9-AE8E-4562-AC37-26708243BFC1}"/>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가바케어믹스의 사료 1톤당 4,149원 공헌이익도 투입량과 직접비 확인이 필요하다</a:t>
            </a:r>
          </a:p>
        </p:txBody>
      </p:sp>
      <p:sp>
        <p:nvSpPr>
          <p:cNvPr id="6" name="Content-Placeholder-9-6">
            <a:extLst xmlns:a="http://schemas.openxmlformats.org/drawingml/2006/main">
              <a:ext uri="{FF2B5EF4-FFF2-40B4-BE49-F238E27FC236}">
                <a16:creationId xmlns:a16="http://schemas.microsoft.com/office/drawing/2014/main" id="{1D1250B4-54F3-4782-A4B2-EE1F200D3ABD}"/>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판매가</a:t>
            </a:r>
          </a:p>
          <a:p xmlns:a="http://schemas.openxmlformats.org/drawingml/2006/main">
            <a:pPr algn="l">
              <a:buNone/>
              <a:defRPr sz="2400">
                <a:solidFill>
                  <a:srgbClr val="000000"/>
                </a:solidFill>
                <a:latin typeface="Helvetica Neue"/>
                <a:ea typeface="Helvetica Neue"/>
                <a:cs typeface="Helvetica Neue"/>
              </a:defRPr>
            </a:pPr>
            <a:r>
              <a:t>KRW/t</a:t>
            </a:r>
          </a:p>
        </p:txBody>
      </p:sp>
      <p:sp>
        <p:nvSpPr>
          <p:cNvPr id="7" name="Content-Placeholder-10-7">
            <a:extLst xmlns:a="http://schemas.openxmlformats.org/drawingml/2006/main">
              <a:ext uri="{FF2B5EF4-FFF2-40B4-BE49-F238E27FC236}">
                <a16:creationId xmlns:a16="http://schemas.microsoft.com/office/drawing/2014/main" id="{34AFEE71-7610-48B7-8F8F-99A57BE66387}"/>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공헌이익</a:t>
            </a:r>
          </a:p>
          <a:p xmlns:a="http://schemas.openxmlformats.org/drawingml/2006/main">
            <a:pPr algn="l">
              <a:buNone/>
              <a:defRPr sz="2400">
                <a:solidFill>
                  <a:srgbClr val="000000"/>
                </a:solidFill>
                <a:latin typeface="Helvetica Neue"/>
                <a:ea typeface="Helvetica Neue"/>
                <a:cs typeface="Helvetica Neue"/>
              </a:defRPr>
            </a:pPr>
            <a:r>
              <a:t>KRW/t</a:t>
            </a:r>
          </a:p>
        </p:txBody>
      </p:sp>
      <p:sp>
        <p:nvSpPr>
          <p:cNvPr id="8" name="Content-Placeholder-11-8">
            <a:extLst xmlns:a="http://schemas.openxmlformats.org/drawingml/2006/main">
              <a:ext uri="{FF2B5EF4-FFF2-40B4-BE49-F238E27FC236}">
                <a16:creationId xmlns:a16="http://schemas.microsoft.com/office/drawing/2014/main" id="{5E11AEC0-D14C-486A-85E7-0A0C6F0810EC}"/>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직접비</a:t>
            </a:r>
          </a:p>
          <a:p xmlns:a="http://schemas.openxmlformats.org/drawingml/2006/main">
            <a:pPr algn="l">
              <a:buNone/>
              <a:defRPr sz="2400">
                <a:solidFill>
                  <a:srgbClr val="000000"/>
                </a:solidFill>
                <a:latin typeface="Helvetica Neue"/>
                <a:ea typeface="Helvetica Neue"/>
                <a:cs typeface="Helvetica Neue"/>
              </a:defRPr>
            </a:pPr>
            <a:r>
              <a:t>KRW/t</a:t>
            </a:r>
          </a:p>
        </p:txBody>
      </p:sp>
      <p:sp>
        <p:nvSpPr>
          <p:cNvPr id="9" name="Content-Placeholder-9-9">
            <a:extLst xmlns:a="http://schemas.openxmlformats.org/drawingml/2006/main">
              <a:ext uri="{FF2B5EF4-FFF2-40B4-BE49-F238E27FC236}">
                <a16:creationId xmlns:a16="http://schemas.microsoft.com/office/drawing/2014/main" id="{A2AE840C-7F28-496B-A49B-159987874C50}"/>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6,000</a:t>
            </a:r>
          </a:p>
        </p:txBody>
      </p:sp>
      <p:sp>
        <p:nvSpPr>
          <p:cNvPr id="10" name="Content-Placeholder-9-10">
            <a:extLst xmlns:a="http://schemas.openxmlformats.org/drawingml/2006/main">
              <a:ext uri="{FF2B5EF4-FFF2-40B4-BE49-F238E27FC236}">
                <a16:creationId xmlns:a16="http://schemas.microsoft.com/office/drawing/2014/main" id="{AA702D10-C695-463A-A3C0-DBF5E496DB6B}"/>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1,851</a:t>
            </a:r>
          </a:p>
        </p:txBody>
      </p:sp>
      <p:sp>
        <p:nvSpPr>
          <p:cNvPr id="11" name="Content-Placeholder-9-11">
            <a:extLst xmlns:a="http://schemas.openxmlformats.org/drawingml/2006/main">
              <a:ext uri="{FF2B5EF4-FFF2-40B4-BE49-F238E27FC236}">
                <a16:creationId xmlns:a16="http://schemas.microsoft.com/office/drawing/2014/main" id="{EAF87244-54F7-4E88-B704-D25904851B8C}"/>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+4,149</a:t>
            </a:r>
          </a:p>
        </p:txBody>
      </p:sp>
      <p:sp>
        <p:nvSpPr>
          <p:cNvPr id="12" name="Content-Placeholder-15-12">
            <a:extLst xmlns:a="http://schemas.openxmlformats.org/drawingml/2006/main">
              <a:ext uri="{FF2B5EF4-FFF2-40B4-BE49-F238E27FC236}">
                <a16:creationId xmlns:a16="http://schemas.microsoft.com/office/drawing/2014/main" id="{8E8A1894-A69C-460E-A838-F3D9255760E7}"/>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제품비 351 + 현장·채널비 1,500 = 직접비 1,851원</a:t>
            </a:r>
          </a:p>
          <a:p xmlns:a="http://schemas.openxmlformats.org/drawingml/2006/main">
            <a:pPr algn="l">
              <a:buNone/>
              <a:defRPr sz="1600">
                <a:solidFill>
                  <a:srgbClr val="000000"/>
                </a:solidFill>
                <a:latin typeface="Helvetica Neue"/>
                <a:ea typeface="Helvetica Neue"/>
                <a:cs typeface="Helvetica Neue"/>
              </a:defRPr>
            </a:pPr>
            <a:r>
              <a:t>※ 75g/사료t과 4,681.8원/kg은 원본 가정</a:t>
            </a:r>
          </a:p>
        </p:txBody>
      </p:sp>
      <p:sp>
        <p:nvSpPr>
          <p:cNvPr id="13" name="brand-rule-11">
            <a:extLst xmlns:a="http://schemas.openxmlformats.org/drawingml/2006/main">
              <a:ext uri="{FF2B5EF4-FFF2-40B4-BE49-F238E27FC236}">
                <a16:creationId xmlns:a16="http://schemas.microsoft.com/office/drawing/2014/main" id="{FBF57E6B-569F-4078-95A6-F778D02C3ED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1">
            <a:extLst xmlns:a="http://schemas.openxmlformats.org/drawingml/2006/main">
              <a:ext uri="{FF2B5EF4-FFF2-40B4-BE49-F238E27FC236}">
                <a16:creationId xmlns:a16="http://schemas.microsoft.com/office/drawing/2014/main" id="{468E5B88-2580-448F-842A-814D5408AF5E}"/>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12 | GABA CARE MIX ECONOMICS</a:t>
            </a:r>
          </a:p>
        </p:txBody>
      </p:sp>
    </p:spTree>
    <p:extLst>
      <p:ext uri="{BB962C8B-B14F-4D97-AF65-F5344CB8AC3E}">
        <p14:creationId xmlns:p14="http://schemas.microsoft.com/office/powerpoint/2010/main" val="162471053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13</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고객 가치 18,000원/사료t은 유료 비교시험으로 확인한다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손실회피 가정</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고객 순가치</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프로그램 가격</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18,000</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6,000</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+12,000</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18,000−6,000=12,000원 · B/C=3.0배</a:t>
            </a:r>
          </a:p>
          <a:p xmlns:a="http://schemas.openxmlformats.org/drawingml/2006/main">
            <a:pPr algn="l">
              <a:buNone/>
              <a:defRPr sz="1600">
                <a:solidFill>
                  <a:srgbClr val="000000"/>
                </a:solidFill>
                <a:latin typeface="Helvetica Neue"/>
                <a:ea typeface="Helvetica Neue"/>
                <a:cs typeface="Helvetica Neue"/>
              </a:defRPr>
            </a:pPr>
            <a:r>
              <a:t>※ B/C=편익/비용 비율 · 현재는 가설이며 유료 비교시험에서 확인</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13 | CUSTOMER VALUE HYPOTHESIS</a:t>
            </a:r>
          </a:p>
        </p:txBody>
      </p:sp>
    </p:spTree>
    <p:extLst>
      <p:ext uri="{BB962C8B-B14F-4D97-AF65-F5344CB8AC3E}">
        <p14:creationId xmlns:p14="http://schemas.microsoft.com/office/powerpoint/2010/main" val="136431717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14</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두 사업의 반복 주문 가정대로라면 매출 6.60억원, 공헌이익 3.83억원이다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가바크루드</a:t>
            </a:r>
          </a:p>
          <a:p xmlns:a="http://schemas.openxmlformats.org/drawingml/2006/main">
            <a:pPr algn="l">
              <a:buNone/>
              <a:defRPr sz="2400">
                <a:solidFill>
                  <a:srgbClr val="000000"/>
                </a:solidFill>
                <a:latin typeface="Helvetica Neue"/>
                <a:ea typeface="Helvetica Neue"/>
                <a:cs typeface="Helvetica Neue"/>
              </a:defRPr>
            </a:pPr>
            <a:r>
              <a:t>공헌이익</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합계</a:t>
            </a:r>
          </a:p>
          <a:p xmlns:a="http://schemas.openxmlformats.org/drawingml/2006/main">
            <a:pPr algn="l">
              <a:buNone/>
              <a:defRPr sz="2400">
                <a:solidFill>
                  <a:srgbClr val="000000"/>
                </a:solidFill>
                <a:latin typeface="Helvetica Neue"/>
                <a:ea typeface="Helvetica Neue"/>
                <a:cs typeface="Helvetica Neue"/>
              </a:defRPr>
            </a:pPr>
            <a:r>
              <a:t>공헌이익</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가바케어믹스</a:t>
            </a:r>
          </a:p>
          <a:p xmlns:a="http://schemas.openxmlformats.org/drawingml/2006/main">
            <a:pPr algn="l">
              <a:buNone/>
              <a:defRPr sz="2400">
                <a:solidFill>
                  <a:srgbClr val="000000"/>
                </a:solidFill>
                <a:latin typeface="Helvetica Neue"/>
                <a:ea typeface="Helvetica Neue"/>
                <a:cs typeface="Helvetica Neue"/>
              </a:defRPr>
            </a:pPr>
            <a:r>
              <a:t>공헌이익</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1.75억원</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2.07억원</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3.83억원</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가바크루드 매출 3.60억 + 가바케어믹스 매출 3.00억</a:t>
            </a:r>
          </a:p>
          <a:p xmlns:a="http://schemas.openxmlformats.org/drawingml/2006/main">
            <a:pPr algn="l">
              <a:buNone/>
              <a:defRPr sz="1600">
                <a:solidFill>
                  <a:srgbClr val="000000"/>
                </a:solidFill>
                <a:latin typeface="Helvetica Neue"/>
                <a:ea typeface="Helvetica Neue"/>
                <a:cs typeface="Helvetica Neue"/>
              </a:defRPr>
            </a:pPr>
            <a:r>
              <a:t>※ 실제 PO가 아닌 반복 주문 가정 시나리오</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14 | REPEAT SCENARIO</a:t>
            </a:r>
          </a:p>
        </p:txBody>
      </p:sp>
    </p:spTree>
    <p:extLst>
      <p:ext uri="{BB962C8B-B14F-4D97-AF65-F5344CB8AC3E}">
        <p14:creationId xmlns:p14="http://schemas.microsoft.com/office/powerpoint/2010/main" val="136431717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3" name="Slide-Number-Placeholder-3-2">
            <a:extLst xmlns:a="http://schemas.openxmlformats.org/drawingml/2006/main">
              <a:ext uri="{FF2B5EF4-FFF2-40B4-BE49-F238E27FC236}">
                <a16:creationId xmlns:a16="http://schemas.microsoft.com/office/drawing/2014/main" id="{673F532A-4272-4AD1-863A-38B22D8FC8CB}"/>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15</a:t>
            </a:r>
          </a:p>
        </p:txBody>
      </p:sp>
      <p:sp>
        <p:nvSpPr>
          <p:cNvPr id="2" name="Title-10-3">
            <a:extLst xmlns:a="http://schemas.openxmlformats.org/drawingml/2006/main">
              <a:ext uri="{FF2B5EF4-FFF2-40B4-BE49-F238E27FC236}">
                <a16:creationId xmlns:a16="http://schemas.microsoft.com/office/drawing/2014/main" id="{C8F0B7E0-788B-4632-AFF8-75CBD8CA15A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두 생산 파트너의 배양액 CAPA는 사용자 제공 자료 기준 월 220톤이다</a:t>
            </a:r>
          </a:p>
        </p:txBody>
      </p:sp>
      <p:sp>
        <p:nvSpPr>
          <p:cNvPr id="3" name="Rounded-Rectangle-36-4">
            <a:extLst xmlns:a="http://schemas.openxmlformats.org/drawingml/2006/main">
              <a:ext uri="{FF2B5EF4-FFF2-40B4-BE49-F238E27FC236}">
                <a16:creationId xmlns:a16="http://schemas.microsoft.com/office/drawing/2014/main" id="{F7A1D57F-EF2D-418C-9C73-2303C9114CC6}"/>
              </a:ext>
            </a:extLst>
          </p:cNvPr>
          <p:cNvSpPr>
            <a:spLocks xmlns:a="http://schemas.openxmlformats.org/drawingml/2006/main" noGrp="1"/>
          </p:cNvSpPr>
          <p:nvPr/>
        </p:nvSpPr>
        <p:spPr>
          <a:xfrm xmlns:a="http://schemas.openxmlformats.org/drawingml/2006/main">
            <a:off x="6272022" y="3360039"/>
            <a:ext cx="2581942" cy="2656523"/>
          </a:xfrm>
          <a:prstGeom xmlns:a="http://schemas.openxmlformats.org/drawingml/2006/main" prst="roundRect">
            <a:avLst>
              <a:gd name="adj" fmla="val 2951"/>
            </a:avLst>
          </a:prstGeom>
          <a:solidFill xmlns:a="http://schemas.openxmlformats.org/drawingml/2006/main">
            <a:srgbClr val="F2F2F2"/>
          </a:solidFill>
        </p:spPr>
      </p:sp>
      <p:sp>
        <p:nvSpPr>
          <p:cNvPr id="4" name="Content-Placeholder-9-5">
            <a:extLst xmlns:a="http://schemas.openxmlformats.org/drawingml/2006/main">
              <a:ext uri="{FF2B5EF4-FFF2-40B4-BE49-F238E27FC236}">
                <a16:creationId xmlns:a16="http://schemas.microsoft.com/office/drawing/2014/main" id="{409F2D52-88D4-45A2-A354-BBC0108FB8A1}"/>
              </a:ext>
            </a:extLst>
          </p:cNvPr>
          <p:cNvSpPr>
            <a:spLocks xmlns:a="http://schemas.openxmlformats.org/drawingml/2006/main" noGrp="1"/>
          </p:cNvSpPr>
          <p:nvPr/>
        </p:nvSpPr>
        <p:spPr>
          <a:xfrm xmlns:a="http://schemas.openxmlformats.org/drawingml/2006/main">
            <a:off x="6509385" y="3579971"/>
            <a:ext cx="2133314" cy="1155859"/>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월 20톤</a:t>
            </a:r>
          </a:p>
        </p:txBody>
      </p:sp>
      <p:sp>
        <p:nvSpPr>
          <p:cNvPr id="5" name="Content-Placeholder-15-6">
            <a:extLst xmlns:a="http://schemas.openxmlformats.org/drawingml/2006/main">
              <a:ext uri="{FF2B5EF4-FFF2-40B4-BE49-F238E27FC236}">
                <a16:creationId xmlns:a16="http://schemas.microsoft.com/office/drawing/2014/main" id="{9714F1A2-F61B-4DC0-AAB9-3FCBF3425A93}"/>
              </a:ext>
            </a:extLst>
          </p:cNvPr>
          <p:cNvSpPr>
            <a:spLocks xmlns:a="http://schemas.openxmlformats.org/drawingml/2006/main" noGrp="1"/>
          </p:cNvSpPr>
          <p:nvPr/>
        </p:nvSpPr>
        <p:spPr>
          <a:xfrm xmlns:a="http://schemas.openxmlformats.org/drawingml/2006/main">
            <a:off x="6575965" y="5068253"/>
            <a:ext cx="2066735" cy="61598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비전바이오켐</a:t>
            </a:r>
          </a:p>
          <a:p xmlns:a="http://schemas.openxmlformats.org/drawingml/2006/main">
            <a:pPr algn="l">
              <a:buNone/>
              <a:defRPr sz="2400">
                <a:solidFill>
                  <a:srgbClr val="000000"/>
                </a:solidFill>
                <a:latin typeface="Helvetica Neue"/>
                <a:ea typeface="Helvetica Neue"/>
                <a:cs typeface="Helvetica Neue"/>
              </a:defRPr>
            </a:pPr>
            <a:r>
              <a:t>배양액 CAPA</a:t>
            </a:r>
          </a:p>
        </p:txBody>
      </p:sp>
      <p:sp>
        <p:nvSpPr>
          <p:cNvPr id="6" name="Rounded-Rectangle-39-7">
            <a:extLst xmlns:a="http://schemas.openxmlformats.org/drawingml/2006/main">
              <a:ext uri="{FF2B5EF4-FFF2-40B4-BE49-F238E27FC236}">
                <a16:creationId xmlns:a16="http://schemas.microsoft.com/office/drawing/2014/main" id="{C0047798-46C2-406A-9B7B-A4732250E1E5}"/>
              </a:ext>
            </a:extLst>
          </p:cNvPr>
          <p:cNvSpPr>
            <a:spLocks xmlns:a="http://schemas.openxmlformats.org/drawingml/2006/main" noGrp="1"/>
          </p:cNvSpPr>
          <p:nvPr/>
        </p:nvSpPr>
        <p:spPr>
          <a:xfrm xmlns:a="http://schemas.openxmlformats.org/drawingml/2006/main">
            <a:off x="9224201" y="3360039"/>
            <a:ext cx="2581942" cy="2656523"/>
          </a:xfrm>
          <a:prstGeom xmlns:a="http://schemas.openxmlformats.org/drawingml/2006/main" prst="roundRect">
            <a:avLst>
              <a:gd name="adj" fmla="val 2951"/>
            </a:avLst>
          </a:prstGeom>
          <a:solidFill xmlns:a="http://schemas.openxmlformats.org/drawingml/2006/main">
            <a:srgbClr val="F2F2F2"/>
          </a:solidFill>
        </p:spPr>
      </p:sp>
      <p:sp>
        <p:nvSpPr>
          <p:cNvPr id="7" name="Content-Placeholder-9-8">
            <a:extLst xmlns:a="http://schemas.openxmlformats.org/drawingml/2006/main">
              <a:ext uri="{FF2B5EF4-FFF2-40B4-BE49-F238E27FC236}">
                <a16:creationId xmlns:a16="http://schemas.microsoft.com/office/drawing/2014/main" id="{F316EECB-DF1E-45BE-8BBA-588C6D78DC63}"/>
              </a:ext>
            </a:extLst>
          </p:cNvPr>
          <p:cNvSpPr>
            <a:spLocks xmlns:a="http://schemas.openxmlformats.org/drawingml/2006/main" noGrp="1"/>
          </p:cNvSpPr>
          <p:nvPr/>
        </p:nvSpPr>
        <p:spPr>
          <a:xfrm xmlns:a="http://schemas.openxmlformats.org/drawingml/2006/main">
            <a:off x="9461564" y="3579971"/>
            <a:ext cx="2133314" cy="1155859"/>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월 200톤</a:t>
            </a:r>
          </a:p>
        </p:txBody>
      </p:sp>
      <p:sp>
        <p:nvSpPr>
          <p:cNvPr id="8" name="Content-Placeholder-15-9">
            <a:extLst xmlns:a="http://schemas.openxmlformats.org/drawingml/2006/main">
              <a:ext uri="{FF2B5EF4-FFF2-40B4-BE49-F238E27FC236}">
                <a16:creationId xmlns:a16="http://schemas.microsoft.com/office/drawing/2014/main" id="{2DF94C34-D4F4-4039-8AF7-F69409C5A8CF}"/>
              </a:ext>
            </a:extLst>
          </p:cNvPr>
          <p:cNvSpPr>
            <a:spLocks xmlns:a="http://schemas.openxmlformats.org/drawingml/2006/main" noGrp="1"/>
          </p:cNvSpPr>
          <p:nvPr/>
        </p:nvSpPr>
        <p:spPr>
          <a:xfrm xmlns:a="http://schemas.openxmlformats.org/drawingml/2006/main">
            <a:off x="9528143" y="5068253"/>
            <a:ext cx="2066735" cy="61598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지에프퍼멘텍</a:t>
            </a:r>
          </a:p>
          <a:p xmlns:a="http://schemas.openxmlformats.org/drawingml/2006/main">
            <a:pPr algn="l">
              <a:buNone/>
              <a:defRPr sz="2400">
                <a:solidFill>
                  <a:srgbClr val="000000"/>
                </a:solidFill>
                <a:latin typeface="Helvetica Neue"/>
                <a:ea typeface="Helvetica Neue"/>
                <a:cs typeface="Helvetica Neue"/>
              </a:defRPr>
            </a:pPr>
            <a:r>
              <a:t>배양액 CAPA</a:t>
            </a:r>
          </a:p>
        </p:txBody>
      </p:sp>
      <p:sp>
        <p:nvSpPr>
          <p:cNvPr id="9" name="Content-Placeholder-2-10">
            <a:extLst xmlns:a="http://schemas.openxmlformats.org/drawingml/2006/main">
              <a:ext uri="{FF2B5EF4-FFF2-40B4-BE49-F238E27FC236}">
                <a16:creationId xmlns:a16="http://schemas.microsoft.com/office/drawing/2014/main" id="{6B9CA33A-9DE8-4E60-84D8-67F414473DED}"/>
              </a:ext>
            </a:extLst>
          </p:cNvPr>
          <p:cNvSpPr>
            <a:spLocks xmlns:a="http://schemas.openxmlformats.org/drawingml/2006/main" noGrp="1"/>
          </p:cNvSpPr>
          <p:nvPr/>
        </p:nvSpPr>
        <p:spPr>
          <a:xfrm xmlns:a="http://schemas.openxmlformats.org/drawingml/2006/main">
            <a:off x="6261068" y="1955578"/>
            <a:ext cx="5539835" cy="9906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사용자 제공 자료 합계 월 220톤</a:t>
            </a:r>
          </a:p>
          <a:p xmlns:a="http://schemas.openxmlformats.org/drawingml/2006/main">
            <a:pPr algn="l">
              <a:buNone/>
              <a:defRPr sz="2400">
                <a:solidFill>
                  <a:srgbClr val="000000"/>
                </a:solidFill>
                <a:latin typeface="Helvetica Neue"/>
                <a:ea typeface="Helvetica Neue"/>
                <a:cs typeface="Helvetica Neue"/>
              </a:defRPr>
            </a:pPr>
            <a:r>
              <a:t>※ 계약·실가동·품질체계 확인 후 공급계획에 반영</a:t>
            </a:r>
          </a:p>
        </p:txBody>
      </p:sp>
      <p:graphicFrame>
        <p:nvGraphicFramePr>
          <p:cNvPr id="24" name="Chart"/>
          <p:cNvGraphicFramePr/>
          <p:nvPr/>
        </p:nvGraphicFramePr>
        <p:xfrm>
          <a:off xmlns:a="http://schemas.openxmlformats.org/drawingml/2006/main" x="385858" y="1254728"/>
          <a:ext xmlns:a="http://schemas.openxmlformats.org/drawingml/2006/main" cx="5534216" cy="5024533"/>
        </p:xfrm>
        <a:graphic xmlns:a="http://schemas.openxmlformats.org/drawingml/2006/main">
          <a:graphicData uri="http://schemas.openxmlformats.org/drawingml/2006/chart">
            <c:chart xmlns:r="http://schemas.openxmlformats.org/officeDocument/2006/relationships" xmlns:c="http://schemas.openxmlformats.org/drawingml/2006/chart" r:id="R151c71a12c7c4cea"/>
          </a:graphicData>
        </a:graphic>
      </p:graphicFrame>
      <p:sp>
        <p:nvSpPr>
          <p:cNvPr id="11" name="brand-rule-13">
            <a:extLst xmlns:a="http://schemas.openxmlformats.org/drawingml/2006/main">
              <a:ext uri="{FF2B5EF4-FFF2-40B4-BE49-F238E27FC236}">
                <a16:creationId xmlns:a16="http://schemas.microsoft.com/office/drawing/2014/main" id="{0BD47CD5-4599-4BFF-B057-7CB71052F222}"/>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2" name="brand-footer-13">
            <a:extLst xmlns:a="http://schemas.openxmlformats.org/drawingml/2006/main">
              <a:ext uri="{FF2B5EF4-FFF2-40B4-BE49-F238E27FC236}">
                <a16:creationId xmlns:a16="http://schemas.microsoft.com/office/drawing/2014/main" id="{2ECFDDE6-3722-418B-8E1B-1264083A0EA7}"/>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15 | PRODUCTION PARTNERS</a:t>
            </a:r>
          </a:p>
        </p:txBody>
      </p:sp>
    </p:spTree>
    <p:extLst>
      <p:ext uri="{BB962C8B-B14F-4D97-AF65-F5344CB8AC3E}">
        <p14:creationId xmlns:p14="http://schemas.microsoft.com/office/powerpoint/2010/main" val="185588583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16</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사업 확대는 네 가지를 모두 확인한 뒤 결정한다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규제</a:t>
            </a:r>
          </a:p>
          <a:p xmlns:a="http://schemas.openxmlformats.org/drawingml/2006/main">
            <a:pPr algn="l">
              <a:buNone/>
              <a:defRPr sz="2400">
                <a:solidFill>
                  <a:srgbClr val="000000"/>
                </a:solidFill>
                <a:latin typeface="Helvetica Neue"/>
                <a:ea typeface="Helvetica Neue"/>
                <a:cs typeface="Helvetica Neue"/>
              </a:defRPr>
            </a:pPr>
            <a:r>
              <a:t>품목분류·등록경로</a:t>
            </a:r>
          </a:p>
          <a:p xmlns:a="http://schemas.openxmlformats.org/drawingml/2006/main">
            <a:pPr algn="l">
              <a:buNone/>
              <a:defRPr sz="2400">
                <a:solidFill>
                  <a:srgbClr val="000000"/>
                </a:solidFill>
                <a:latin typeface="Helvetica Neue"/>
                <a:ea typeface="Helvetica Neue"/>
                <a:cs typeface="Helvetica Neue"/>
              </a:defRPr>
            </a:pPr>
            <a:r>
              <a:t>표시 가능 문구</a:t>
            </a:r>
          </a:p>
          <a:p xmlns:a="http://schemas.openxmlformats.org/drawingml/2006/main">
            <a:pPr algn="l">
              <a:buNone/>
              <a:defRPr sz="2400">
                <a:solidFill>
                  <a:srgbClr val="000000"/>
                </a:solidFill>
                <a:latin typeface="Helvetica Neue"/>
                <a:ea typeface="Helvetica Neue"/>
                <a:cs typeface="Helvetica Neue"/>
              </a:defRPr>
            </a:pPr>
            <a:r>
              <a:t>확인 전 외부 홍보 중단</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제품 근거</a:t>
            </a:r>
          </a:p>
          <a:p xmlns:a="http://schemas.openxmlformats.org/drawingml/2006/main">
            <a:pPr algn="l">
              <a:buNone/>
              <a:defRPr sz="2400">
                <a:solidFill>
                  <a:srgbClr val="000000"/>
                </a:solidFill>
                <a:latin typeface="Helvetica Neue"/>
                <a:ea typeface="Helvetica Neue"/>
                <a:cs typeface="Helvetica Neue"/>
              </a:defRPr>
            </a:pPr>
            <a:r>
              <a:t>활성함량·안정성</a:t>
            </a:r>
          </a:p>
          <a:p xmlns:a="http://schemas.openxmlformats.org/drawingml/2006/main">
            <a:pPr algn="l">
              <a:buNone/>
              <a:defRPr sz="2400">
                <a:solidFill>
                  <a:srgbClr val="000000"/>
                </a:solidFill>
                <a:latin typeface="Helvetica Neue"/>
                <a:ea typeface="Helvetica Neue"/>
                <a:cs typeface="Helvetica Neue"/>
              </a:defRPr>
            </a:pPr>
            <a:r>
              <a:t>축종별 유효용량</a:t>
            </a:r>
          </a:p>
          <a:p xmlns:a="http://schemas.openxmlformats.org/drawingml/2006/main">
            <a:pPr algn="l">
              <a:buNone/>
              <a:defRPr sz="2400">
                <a:solidFill>
                  <a:srgbClr val="000000"/>
                </a:solidFill>
                <a:latin typeface="Helvetica Neue"/>
                <a:ea typeface="Helvetica Neue"/>
                <a:cs typeface="Helvetica Neue"/>
              </a:defRPr>
            </a:pPr>
            <a:r>
              <a:t>확인 전 확대 보류</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OEM·품질</a:t>
            </a:r>
          </a:p>
          <a:p xmlns:a="http://schemas.openxmlformats.org/drawingml/2006/main">
            <a:pPr algn="l">
              <a:buNone/>
              <a:defRPr sz="2400">
                <a:solidFill>
                  <a:srgbClr val="000000"/>
                </a:solidFill>
                <a:latin typeface="Helvetica Neue"/>
                <a:ea typeface="Helvetica Neue"/>
                <a:cs typeface="Helvetica Neue"/>
              </a:defRPr>
            </a:pPr>
            <a:r>
              <a:t>실제 견적·MOQ·납기</a:t>
            </a:r>
          </a:p>
          <a:p xmlns:a="http://schemas.openxmlformats.org/drawingml/2006/main">
            <a:pPr algn="l">
              <a:buNone/>
              <a:defRPr sz="2400">
                <a:solidFill>
                  <a:srgbClr val="000000"/>
                </a:solidFill>
                <a:latin typeface="Helvetica Neue"/>
                <a:ea typeface="Helvetica Neue"/>
                <a:cs typeface="Helvetica Neue"/>
              </a:defRPr>
            </a:pPr>
            <a:r>
              <a:t>품질 협약서</a:t>
            </a:r>
          </a:p>
          <a:p xmlns:a="http://schemas.openxmlformats.org/drawingml/2006/main">
            <a:pPr algn="l">
              <a:buNone/>
              <a:defRPr sz="2400">
                <a:solidFill>
                  <a:srgbClr val="000000"/>
                </a:solidFill>
                <a:latin typeface="Helvetica Neue"/>
                <a:ea typeface="Helvetica Neue"/>
                <a:cs typeface="Helvetica Neue"/>
              </a:defRPr>
            </a:pPr>
            <a:r>
              <a:t>합의 전 납기 약속 보류</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상업성</a:t>
            </a:r>
          </a:p>
          <a:p xmlns:a="http://schemas.openxmlformats.org/drawingml/2006/main">
            <a:pPr algn="l">
              <a:buNone/>
              <a:defRPr sz="2400">
                <a:solidFill>
                  <a:srgbClr val="000000"/>
                </a:solidFill>
                <a:latin typeface="Helvetica Neue"/>
                <a:ea typeface="Helvetica Neue"/>
                <a:cs typeface="Helvetica Neue"/>
              </a:defRPr>
            </a:pPr>
            <a:r>
              <a:t>유료 고객 시험 2건</a:t>
            </a:r>
          </a:p>
          <a:p xmlns:a="http://schemas.openxmlformats.org/drawingml/2006/main">
            <a:pPr algn="l">
              <a:buNone/>
              <a:defRPr sz="2400">
                <a:solidFill>
                  <a:srgbClr val="000000"/>
                </a:solidFill>
                <a:latin typeface="Helvetica Neue"/>
                <a:ea typeface="Helvetica Neue"/>
                <a:cs typeface="Helvetica Neue"/>
              </a:defRPr>
            </a:pPr>
            <a:r>
              <a:t>반복 주문 자료</a:t>
            </a:r>
          </a:p>
          <a:p xmlns:a="http://schemas.openxmlformats.org/drawingml/2006/main">
            <a:pPr algn="l">
              <a:buNone/>
              <a:defRPr sz="2400">
                <a:solidFill>
                  <a:srgbClr val="000000"/>
                </a:solidFill>
                <a:latin typeface="Helvetica Neue"/>
                <a:ea typeface="Helvetica Neue"/>
                <a:cs typeface="Helvetica Neue"/>
              </a:defRPr>
            </a:pPr>
            <a:r>
              <a:t>미확인 시 투자 확대 중단</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16 | EXPANSION CRITERIA</a:t>
            </a:r>
          </a:p>
        </p:txBody>
      </p:sp>
    </p:spTree>
    <p:extLst>
      <p:ext uri="{BB962C8B-B14F-4D97-AF65-F5344CB8AC3E}">
        <p14:creationId xmlns:p14="http://schemas.microsoft.com/office/powerpoint/2010/main" val="160455868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17</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90일 안에 두 사업의 공통 검증과 첫 유료 주문을 확인한다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0–30일</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31–60일</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61–90일</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제품·공급 조건 확인</a:t>
            </a:r>
          </a:p>
          <a:p xmlns:a="http://schemas.openxmlformats.org/drawingml/2006/main">
            <a:pPr algn="l">
              <a:buNone/>
              <a:defRPr sz="2400">
                <a:solidFill>
                  <a:srgbClr val="000000"/>
                </a:solidFill>
                <a:latin typeface="Helvetica Neue"/>
                <a:ea typeface="Helvetica Neue"/>
                <a:cs typeface="Helvetica Neue"/>
              </a:defRPr>
            </a:pPr>
            <a:r>
              <a:t>시험생산·균일도</a:t>
            </a:r>
          </a:p>
          <a:p xmlns:a="http://schemas.openxmlformats.org/drawingml/2006/main">
            <a:pPr algn="l">
              <a:buNone/>
              <a:defRPr sz="2400">
                <a:solidFill>
                  <a:srgbClr val="000000"/>
                </a:solidFill>
                <a:latin typeface="Helvetica Neue"/>
                <a:ea typeface="Helvetica Neue"/>
                <a:cs typeface="Helvetica Neue"/>
              </a:defRPr>
            </a:pPr>
            <a:r>
              <a:t>안정성·CoA</a:t>
            </a:r>
          </a:p>
          <a:p xmlns:a="http://schemas.openxmlformats.org/drawingml/2006/main">
            <a:pPr algn="l">
              <a:buNone/>
              <a:defRPr sz="2400">
                <a:solidFill>
                  <a:srgbClr val="000000"/>
                </a:solidFill>
                <a:latin typeface="Helvetica Neue"/>
                <a:ea typeface="Helvetica Neue"/>
                <a:cs typeface="Helvetica Neue"/>
              </a:defRPr>
            </a:pPr>
            <a:r>
              <a:t>유료 고객 시험계획</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규제 경로 확인</a:t>
            </a:r>
          </a:p>
          <a:p xmlns:a="http://schemas.openxmlformats.org/drawingml/2006/main">
            <a:pPr algn="l">
              <a:buNone/>
              <a:defRPr sz="2400">
                <a:solidFill>
                  <a:srgbClr val="000000"/>
                </a:solidFill>
                <a:latin typeface="Helvetica Neue"/>
                <a:ea typeface="Helvetica Neue"/>
                <a:cs typeface="Helvetica Neue"/>
              </a:defRPr>
            </a:pPr>
            <a:r>
              <a:t>품목분류 사전검토</a:t>
            </a:r>
          </a:p>
          <a:p xmlns:a="http://schemas.openxmlformats.org/drawingml/2006/main">
            <a:pPr algn="l">
              <a:buNone/>
              <a:defRPr sz="2400">
                <a:solidFill>
                  <a:srgbClr val="000000"/>
                </a:solidFill>
                <a:latin typeface="Helvetica Neue"/>
                <a:ea typeface="Helvetica Neue"/>
                <a:cs typeface="Helvetica Neue"/>
              </a:defRPr>
            </a:pPr>
            <a:r>
              <a:t>활성함량·제형 확정</a:t>
            </a:r>
          </a:p>
          <a:p xmlns:a="http://schemas.openxmlformats.org/drawingml/2006/main">
            <a:pPr algn="l">
              <a:buNone/>
              <a:defRPr sz="2400">
                <a:solidFill>
                  <a:srgbClr val="000000"/>
                </a:solidFill>
                <a:latin typeface="Helvetica Neue"/>
                <a:ea typeface="Helvetica Neue"/>
                <a:cs typeface="Helvetica Neue"/>
              </a:defRPr>
            </a:pPr>
            <a:r>
              <a:t>OEM 2곳 RFI</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상업성 확인</a:t>
            </a:r>
          </a:p>
          <a:p xmlns:a="http://schemas.openxmlformats.org/drawingml/2006/main">
            <a:pPr algn="l">
              <a:buNone/>
              <a:defRPr sz="2400">
                <a:solidFill>
                  <a:srgbClr val="000000"/>
                </a:solidFill>
                <a:latin typeface="Helvetica Neue"/>
                <a:ea typeface="Helvetica Neue"/>
                <a:cs typeface="Helvetica Neue"/>
              </a:defRPr>
            </a:pPr>
            <a:r>
              <a:t>첫 유료 발주서</a:t>
            </a:r>
          </a:p>
          <a:p xmlns:a="http://schemas.openxmlformats.org/drawingml/2006/main">
            <a:pPr algn="l">
              <a:buNone/>
              <a:defRPr sz="2400">
                <a:solidFill>
                  <a:srgbClr val="000000"/>
                </a:solidFill>
                <a:latin typeface="Helvetica Neue"/>
                <a:ea typeface="Helvetica Neue"/>
                <a:cs typeface="Helvetica Neue"/>
              </a:defRPr>
            </a:pPr>
            <a:r>
              <a:t>반복 주문 조건</a:t>
            </a:r>
          </a:p>
          <a:p xmlns:a="http://schemas.openxmlformats.org/drawingml/2006/main">
            <a:pPr algn="l">
              <a:buNone/>
              <a:defRPr sz="2400">
                <a:solidFill>
                  <a:srgbClr val="000000"/>
                </a:solidFill>
                <a:latin typeface="Helvetica Neue"/>
                <a:ea typeface="Helvetica Neue"/>
                <a:cs typeface="Helvetica Neue"/>
              </a:defRPr>
            </a:pPr>
            <a:r>
              <a:t>실제 원가로 추진 여부 결정</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17 | 90-DAY VALIDATION</a:t>
            </a:r>
          </a:p>
        </p:txBody>
      </p:sp>
    </p:spTree>
    <p:extLst>
      <p:ext uri="{BB962C8B-B14F-4D97-AF65-F5344CB8AC3E}">
        <p14:creationId xmlns:p14="http://schemas.microsoft.com/office/powerpoint/2010/main" val="116188389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18</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핵심 인력은 분석·사료·정밀발효 경험을 함께 갖췄다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분석기술 전문가</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정밀발효·정제 전문가</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분석기술 고문</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장순욱</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구장룡</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박지호</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장순욱 | 현 셀핀다 생명과학연구소 부사장 · 전 해원바이오 전무 · 전 한국신약 연구소장</a:t>
            </a:r>
          </a:p>
          <a:p xmlns:a="http://schemas.openxmlformats.org/drawingml/2006/main">
            <a:pPr algn="l">
              <a:buNone/>
              <a:defRPr sz="1600">
                <a:solidFill>
                  <a:srgbClr val="000000"/>
                </a:solidFill>
                <a:latin typeface="Helvetica Neue"/>
                <a:ea typeface="Helvetica Neue"/>
                <a:cs typeface="Helvetica Neue"/>
              </a:defRPr>
            </a:pPr>
            <a:r>
              <a:t>구장룡 | 현 충남대 농업과학연구소 총괄책임 · 전 우성사료 연구소장</a:t>
            </a:r>
          </a:p>
          <a:p xmlns:a="http://schemas.openxmlformats.org/drawingml/2006/main">
            <a:pPr algn="l">
              <a:buNone/>
              <a:defRPr sz="1600">
                <a:solidFill>
                  <a:srgbClr val="000000"/>
                </a:solidFill>
                <a:latin typeface="Helvetica Neue"/>
                <a:ea typeface="Helvetica Neue"/>
                <a:cs typeface="Helvetica Neue"/>
              </a:defRPr>
            </a:pPr>
            <a:r>
              <a:t>박지호 | 현 셀핀다 생명과학연구소 소장 · 전 현대바이오랜드 재직</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18 | COMMERCIALIZATION TEAM</a:t>
            </a:r>
          </a:p>
        </p:txBody>
      </p:sp>
    </p:spTree>
    <p:extLst>
      <p:ext uri="{BB962C8B-B14F-4D97-AF65-F5344CB8AC3E}">
        <p14:creationId xmlns:p14="http://schemas.microsoft.com/office/powerpoint/2010/main" val="1364317174"/>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93582F7D-404D-46AB-80D1-FE06EE84CD39}"/>
              </a:ext>
            </a:extLst>
          </p:cNvPr>
          <p:cNvSpPr>
            <a:spLocks xmlns:a="http://schemas.openxmlformats.org/drawingml/2006/main" noGrp="1"/>
          </p:cNvSpPr>
          <p:nvPr/>
        </p:nvSpPr>
        <p:spPr>
          <a:xfrm xmlns:a="http://schemas.openxmlformats.org/drawingml/2006/main">
            <a:off x="393668" y="1738789"/>
            <a:ext cx="944880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a:solidFill>
                  <a:srgbClr val="000000"/>
                </a:solidFill>
                <a:latin typeface="Helvetica Neue"/>
                <a:ea typeface="Helvetica Neue"/>
                <a:cs typeface="Helvetica Neue"/>
              </a:defRPr>
            </a:pPr>
            <a:r>
              <a:t>4,560만원을 집행하기 전,</a:t>
            </a:r>
          </a:p>
          <a:p xmlns:a="http://schemas.openxmlformats.org/drawingml/2006/main">
            <a:pPr algn="l">
              <a:buNone/>
              <a:defRPr sz="6000">
                <a:solidFill>
                  <a:srgbClr val="000000"/>
                </a:solidFill>
                <a:latin typeface="Helvetica Neue"/>
                <a:ea typeface="Helvetica Neue"/>
                <a:cs typeface="Helvetica Neue"/>
              </a:defRPr>
            </a:pPr>
            <a:r>
              <a:t>두 사업의 공통 검증을 승인해 주십시오</a:t>
            </a:r>
          </a:p>
        </p:txBody>
      </p:sp>
      <p:sp>
        <p:nvSpPr>
          <p:cNvPr id="2" name="Subtitle-4-2">
            <a:extLst xmlns:a="http://schemas.openxmlformats.org/drawingml/2006/main">
              <a:ext uri="{FF2B5EF4-FFF2-40B4-BE49-F238E27FC236}">
                <a16:creationId xmlns:a16="http://schemas.microsoft.com/office/drawing/2014/main" id="{6DBE01A0-2CC5-41DA-85B6-ED57A07E76EC}"/>
              </a:ext>
            </a:extLst>
          </p:cNvPr>
          <p:cNvSpPr>
            <a:spLocks xmlns:a="http://schemas.openxmlformats.org/drawingml/2006/main" noGrp="1"/>
          </p:cNvSpPr>
          <p:nvPr/>
        </p:nvSpPr>
        <p:spPr>
          <a:xfrm xmlns:a="http://schemas.openxmlformats.org/drawingml/2006/main">
            <a:off x="393668" y="4973288"/>
            <a:ext cx="10953750" cy="108023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100">
                <a:solidFill>
                  <a:srgbClr val="000000"/>
                </a:solidFill>
                <a:latin typeface="Helvetica Neue"/>
                <a:ea typeface="Helvetica Neue"/>
                <a:cs typeface="Helvetica Neue"/>
              </a:defRPr>
            </a:pPr>
            <a:r>
              <a:t>① 품목분류·표시 문구  ② 제품 CoA·안정성·유효용량</a:t>
            </a:r>
          </a:p>
          <a:p xmlns:a="http://schemas.openxmlformats.org/drawingml/2006/main">
            <a:pPr algn="l">
              <a:buNone/>
              <a:defRPr sz="2100">
                <a:solidFill>
                  <a:srgbClr val="000000"/>
                </a:solidFill>
                <a:latin typeface="Helvetica Neue"/>
                <a:ea typeface="Helvetica Neue"/>
                <a:cs typeface="Helvetica Neue"/>
              </a:defRPr>
            </a:pPr>
            <a:r>
              <a:t>③ 생산 파트너 실사·실제 견적  ④ 유료 고객 시험과 반복 주문</a:t>
            </a:r>
          </a:p>
        </p:txBody>
      </p:sp>
      <p:sp>
        <p:nvSpPr>
          <p:cNvPr id="3" name="Subtitle-4-3">
            <a:extLst xmlns:a="http://schemas.openxmlformats.org/drawingml/2006/main">
              <a:ext uri="{FF2B5EF4-FFF2-40B4-BE49-F238E27FC236}">
                <a16:creationId xmlns:a16="http://schemas.microsoft.com/office/drawing/2014/main" id="{83CFF434-0D8D-452B-9588-51118CD257D7}"/>
              </a:ext>
            </a:extLst>
          </p:cNvPr>
          <p:cNvSpPr>
            <a:spLocks xmlns:a="http://schemas.openxmlformats.org/drawingml/2006/main" noGrp="1"/>
          </p:cNvSpPr>
          <p:nvPr/>
        </p:nvSpPr>
        <p:spPr>
          <a:xfrm xmlns:a="http://schemas.openxmlformats.org/drawingml/2006/main">
            <a:off x="393668" y="392240"/>
            <a:ext cx="1612868"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승인 요청 · 검증 예산</a:t>
            </a:r>
          </a:p>
        </p:txBody>
      </p:sp>
      <p:sp>
        <p:nvSpPr>
          <p:cNvPr id="4" name="brand-rule-19">
            <a:extLst xmlns:a="http://schemas.openxmlformats.org/drawingml/2006/main">
              <a:ext uri="{FF2B5EF4-FFF2-40B4-BE49-F238E27FC236}">
                <a16:creationId xmlns:a16="http://schemas.microsoft.com/office/drawing/2014/main" id="{7AAF7002-EC9D-469C-84D7-2EC7F0804319}"/>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5" name="brand-footer-19">
            <a:extLst xmlns:a="http://schemas.openxmlformats.org/drawingml/2006/main">
              <a:ext uri="{FF2B5EF4-FFF2-40B4-BE49-F238E27FC236}">
                <a16:creationId xmlns:a16="http://schemas.microsoft.com/office/drawing/2014/main" id="{5673E306-1329-4C06-B385-21CE77F2D44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19 | DECISION ASK</a:t>
            </a:r>
          </a:p>
        </p:txBody>
      </p:sp>
    </p:spTree>
    <p:extLst>
      <p:ext uri="{BB962C8B-B14F-4D97-AF65-F5344CB8AC3E}">
        <p14:creationId xmlns:p14="http://schemas.microsoft.com/office/powerpoint/2010/main" val="1951378401"/>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20</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APPENDIX · 사업 정의·용어·가정·이용 안내</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사업</a:t>
            </a:r>
          </a:p>
          <a:p xmlns:a="http://schemas.openxmlformats.org/drawingml/2006/main">
            <a:pPr algn="l">
              <a:buNone/>
              <a:defRPr sz="2400">
                <a:solidFill>
                  <a:srgbClr val="000000"/>
                </a:solidFill>
                <a:latin typeface="Helvetica Neue"/>
                <a:ea typeface="Helvetica Neue"/>
                <a:cs typeface="Helvetica Neue"/>
              </a:defRPr>
            </a:pPr>
            <a:r>
              <a:t>가바크루드=GABA 원료</a:t>
            </a:r>
          </a:p>
          <a:p xmlns:a="http://schemas.openxmlformats.org/drawingml/2006/main">
            <a:pPr algn="l">
              <a:buNone/>
              <a:defRPr sz="2400">
                <a:solidFill>
                  <a:srgbClr val="000000"/>
                </a:solidFill>
                <a:latin typeface="Helvetica Neue"/>
                <a:ea typeface="Helvetica Neue"/>
                <a:cs typeface="Helvetica Neue"/>
              </a:defRPr>
            </a:pPr>
            <a:r>
              <a:t>가바케어믹스=배합사료</a:t>
            </a:r>
          </a:p>
          <a:p xmlns:a="http://schemas.openxmlformats.org/drawingml/2006/main">
            <a:pPr algn="l">
              <a:buNone/>
              <a:defRPr sz="2400">
                <a:solidFill>
                  <a:srgbClr val="000000"/>
                </a:solidFill>
                <a:latin typeface="Helvetica Neue"/>
                <a:ea typeface="Helvetica Neue"/>
                <a:cs typeface="Helvetica Neue"/>
              </a:defRPr>
            </a:pPr>
            <a:r>
              <a:t>CAPA=생산가능량</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용어</a:t>
            </a:r>
          </a:p>
          <a:p xmlns:a="http://schemas.openxmlformats.org/drawingml/2006/main">
            <a:pPr algn="l">
              <a:buNone/>
              <a:defRPr sz="2400">
                <a:solidFill>
                  <a:srgbClr val="000000"/>
                </a:solidFill>
                <a:latin typeface="Helvetica Neue"/>
                <a:ea typeface="Helvetica Neue"/>
                <a:cs typeface="Helvetica Neue"/>
              </a:defRPr>
            </a:pPr>
            <a:r>
              <a:t>CoA=로트 성적서</a:t>
            </a:r>
          </a:p>
          <a:p xmlns:a="http://schemas.openxmlformats.org/drawingml/2006/main">
            <a:pPr algn="l">
              <a:buNone/>
              <a:defRPr sz="2400">
                <a:solidFill>
                  <a:srgbClr val="000000"/>
                </a:solidFill>
                <a:latin typeface="Helvetica Neue"/>
                <a:ea typeface="Helvetica Neue"/>
                <a:cs typeface="Helvetica Neue"/>
              </a:defRPr>
            </a:pPr>
            <a:r>
              <a:t>OEM=주문자 상표 부착 생산</a:t>
            </a:r>
          </a:p>
          <a:p xmlns:a="http://schemas.openxmlformats.org/drawingml/2006/main">
            <a:pPr algn="l">
              <a:buNone/>
              <a:defRPr sz="2400">
                <a:solidFill>
                  <a:srgbClr val="000000"/>
                </a:solidFill>
                <a:latin typeface="Helvetica Neue"/>
                <a:ea typeface="Helvetica Neue"/>
                <a:cs typeface="Helvetica Neue"/>
              </a:defRPr>
            </a:pPr>
            <a:r>
              <a:t>PoV=고객 가치 검증</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핵심 가정</a:t>
            </a:r>
          </a:p>
          <a:p xmlns:a="http://schemas.openxmlformats.org/drawingml/2006/main">
            <a:pPr algn="l">
              <a:buNone/>
              <a:defRPr sz="2400">
                <a:solidFill>
                  <a:srgbClr val="000000"/>
                </a:solidFill>
                <a:latin typeface="Helvetica Neue"/>
                <a:ea typeface="Helvetica Neue"/>
                <a:cs typeface="Helvetica Neue"/>
              </a:defRPr>
            </a:pPr>
            <a:r>
              <a:t>18,000원/kg·9,240원/kg</a:t>
            </a:r>
          </a:p>
          <a:p xmlns:a="http://schemas.openxmlformats.org/drawingml/2006/main">
            <a:pPr algn="l">
              <a:buNone/>
              <a:defRPr sz="2400">
                <a:solidFill>
                  <a:srgbClr val="000000"/>
                </a:solidFill>
                <a:latin typeface="Helvetica Neue"/>
                <a:ea typeface="Helvetica Neue"/>
                <a:cs typeface="Helvetica Neue"/>
              </a:defRPr>
            </a:pPr>
            <a:r>
              <a:t>75g/사료t·4,681.8원/kg</a:t>
            </a:r>
          </a:p>
          <a:p xmlns:a="http://schemas.openxmlformats.org/drawingml/2006/main">
            <a:pPr algn="l">
              <a:buNone/>
              <a:defRPr sz="2400">
                <a:solidFill>
                  <a:srgbClr val="000000"/>
                </a:solidFill>
                <a:latin typeface="Helvetica Neue"/>
                <a:ea typeface="Helvetica Neue"/>
                <a:cs typeface="Helvetica Neue"/>
              </a:defRPr>
            </a:pPr>
            <a:r>
              <a:t>고객가치 18,000원/t</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이용 안내</a:t>
            </a:r>
          </a:p>
          <a:p xmlns:a="http://schemas.openxmlformats.org/drawingml/2006/main">
            <a:pPr algn="l">
              <a:buNone/>
              <a:defRPr sz="2400">
                <a:solidFill>
                  <a:srgbClr val="000000"/>
                </a:solidFill>
                <a:latin typeface="Helvetica Neue"/>
                <a:ea typeface="Helvetica Neue"/>
                <a:cs typeface="Helvetica Neue"/>
              </a:defRPr>
            </a:pPr>
            <a:r>
              <a:t>인력·CAPA=사용자 제공 자료</a:t>
            </a:r>
          </a:p>
          <a:p xmlns:a="http://schemas.openxmlformats.org/drawingml/2006/main">
            <a:pPr algn="l">
              <a:buNone/>
              <a:defRPr sz="2400">
                <a:solidFill>
                  <a:srgbClr val="000000"/>
                </a:solidFill>
                <a:latin typeface="Helvetica Neue"/>
                <a:ea typeface="Helvetica Neue"/>
                <a:cs typeface="Helvetica Neue"/>
              </a:defRPr>
            </a:pPr>
            <a:r>
              <a:t>법적 분류·효능·공장 적합성·원가</a:t>
            </a:r>
          </a:p>
          <a:p xmlns:a="http://schemas.openxmlformats.org/drawingml/2006/main">
            <a:pPr algn="l">
              <a:buNone/>
              <a:defRPr sz="2400">
                <a:solidFill>
                  <a:srgbClr val="000000"/>
                </a:solidFill>
                <a:latin typeface="Helvetica Neue"/>
                <a:ea typeface="Helvetica Neue"/>
                <a:cs typeface="Helvetica Neue"/>
              </a:defRPr>
            </a:pPr>
            <a:r>
              <a:t>관할기관·시험기관·실제 견적 확인</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20 | APPENDIX</a:t>
            </a:r>
          </a:p>
        </p:txBody>
      </p:sp>
    </p:spTree>
    <p:extLst>
      <p:ext uri="{BB962C8B-B14F-4D97-AF65-F5344CB8AC3E}">
        <p14:creationId xmlns:p14="http://schemas.microsoft.com/office/powerpoint/2010/main" val="16045586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2026-08-03T03:28:01.2400000Z</dcterms:created>
  <dcterms:modified xsi:type="dcterms:W3CDTF">2026-08-03T03:28:01.2400000Z</dcterms:modified>
</coreProperties>
</file>