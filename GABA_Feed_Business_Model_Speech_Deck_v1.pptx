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f23a1eac2de4d70" /><Relationship Type="http://schemas.openxmlformats.org/officeDocument/2006/relationships/extended-properties" Target="/docProps/app.xml" Id="R9265648694424065" /><Relationship Type="http://schemas.openxmlformats.org/officeDocument/2006/relationships/officeDocument" Target="/ppt/presentation.xml" Id="Re9ff707e5aa84fe6" /></Relationships>
</file>

<file path=ppt/presentation.xml><?xml version="1.0" encoding="utf-8"?>
<p:presentation xmlns:p="http://schemas.openxmlformats.org/presentationml/2006/main">
  <p:sldMasterIdLst>
    <p:sldMasterId xmlns:r="http://schemas.openxmlformats.org/officeDocument/2006/relationships" id="2147483648" r:id="R0970b38cb1b24455"/>
  </p:sldMasterIdLst>
  <p:notesMasterIdLst>
    <p:notesMasterId xmlns:r="http://schemas.openxmlformats.org/officeDocument/2006/relationships" r:id="R2530760c313c44e4"/>
  </p:notesMasterIdLst>
  <p:sldIdLst>
    <p:sldId xmlns:r="http://schemas.openxmlformats.org/officeDocument/2006/relationships" id="256" r:id="R89a4d953b05348a6"/>
    <p:sldId xmlns:r="http://schemas.openxmlformats.org/officeDocument/2006/relationships" id="257" r:id="R61bc09e86d4c456e"/>
    <p:sldId xmlns:r="http://schemas.openxmlformats.org/officeDocument/2006/relationships" id="258" r:id="R47c2ab4ec6404465"/>
    <p:sldId xmlns:r="http://schemas.openxmlformats.org/officeDocument/2006/relationships" id="259" r:id="R58851d4bc81f4bee"/>
    <p:sldId xmlns:r="http://schemas.openxmlformats.org/officeDocument/2006/relationships" id="260" r:id="Rcf4955f38d5448bd"/>
    <p:sldId xmlns:r="http://schemas.openxmlformats.org/officeDocument/2006/relationships" id="261" r:id="Rea5ccbdcae3c48a0"/>
    <p:sldId xmlns:r="http://schemas.openxmlformats.org/officeDocument/2006/relationships" id="262" r:id="R80629fbb99104ced"/>
    <p:sldId xmlns:r="http://schemas.openxmlformats.org/officeDocument/2006/relationships" id="263" r:id="R45b6d3e9ee3c4c80"/>
    <p:sldId xmlns:r="http://schemas.openxmlformats.org/officeDocument/2006/relationships" id="264" r:id="R462bf99882e14203"/>
    <p:sldId xmlns:r="http://schemas.openxmlformats.org/officeDocument/2006/relationships" id="265" r:id="R9c42a96959db4535"/>
    <p:sldId xmlns:r="http://schemas.openxmlformats.org/officeDocument/2006/relationships" id="266" r:id="R68f782dd53c246df"/>
    <p:sldId xmlns:r="http://schemas.openxmlformats.org/officeDocument/2006/relationships" id="267" r:id="R78fccbce6e394d90"/>
    <p:sldId xmlns:r="http://schemas.openxmlformats.org/officeDocument/2006/relationships" id="268" r:id="Re764078bf52c4e72"/>
    <p:sldId xmlns:r="http://schemas.openxmlformats.org/officeDocument/2006/relationships" id="269" r:id="Refc5d1d76e0b49e7"/>
    <p:sldId xmlns:r="http://schemas.openxmlformats.org/officeDocument/2006/relationships" id="270" r:id="R4ef7658785c341d1"/>
    <p:sldId xmlns:r="http://schemas.openxmlformats.org/officeDocument/2006/relationships" id="271" r:id="Ra37f4470a4054d88"/>
    <p:sldId xmlns:r="http://schemas.openxmlformats.org/officeDocument/2006/relationships" id="272" r:id="R95f1a2ca21f4421b"/>
    <p:sldId xmlns:r="http://schemas.openxmlformats.org/officeDocument/2006/relationships" id="273" r:id="Rb93f557620e145b3"/>
    <p:sldId xmlns:r="http://schemas.openxmlformats.org/officeDocument/2006/relationships" id="274" r:id="R857d86fc343849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619ef7ad2e4d15" /><Relationship Type="http://schemas.openxmlformats.org/officeDocument/2006/relationships/slideMaster" Target="/ppt/slideMasters/slideMaster1.xml" Id="R0970b38cb1b24455" /><Relationship Type="http://schemas.openxmlformats.org/officeDocument/2006/relationships/notesMaster" Target="/ppt/notesMasters/notesMaster1.xml" Id="R2530760c313c44e4" /><Relationship Type="http://schemas.openxmlformats.org/officeDocument/2006/relationships/presProps" Target="/ppt/presProps.xml" Id="Rcc0a79ec4ff64ee4" /><Relationship Type="http://schemas.openxmlformats.org/officeDocument/2006/relationships/tableStyles" Target="/ppt/tableStyles.xml" Id="R2d6d05b6118649e8" /><Relationship Type="http://schemas.openxmlformats.org/officeDocument/2006/relationships/slide" Target="/ppt/slides/slide1.xml" Id="R89a4d953b05348a6" /><Relationship Type="http://schemas.openxmlformats.org/officeDocument/2006/relationships/slide" Target="/ppt/slides/slide2.xml" Id="R61bc09e86d4c456e" /><Relationship Type="http://schemas.openxmlformats.org/officeDocument/2006/relationships/slide" Target="/ppt/slides/slide3.xml" Id="R47c2ab4ec6404465" /><Relationship Type="http://schemas.openxmlformats.org/officeDocument/2006/relationships/slide" Target="/ppt/slides/slide4.xml" Id="R58851d4bc81f4bee" /><Relationship Type="http://schemas.openxmlformats.org/officeDocument/2006/relationships/slide" Target="/ppt/slides/slide5.xml" Id="Rcf4955f38d5448bd" /><Relationship Type="http://schemas.openxmlformats.org/officeDocument/2006/relationships/slide" Target="/ppt/slides/slide6.xml" Id="Rea5ccbdcae3c48a0" /><Relationship Type="http://schemas.openxmlformats.org/officeDocument/2006/relationships/slide" Target="/ppt/slides/slide7.xml" Id="R80629fbb99104ced" /><Relationship Type="http://schemas.openxmlformats.org/officeDocument/2006/relationships/slide" Target="/ppt/slides/slide8.xml" Id="R45b6d3e9ee3c4c80" /><Relationship Type="http://schemas.openxmlformats.org/officeDocument/2006/relationships/slide" Target="/ppt/slides/slide9.xml" Id="R462bf99882e14203" /><Relationship Type="http://schemas.openxmlformats.org/officeDocument/2006/relationships/slide" Target="/ppt/slides/slide10.xml" Id="R9c42a96959db4535" /><Relationship Type="http://schemas.openxmlformats.org/officeDocument/2006/relationships/slide" Target="/ppt/slides/slide11.xml" Id="R68f782dd53c246df" /><Relationship Type="http://schemas.openxmlformats.org/officeDocument/2006/relationships/slide" Target="/ppt/slides/slide12.xml" Id="R78fccbce6e394d90" /><Relationship Type="http://schemas.openxmlformats.org/officeDocument/2006/relationships/slide" Target="/ppt/slides/slide13.xml" Id="Re764078bf52c4e72" /><Relationship Type="http://schemas.openxmlformats.org/officeDocument/2006/relationships/slide" Target="/ppt/slides/slide14.xml" Id="Refc5d1d76e0b49e7" /><Relationship Type="http://schemas.openxmlformats.org/officeDocument/2006/relationships/slide" Target="/ppt/slides/slide15.xml" Id="R4ef7658785c341d1" /><Relationship Type="http://schemas.openxmlformats.org/officeDocument/2006/relationships/slide" Target="/ppt/slides/slide16.xml" Id="Ra37f4470a4054d88" /><Relationship Type="http://schemas.openxmlformats.org/officeDocument/2006/relationships/slide" Target="/ppt/slides/slide17.xml" Id="R95f1a2ca21f4421b" /><Relationship Type="http://schemas.openxmlformats.org/officeDocument/2006/relationships/slide" Target="/ppt/slides/slide18.xml" Id="Rb93f557620e145b3" /><Relationship Type="http://schemas.openxmlformats.org/officeDocument/2006/relationships/slide" Target="/ppt/slides/slide19.xml" Id="R857d86fc343849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df5da2ec1247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5d97a4cf744cdc" /><Relationship Type="http://schemas.openxmlformats.org/officeDocument/2006/relationships/notesMaster" Target="/ppt/notesMasters/notesMaster1.xml" Id="Rd246497370aa4f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03d0996c8344ba" /><Relationship Type="http://schemas.openxmlformats.org/officeDocument/2006/relationships/notesMaster" Target="/ppt/notesMasters/notesMaster1.xml" Id="R31648f8e21ff4c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6d269c43e641bb" /><Relationship Type="http://schemas.openxmlformats.org/officeDocument/2006/relationships/notesMaster" Target="/ppt/notesMasters/notesMaster1.xml" Id="Rd2b643d1650946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f8f0dd22504e74" /><Relationship Type="http://schemas.openxmlformats.org/officeDocument/2006/relationships/notesMaster" Target="/ppt/notesMasters/notesMaster1.xml" Id="Ra66373a29fe745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6029b0e8aea42fb" /><Relationship Type="http://schemas.openxmlformats.org/officeDocument/2006/relationships/notesMaster" Target="/ppt/notesMasters/notesMaster1.xml" Id="Raf3e96407ade49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64b31f996974f9a" /><Relationship Type="http://schemas.openxmlformats.org/officeDocument/2006/relationships/notesMaster" Target="/ppt/notesMasters/notesMaster1.xml" Id="Rcb996d5ba90640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5d7519ee7354524" /><Relationship Type="http://schemas.openxmlformats.org/officeDocument/2006/relationships/notesMaster" Target="/ppt/notesMasters/notesMaster1.xml" Id="R4fe90c0663d947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ddbb7b5ed01453e" /><Relationship Type="http://schemas.openxmlformats.org/officeDocument/2006/relationships/notesMaster" Target="/ppt/notesMasters/notesMaster1.xml" Id="R7f2b811e6ef648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e860cb54084e78" /><Relationship Type="http://schemas.openxmlformats.org/officeDocument/2006/relationships/notesMaster" Target="/ppt/notesMasters/notesMaster1.xml" Id="Rf9327df255cd4f6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8af4e3481504e02" /><Relationship Type="http://schemas.openxmlformats.org/officeDocument/2006/relationships/notesMaster" Target="/ppt/notesMasters/notesMaster1.xml" Id="R8e238804964d47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6aad1fdfae42f5" /><Relationship Type="http://schemas.openxmlformats.org/officeDocument/2006/relationships/notesMaster" Target="/ppt/notesMasters/notesMaster1.xml" Id="R0725daf3aaa449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c1e493902804883" /><Relationship Type="http://schemas.openxmlformats.org/officeDocument/2006/relationships/notesMaster" Target="/ppt/notesMasters/notesMaster1.xml" Id="R6ab4c154922f4f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dd6b6003a74bb6" /><Relationship Type="http://schemas.openxmlformats.org/officeDocument/2006/relationships/notesMaster" Target="/ppt/notesMasters/notesMaster1.xml" Id="R2c5b5d16fbe142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3d99810fce4b29" /><Relationship Type="http://schemas.openxmlformats.org/officeDocument/2006/relationships/notesMaster" Target="/ppt/notesMasters/notesMaster1.xml" Id="R9ef3d42dc1b84aa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2da8b54c8764359" /><Relationship Type="http://schemas.openxmlformats.org/officeDocument/2006/relationships/notesMaster" Target="/ppt/notesMasters/notesMaster1.xml" Id="R25169c06f63f4c6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039ec326cd422d" /><Relationship Type="http://schemas.openxmlformats.org/officeDocument/2006/relationships/notesMaster" Target="/ppt/notesMasters/notesMaster1.xml" Id="Rdd6879b2c0af4f2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b7882dfbf64427d" /><Relationship Type="http://schemas.openxmlformats.org/officeDocument/2006/relationships/notesMaster" Target="/ppt/notesMasters/notesMaster1.xml" Id="R8897f19cc9c048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9e3a1e0edb4747" /><Relationship Type="http://schemas.openxmlformats.org/officeDocument/2006/relationships/notesMaster" Target="/ppt/notesMasters/notesMaster1.xml" Id="R6812b33eef9c451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71128454c14d74" /><Relationship Type="http://schemas.openxmlformats.org/officeDocument/2006/relationships/notesMaster" Target="/ppt/notesMasters/notesMaster1.xml" Id="R8b38888b0ea940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사업 모델의 핵심은 단순합니다. 20% 마스터 한 종류만 재고로 보유하고, 고객이 주문한 규격은 OEM 공장에서 생산합니다. 오늘 요청드리는 것은 대규모 생산 투자가 아니라 네 가지 핵심 조건을 실제 자료로 확인하는 일입니다.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준비도는 41점입니다. 사업 구조는 설계됐지만 품목 분류, 해당 제품의 유효 용량, OEM 실제 견적, 유료 반복 주문은 아직 확인되지 않았습니다. 따라서 지금은 사업 확대보다 검증에 집중해야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원배양액 직납은 품질과 물류 변동이 큽니다. 반면 20% 마스터는 한 로트 단위로 시험하고 추적하기 쉽고, 저농도 규격은 고객 PO가 확인된 뒤 만들 수 있습니다. CoA는 로트별 시험성적서, FIFO는 먼저 입고한 재고를 먼저 출고하는 원칙입니다.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구조의 핵심은 공통 중간물입니다. 모든 규격의 출발점을 20% 마스터로 통일하면 품질기준과 재고기준이 하나가 됩니다. OEM은 주문자상표 부착생산을 뜻하며, 발주자가 규격을 정하고 공장이 생산합니다.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배양액 1톤의 원가와 산출량을 제시합니다. 그러나 이 정보만으로는 20% 마스터의 kg당 원가 9,240원을 다시 계산할 수 없습니다. 건조, 부형제, 시험, 포장, 수율에 드는 비용을 항목별로 확인해야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재고정책은 단순합니다. 20% 마스터만 안전재고와 재주문점을 관리하고, 완제품은 선생산하지 않습니다. MOQ는 최소주문수량, 리드타임은 주문부터 납품까지 걸리는 시간입니다.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주문은 제품 규격 확정, 마스터 출고, OEM 완제품 생산의 세 단계로 처리합니다. 고객의 농도, 수량, 표시 사항이 정해지기 전에는 생산하지 않습니다. 이 원칙이 불필요한 완제품 재고를 막아 줍니다.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현행 규정에서 GABA 또는 발효배양물의 허용 품목을 이 자료만으로 확정하지 않았습니다. 신규·변경 물질 검토에는 제조방법, 안전성, 품질, 첨가수준 자료가 중요하므로 사전검토를 서면으로 받아야 합니다. 공장 QA에는 추적·검사·회수 체계까지 포함합니다.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연구의 결과는 일관되지 않습니다. 2026년 젖소 연구에서는 산유량 차이가 통계적으로 유의하지 않았고 일부 유성분만 유의했습니다. 2023년 한우 연구는 초기 증체에서 가능성을 보였지만 도체 지표는 유의하지 않았습니다. 2025년 넙치 연구에서도 성장 개선이 확인되지 않았습니다. 따라서 한 축종, 한 제형, 한 용량으로 조건을 좁혀 해당 제품의 고객 시험을 진행해야 합니다.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시험은 넓게 하면 학습이 흐려집니다. 반추위 보호 제형, 열스트레스 상황, 고객군 하나, 1차 지표 하나로 좁히고 시작 전에 성공·중단 기준을 합의합니다. PoV는 실제 고객 환경에서 경제적 가치를 확인하는 가치검증입니다.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단위당 공헌이익은 판매가에서 제품 원가와 직접 변동비를 뺀 금액입니다. 원본 계산에서는 kg당 8,760원이 남지만, 예상 원가의 세부 항목을 확인하지 못했습니다. 투자자에게는 확정 수익이 아니라 검증해야 할 목표로 설명해야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사료 1톤당 매트릭스 75g과 kg당 제품 원가 4,681.8원을 사용합니다. 그러나 제품의 활성 함량과 제형이 연구의 투여량과 연결되지 않아 유효한 투입량으로 확정할 수 없습니다. 실제 공헌이익은 투입량, OEM 견적, 채널비, 현장비를 확인한 뒤 다시 계산해야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고객가치 18,000원/사료t은 원본의 가정입니다. 이 숫자는 고객 현장에서 비교군을 두고 손실회피 또는 생산성 개선을 측정할 때만 영업 근거가 됩니다. B/C는 편익을 비용으로 나눈 비율입니다.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페이지는 잠재 규모를 보여주는 시나리오이지 매출 예측이 아닙니다. 마스터 20톤과 매트릭스 5만 사료톤이 실제 반복주문으로 확인될 때만 경제성이 실현됩니다. 숫자를 사용하려면 반드시 실제 PO와 실현 원가를 함께 제시해야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기준으로는 첫 반복판매가 브리지 능력의 35.1%를 사용합니다. 다만 활성 GABA의 정의, 수율, OEE와 OEM 병목이 확인되지 않았으므로 확정 공급능력으로 표현하면 안 됩니다. OEE는 설비의 가동·성능·품질을 함께 보는 종합효율입니다.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사업 확대는 네 가지 검증을 모두 마친 뒤 결정합니다. 규제와 표시 문구는 서면 검토 결과로, 제품 근거는 해당 제품의 시험 결과로 확인합니다. OEM 조건은 공장 실사와 품질 협약서로, 상업성은 유료 고객 시험과 반복 주문으로 확인합니다. 품질 협약서는 발주자와 제조자가 시험, 변경, 일탈, 회수 책임을 합의한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30일에는 규제 경로와 제품 조건을 확인합니다. 다음 30일에는 시험 생산을 진행하고 고객 시험계획을 확정합니다. 마지막 30일에는 첫 유료 발주서와 반복 주문 조건을 확보한 뒤 실제 원가를 기준으로 계속 추진할지 결정합니다. RFI는 잠재 제조사에 필요한 정보와 조건을 요청하는 문서입니다.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요청드리는 것은 대규모 설비 투자가 아닙니다. 원본에 제시된 4,560만원의 검증 예산을 네 가지 과제의 완료 시점에 맞춰 단계적으로 집행하는 것입니다. 어느 한 과제에서 기준을 충족하지 못하면 멈추고, 모두 확인되면 고객사와 투자자에게 사업 확대 계획을 다시 제안합니다.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장은 어려운 용어와 핵심 가정을 한곳에 모았습니다. 원본의 가격, 원가, 용량, 고객가치는 검증 전 가정입니다. 연구 결과는 축종·제형·용량이 달라 제품 효능을 보장하지 않으며, 법적 분류와 표시·광고 문구는 별도 전문 검토가 필요합니다.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https://www.mafra.go.kr/bbs/home/791/597692/download.do</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e14dfc70b341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b47a9f225e4067" /><Relationship Type="http://schemas.openxmlformats.org/officeDocument/2006/relationships/slideLayout" Target="/ppt/slideLayouts/slideLayout1.xml" Id="Rc01a14ba3ea148c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01a14ba3ea148c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78e33bc12ea4f4c" /><Relationship Type="http://schemas.openxmlformats.org/officeDocument/2006/relationships/notesSlide" Target="/ppt/notesSlides/notesSlide1.xml" Id="R15a35c56944a4c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2ec06f3c3c492e" /><Relationship Type="http://schemas.openxmlformats.org/officeDocument/2006/relationships/notesSlide" Target="/ppt/notesSlides/notesSlide2.xml" Id="Rffecaba7ee4148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c04a011efa74b38" /><Relationship Type="http://schemas.openxmlformats.org/officeDocument/2006/relationships/notesSlide" Target="/ppt/notesSlides/notesSlide3.xml" Id="Rdcb1bb0d471c45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739d790bb045a4" /><Relationship Type="http://schemas.openxmlformats.org/officeDocument/2006/relationships/notesSlide" Target="/ppt/notesSlides/notesSlide4.xml" Id="R4a1977cb53ed48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513b6843014779" /><Relationship Type="http://schemas.openxmlformats.org/officeDocument/2006/relationships/notesSlide" Target="/ppt/notesSlides/notesSlide5.xml" Id="R5a450395575942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0d67af539ce4586" /><Relationship Type="http://schemas.openxmlformats.org/officeDocument/2006/relationships/notesSlide" Target="/ppt/notesSlides/notesSlide6.xml" Id="R62d8cd80bb564d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1edbea65c404b99" /><Relationship Type="http://schemas.openxmlformats.org/officeDocument/2006/relationships/notesSlide" Target="/ppt/notesSlides/notesSlide7.xml" Id="R2c384a2c57fc47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0b4e3a8d95f4011" /><Relationship Type="http://schemas.openxmlformats.org/officeDocument/2006/relationships/notesSlide" Target="/ppt/notesSlides/notesSlide8.xml" Id="R3ec3f48e616f4f8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c485eefd8044dd" /><Relationship Type="http://schemas.openxmlformats.org/officeDocument/2006/relationships/notesSlide" Target="/ppt/notesSlides/notesSlide9.xml" Id="Rb87be70d986d4d2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2ada5266b64675" /><Relationship Type="http://schemas.openxmlformats.org/officeDocument/2006/relationships/notesSlide" Target="/ppt/notesSlides/notesSlide10.xml" Id="R99bd0d667fb0454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9ff591ca18f415f" /><Relationship Type="http://schemas.openxmlformats.org/officeDocument/2006/relationships/notesSlide" Target="/ppt/notesSlides/notesSlide11.xml" Id="Rf0b363a25ef7447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1027dc231aa4c6e" /><Relationship Type="http://schemas.openxmlformats.org/officeDocument/2006/relationships/notesSlide" Target="/ppt/notesSlides/notesSlide12.xml" Id="Raad51b2ccd78445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7740f7b120e4b2f" /><Relationship Type="http://schemas.openxmlformats.org/officeDocument/2006/relationships/notesSlide" Target="/ppt/notesSlides/notesSlide13.xml" Id="Rca997f0fc8c54e4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3ba9803ebeb44d9" /><Relationship Type="http://schemas.openxmlformats.org/officeDocument/2006/relationships/notesSlide" Target="/ppt/notesSlides/notesSlide14.xml" Id="R8a8e8c769dd14c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3dcf74cddab4eba" /><Relationship Type="http://schemas.openxmlformats.org/officeDocument/2006/relationships/chart" Target="/ppt/slides/charts/chart1.xml" Id="Rc3a332c1e26f4225" /><Relationship Type="http://schemas.openxmlformats.org/officeDocument/2006/relationships/notesSlide" Target="/ppt/notesSlides/notesSlide15.xml" Id="Ra1fa292dccd240c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aee9dcd6a8d4a3d" /><Relationship Type="http://schemas.openxmlformats.org/officeDocument/2006/relationships/notesSlide" Target="/ppt/notesSlides/notesSlide16.xml" Id="R517fde802bc04d6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db4678e325f4391" /><Relationship Type="http://schemas.openxmlformats.org/officeDocument/2006/relationships/notesSlide" Target="/ppt/notesSlides/notesSlide17.xml" Id="Recbe1b6b83c24f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64b3ee2b7104008" /><Relationship Type="http://schemas.openxmlformats.org/officeDocument/2006/relationships/notesSlide" Target="/ppt/notesSlides/notesSlide18.xml" Id="Rbcdca031b66e4eb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8fe97e962eb406d" /><Relationship Type="http://schemas.openxmlformats.org/officeDocument/2006/relationships/notesSlide" Target="/ppt/notesSlides/notesSlide19.xml" Id="R820a4705a91c44e4" /></Relationships>
</file>

<file path=ppt/slides/charts/chart1.xml><?xml version="1.0" encoding="utf-8"?>
<c:chartSpace xmlns:c="http://schemas.openxmlformats.org/drawingml/2006/chart">
  <c:lang val="en-US"/>
  <c:chart>
    <c:plotArea>
      <c:lineChart>
        <c:grouping val="standard"/>
        <c:varyColors val="0"/>
        <c:ser>
          <c:idx val="0"/>
          <c:order val="0"/>
          <c:tx>
            <c:v>활성 GABA(t/년)</c:v>
          </c:tx>
          <c:spPr>
            <a:ln xmlns:a="http://schemas.openxmlformats.org/drawingml/2006/main" w="28575">
              <a:solidFill>
                <a:srgbClr val="00A878"/>
              </a:solidFill>
              <a:prstDash val="solid"/>
            </a:ln>
          </c:spPr>
          <c:marker>
            <c:symbol val="circle"/>
            <c:size val="6"/>
          </c:marker>
          <c:cat>
            <c:strLit>
              <c:ptCount val="5"/>
              <c:pt idx="0">
                <c:v>첫 모델</c:v>
              </c:pt>
              <c:pt idx="1">
                <c:v/>
              </c:pt>
              <c:pt idx="2">
                <c:v/>
              </c:pt>
              <c:pt idx="3">
                <c:v>브리지</c:v>
              </c:pt>
              <c:pt idx="4">
                <c:v/>
              </c:pt>
            </c:strLit>
          </c:cat>
          <c:val>
            <c:numLit>
              <c:formatCode>0.0</c:formatCode>
              <c:ptCount val="5"/>
              <c:pt idx="0">
                <c:v>4.188</c:v>
              </c:pt>
              <c:pt idx="1">
                <c:v>4.188</c:v>
              </c:pt>
              <c:pt idx="2">
                <c:v>4.188</c:v>
              </c:pt>
              <c:pt idx="3">
                <c:v>11.944</c:v>
              </c:pt>
              <c:pt idx="4">
                <c:v>11.944</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14"/>
          <c:min val="0"/>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2"/>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CEC8634E-8608-4CFC-AABB-C79CBFD2183A}"/>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한 가지 재고로 시작해,</a:t>
            </a:r>
          </a:p>
          <a:p xmlns:a="http://schemas.openxmlformats.org/drawingml/2006/main">
            <a:pPr algn="l">
              <a:buNone/>
              <a:defRPr sz="6000">
                <a:solidFill>
                  <a:srgbClr val="000000"/>
                </a:solidFill>
                <a:latin typeface="Helvetica Neue"/>
                <a:ea typeface="Helvetica Neue"/>
                <a:cs typeface="Helvetica Neue"/>
              </a:defRPr>
            </a:pPr>
            <a:r>
              <a:t>주문에 맞춰 네 규격을 만든다</a:t>
            </a:r>
          </a:p>
        </p:txBody>
      </p:sp>
      <p:sp>
        <p:nvSpPr>
          <p:cNvPr id="2" name="Subtitle-4-2">
            <a:extLst xmlns:a="http://schemas.openxmlformats.org/drawingml/2006/main">
              <a:ext uri="{FF2B5EF4-FFF2-40B4-BE49-F238E27FC236}">
                <a16:creationId xmlns:a16="http://schemas.microsoft.com/office/drawing/2014/main" id="{362AD5FE-C022-4A84-8566-7192195AE44D}"/>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마스터만 재고 · 5·10·15·20% 제품은 주문 후 OEM 생산</a:t>
            </a:r>
          </a:p>
          <a:p xmlns:a="http://schemas.openxmlformats.org/drawingml/2006/main">
            <a:pPr algn="l">
              <a:buNone/>
              <a:defRPr sz="2400">
                <a:solidFill>
                  <a:srgbClr val="000000"/>
                </a:solidFill>
                <a:latin typeface="Helvetica Neue"/>
                <a:ea typeface="Helvetica Neue"/>
                <a:cs typeface="Helvetica Neue"/>
              </a:defRPr>
            </a:pPr>
            <a:r>
              <a:t>규제·제품 근거·OEM 조건·반복 주문을 확인한 뒤 확대</a:t>
            </a:r>
          </a:p>
        </p:txBody>
      </p:sp>
      <p:sp>
        <p:nvSpPr>
          <p:cNvPr id="3" name="Subtitle-4-3">
            <a:extLst xmlns:a="http://schemas.openxmlformats.org/drawingml/2006/main">
              <a:ext uri="{FF2B5EF4-FFF2-40B4-BE49-F238E27FC236}">
                <a16:creationId xmlns:a16="http://schemas.microsoft.com/office/drawing/2014/main" id="{A8CDEDD7-7EBB-4481-B233-7DADAAE8D654}"/>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사업 검증 발표자료 · 2026.08</a:t>
            </a:r>
          </a:p>
        </p:txBody>
      </p:sp>
      <p:sp>
        <p:nvSpPr>
          <p:cNvPr id="4" name="brand-rule-1">
            <a:extLst xmlns:a="http://schemas.openxmlformats.org/drawingml/2006/main">
              <a:ext uri="{FF2B5EF4-FFF2-40B4-BE49-F238E27FC236}">
                <a16:creationId xmlns:a16="http://schemas.microsoft.com/office/drawing/2014/main" id="{CA1F29A9-BADD-4BED-BF68-8B0C79487B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
            <a:extLst xmlns:a="http://schemas.openxmlformats.org/drawingml/2006/main">
              <a:ext uri="{FF2B5EF4-FFF2-40B4-BE49-F238E27FC236}">
                <a16:creationId xmlns:a16="http://schemas.microsoft.com/office/drawing/2014/main" id="{FF036762-6761-4834-ADCD-DA129152364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01 | THESIS</a:t>
            </a:r>
          </a:p>
        </p:txBody>
      </p:sp>
    </p:spTree>
    <p:extLst>
      <p:ext uri="{BB962C8B-B14F-4D97-AF65-F5344CB8AC3E}">
        <p14:creationId xmlns:p14="http://schemas.microsoft.com/office/powerpoint/2010/main" val="69088520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4E73852B-3E73-49A0-9BFA-C1069C65A177}"/>
              </a:ext>
            </a:extLst>
          </p:cNvPr>
          <p:cNvSpPr>
            <a:spLocks xmlns:a="http://schemas.openxmlformats.org/drawingml/2006/main" noGrp="1"/>
          </p:cNvSpPr>
          <p:nvPr/>
        </p:nvSpPr>
        <p:spPr>
          <a:xfrm xmlns:a="http://schemas.openxmlformats.org/drawingml/2006/main">
            <a:off x="393668" y="2579942"/>
            <a:ext cx="9448800" cy="3624263"/>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재고는 한 종류만,</a:t>
            </a:r>
          </a:p>
          <a:p xmlns:a="http://schemas.openxmlformats.org/drawingml/2006/main">
            <a:pPr algn="l">
              <a:buNone/>
              <a:defRPr sz="6000">
                <a:solidFill>
                  <a:srgbClr val="000000"/>
                </a:solidFill>
                <a:latin typeface="Helvetica Neue"/>
                <a:ea typeface="Helvetica Neue"/>
                <a:cs typeface="Helvetica Neue"/>
              </a:defRPr>
            </a:pPr>
            <a:r>
              <a:t>네 가지 확인 후 투자한다</a:t>
            </a:r>
          </a:p>
        </p:txBody>
      </p:sp>
      <p:sp>
        <p:nvSpPr>
          <p:cNvPr id="2" name="Subtitle-4-2">
            <a:extLst xmlns:a="http://schemas.openxmlformats.org/drawingml/2006/main">
              <a:ext uri="{FF2B5EF4-FFF2-40B4-BE49-F238E27FC236}">
                <a16:creationId xmlns:a16="http://schemas.microsoft.com/office/drawing/2014/main" id="{41D73F4A-10CA-4BEC-8903-349333AA7EF9}"/>
              </a:ext>
            </a:extLst>
          </p:cNvPr>
          <p:cNvSpPr>
            <a:spLocks xmlns:a="http://schemas.openxmlformats.org/drawingml/2006/main" noGrp="1"/>
          </p:cNvSpPr>
          <p:nvPr/>
        </p:nvSpPr>
        <p:spPr>
          <a:xfrm xmlns:a="http://schemas.openxmlformats.org/drawingml/2006/main">
            <a:off x="393668" y="392240"/>
            <a:ext cx="6157817"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MASTER + MAKE-TO-ORDER OEM</a:t>
            </a:r>
          </a:p>
        </p:txBody>
      </p:sp>
      <p:sp>
        <p:nvSpPr>
          <p:cNvPr id="3" name="Subtitle-4-3">
            <a:extLst xmlns:a="http://schemas.openxmlformats.org/drawingml/2006/main">
              <a:ext uri="{FF2B5EF4-FFF2-40B4-BE49-F238E27FC236}">
                <a16:creationId xmlns:a16="http://schemas.microsoft.com/office/drawing/2014/main" id="{DF9034B2-BA94-4EB3-B461-4FBB5F96BACA}"/>
              </a:ext>
            </a:extLst>
          </p:cNvPr>
          <p:cNvSpPr>
            <a:spLocks xmlns:a="http://schemas.openxmlformats.org/drawingml/2006/main" noGrp="1"/>
          </p:cNvSpPr>
          <p:nvPr/>
        </p:nvSpPr>
        <p:spPr>
          <a:xfrm xmlns:a="http://schemas.openxmlformats.org/drawingml/2006/main">
            <a:off x="7886700" y="392240"/>
            <a:ext cx="39116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준비도 41/100 · 검증 단계</a:t>
            </a:r>
          </a:p>
        </p:txBody>
      </p:sp>
      <p:sp>
        <p:nvSpPr>
          <p:cNvPr id="4" name="brand-rule-2">
            <a:extLst xmlns:a="http://schemas.openxmlformats.org/drawingml/2006/main">
              <a:ext uri="{FF2B5EF4-FFF2-40B4-BE49-F238E27FC236}">
                <a16:creationId xmlns:a16="http://schemas.microsoft.com/office/drawing/2014/main" id="{25713A14-BD67-4D51-87F2-93F34382ACE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2">
            <a:extLst xmlns:a="http://schemas.openxmlformats.org/drawingml/2006/main">
              <a:ext uri="{FF2B5EF4-FFF2-40B4-BE49-F238E27FC236}">
                <a16:creationId xmlns:a16="http://schemas.microsoft.com/office/drawing/2014/main" id="{E9521AF2-7264-4CC8-AEBF-DEB9799FF56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02 | EXECUTIVE THESIS</a:t>
            </a:r>
          </a:p>
        </p:txBody>
      </p:sp>
    </p:spTree>
    <p:extLst>
      <p:ext uri="{BB962C8B-B14F-4D97-AF65-F5344CB8AC3E}">
        <p14:creationId xmlns:p14="http://schemas.microsoft.com/office/powerpoint/2010/main" val="5048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완제품 네 종류 대신, 품질을 확인할 수 있는 마스터만 보유한다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원배양액</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20% 마스터</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제품</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기본 재고</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로트·CoA 관리</a:t>
            </a:r>
          </a:p>
          <a:p xmlns:a="http://schemas.openxmlformats.org/drawingml/2006/main">
            <a:pPr algn="l">
              <a:buNone/>
              <a:defRPr sz="2400">
                <a:solidFill>
                  <a:srgbClr val="000000"/>
                </a:solidFill>
                <a:latin typeface="Helvetica Neue"/>
                <a:ea typeface="Helvetica Neue"/>
                <a:cs typeface="Helvetica Neue"/>
              </a:defRPr>
            </a:pPr>
            <a:r>
              <a:t>FIFO 출고</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보류</a:t>
            </a:r>
          </a:p>
          <a:p xmlns:a="http://schemas.openxmlformats.org/drawingml/2006/main">
            <a:pPr algn="l">
              <a:buNone/>
              <a:defRPr sz="2400">
                <a:solidFill>
                  <a:srgbClr val="000000"/>
                </a:solidFill>
                <a:latin typeface="Helvetica Neue"/>
                <a:ea typeface="Helvetica Neue"/>
                <a:cs typeface="Helvetica Neue"/>
              </a:defRPr>
            </a:pPr>
            <a:r>
              <a:t>역가·미생물 변동</a:t>
            </a:r>
          </a:p>
          <a:p xmlns:a="http://schemas.openxmlformats.org/drawingml/2006/main">
            <a:pPr algn="l">
              <a:buNone/>
              <a:defRPr sz="2400">
                <a:solidFill>
                  <a:srgbClr val="000000"/>
                </a:solidFill>
                <a:latin typeface="Helvetica Neue"/>
                <a:ea typeface="Helvetica Neue"/>
                <a:cs typeface="Helvetica Neue"/>
              </a:defRPr>
            </a:pPr>
            <a:r>
              <a:t>보존·운송 불확실</a:t>
            </a:r>
          </a:p>
          <a:p xmlns:a="http://schemas.openxmlformats.org/drawingml/2006/main">
            <a:pPr algn="l">
              <a:buNone/>
              <a:defRPr sz="2400">
                <a:solidFill>
                  <a:srgbClr val="000000"/>
                </a:solidFill>
                <a:latin typeface="Helvetica Neue"/>
                <a:ea typeface="Helvetica Neue"/>
                <a:cs typeface="Helvetica Neue"/>
              </a:defRPr>
            </a:pPr>
            <a:r>
              <a:t>직납 기본안 아님</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PO 후 생산</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혼합·포장</a:t>
            </a:r>
          </a:p>
          <a:p xmlns:a="http://schemas.openxmlformats.org/drawingml/2006/main">
            <a:pPr algn="l">
              <a:buNone/>
              <a:defRPr sz="2400">
                <a:solidFill>
                  <a:srgbClr val="000000"/>
                </a:solidFill>
                <a:latin typeface="Helvetica Neue"/>
                <a:ea typeface="Helvetica Neue"/>
                <a:cs typeface="Helvetica Neue"/>
              </a:defRPr>
            </a:pPr>
            <a:r>
              <a:t>미리 만든 완제품 0kg</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03 | INVENTORY ANSWER</a:t>
            </a:r>
          </a:p>
        </p:txBody>
      </p:sp>
    </p:spTree>
    <p:extLst>
      <p:ext uri="{BB962C8B-B14F-4D97-AF65-F5344CB8AC3E}">
        <p14:creationId xmlns:p14="http://schemas.microsoft.com/office/powerpoint/2010/main" val="116188389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배양액을 표준 마스터로 만든 뒤, 고객 주문에 맞춰 제품화한다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공통 중간물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단일 재고 SKU</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매출</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마스터</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내부 생산·보관</a:t>
            </a:r>
          </a:p>
          <a:p xmlns:a="http://schemas.openxmlformats.org/drawingml/2006/main">
            <a:pPr algn="l">
              <a:buNone/>
              <a:defRPr sz="2400">
                <a:solidFill>
                  <a:srgbClr val="000000"/>
                </a:solidFill>
                <a:latin typeface="Helvetica Neue"/>
                <a:ea typeface="Helvetica Neue"/>
                <a:cs typeface="Helvetica Neue"/>
              </a:defRPr>
            </a:pPr>
            <a:r>
              <a:t>규격의 기준점</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발효배양액</a:t>
            </a:r>
          </a:p>
          <a:p xmlns:a="http://schemas.openxmlformats.org/drawingml/2006/main">
            <a:pPr algn="l">
              <a:buNone/>
              <a:defRPr sz="2400">
                <a:solidFill>
                  <a:srgbClr val="000000"/>
                </a:solidFill>
                <a:latin typeface="Helvetica Neue"/>
                <a:ea typeface="Helvetica Neue"/>
                <a:cs typeface="Helvetica Neue"/>
              </a:defRPr>
            </a:pPr>
            <a:r>
              <a:t>GABA·고형분 생성</a:t>
            </a:r>
          </a:p>
          <a:p xmlns:a="http://schemas.openxmlformats.org/drawingml/2006/main">
            <a:pPr algn="l">
              <a:buNone/>
              <a:defRPr sz="2400">
                <a:solidFill>
                  <a:srgbClr val="000000"/>
                </a:solidFill>
                <a:latin typeface="Helvetica Neue"/>
                <a:ea typeface="Helvetica Neue"/>
                <a:cs typeface="Helvetica Neue"/>
              </a:defRPr>
            </a:pPr>
            <a:r>
              <a:t>품질 변동 관리</a:t>
            </a:r>
          </a:p>
          <a:p xmlns:a="http://schemas.openxmlformats.org/drawingml/2006/main">
            <a:pPr algn="l">
              <a:buNone/>
              <a:defRPr sz="2400">
                <a:solidFill>
                  <a:srgbClr val="000000"/>
                </a:solidFill>
                <a:latin typeface="Helvetica Neue"/>
                <a:ea typeface="Helvetica Neue"/>
                <a:cs typeface="Helvetica Neue"/>
              </a:defRPr>
            </a:pPr>
            <a:r>
              <a:t>직접 판매는 보류</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완제품</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담체·포장 맞춤</a:t>
            </a:r>
          </a:p>
          <a:p xmlns:a="http://schemas.openxmlformats.org/drawingml/2006/main">
            <a:pPr algn="l">
              <a:buNone/>
              <a:defRPr sz="2400">
                <a:solidFill>
                  <a:srgbClr val="000000"/>
                </a:solidFill>
                <a:latin typeface="Helvetica Neue"/>
                <a:ea typeface="Helvetica Neue"/>
                <a:cs typeface="Helvetica Neue"/>
              </a:defRPr>
            </a:pPr>
            <a:r>
              <a:t>고객 PO 후 생산</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04 | MASTER-TO-ORDER</a:t>
            </a:r>
          </a:p>
        </p:txBody>
      </p:sp>
    </p:spTree>
    <p:extLst>
      <p:ext uri="{BB962C8B-B14F-4D97-AF65-F5344CB8AC3E}">
        <p14:creationId xmlns:p14="http://schemas.microsoft.com/office/powerpoint/2010/main" val="116188389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kg당 9,240원의 세부 원가는 아직 확인되지 않았다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배양액 원가</a:t>
            </a:r>
          </a:p>
          <a:p xmlns:a="http://schemas.openxmlformats.org/drawingml/2006/main">
            <a:pPr algn="l">
              <a:buNone/>
              <a:defRPr sz="2400">
                <a:solidFill>
                  <a:srgbClr val="000000"/>
                </a:solidFill>
                <a:latin typeface="Helvetica Neue"/>
                <a:ea typeface="Helvetica Neue"/>
                <a:cs typeface="Helvetica Neue"/>
              </a:defRPr>
            </a:pPr>
            <a:r>
              <a:t>1톤/1,000L</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함량</a:t>
            </a:r>
          </a:p>
          <a:p xmlns:a="http://schemas.openxmlformats.org/drawingml/2006/main">
            <a:pPr algn="l">
              <a:buNone/>
              <a:defRPr sz="2400">
                <a:solidFill>
                  <a:srgbClr val="000000"/>
                </a:solidFill>
                <a:latin typeface="Helvetica Neue"/>
                <a:ea typeface="Helvetica Neue"/>
                <a:cs typeface="Helvetica Neue"/>
              </a:defRPr>
            </a:pPr>
            <a:r>
              <a:t>배양액 1톤</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건조 고형분</a:t>
            </a:r>
          </a:p>
          <a:p xmlns:a="http://schemas.openxmlformats.org/drawingml/2006/main">
            <a:pPr algn="l">
              <a:buNone/>
              <a:defRPr sz="2400">
                <a:solidFill>
                  <a:srgbClr val="000000"/>
                </a:solidFill>
                <a:latin typeface="Helvetica Neue"/>
                <a:ea typeface="Helvetica Neue"/>
                <a:cs typeface="Helvetica Neue"/>
              </a:defRPr>
            </a:pPr>
            <a:r>
              <a:t>회수량</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400만원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300kg</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100kg</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원본: 1,000L×4,000원/L · ※ 건조·부형제·검사·포장·수율 비용의 반영 여부는 아직 확인되지 않음</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05 | COST BRIDGE</a:t>
            </a:r>
          </a:p>
        </p:txBody>
      </p:sp>
    </p:spTree>
    <p:extLst>
      <p:ext uri="{BB962C8B-B14F-4D97-AF65-F5344CB8AC3E}">
        <p14:creationId xmlns:p14="http://schemas.microsoft.com/office/powerpoint/2010/main" val="13643171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20% 마스터만 재고로 두면 폐기와 사양 변경 위험을 줄일 수 있다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생산 단위</a:t>
            </a:r>
          </a:p>
          <a:p xmlns:a="http://schemas.openxmlformats.org/drawingml/2006/main">
            <a:pPr algn="l">
              <a:buNone/>
              <a:defRPr sz="2400">
                <a:solidFill>
                  <a:srgbClr val="000000"/>
                </a:solidFill>
                <a:latin typeface="Helvetica Neue"/>
                <a:ea typeface="Helvetica Neue"/>
                <a:cs typeface="Helvetica Neue"/>
              </a:defRPr>
            </a:pPr>
            <a:r>
              <a:t>배양액→20% 마스터</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로트별 승인</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재고 관리</a:t>
            </a:r>
          </a:p>
          <a:p xmlns:a="http://schemas.openxmlformats.org/drawingml/2006/main">
            <a:pPr algn="l">
              <a:buNone/>
              <a:defRPr sz="2400">
                <a:solidFill>
                  <a:srgbClr val="000000"/>
                </a:solidFill>
                <a:latin typeface="Helvetica Neue"/>
                <a:ea typeface="Helvetica Neue"/>
                <a:cs typeface="Helvetica Neue"/>
              </a:defRPr>
            </a:pPr>
            <a:r>
              <a:t>CoA(성적서)</a:t>
            </a:r>
          </a:p>
          <a:p xmlns:a="http://schemas.openxmlformats.org/drawingml/2006/main">
            <a:pPr algn="l">
              <a:buNone/>
              <a:defRPr sz="2400">
                <a:solidFill>
                  <a:srgbClr val="000000"/>
                </a:solidFill>
                <a:latin typeface="Helvetica Neue"/>
                <a:ea typeface="Helvetica Neue"/>
                <a:cs typeface="Helvetica Neue"/>
              </a:defRPr>
            </a:pPr>
            <a:r>
              <a:t>유통기한·안전재고</a:t>
            </a:r>
          </a:p>
          <a:p xmlns:a="http://schemas.openxmlformats.org/drawingml/2006/main">
            <a:pPr algn="l">
              <a:buNone/>
              <a:defRPr sz="2400">
                <a:solidFill>
                  <a:srgbClr val="000000"/>
                </a:solidFill>
                <a:latin typeface="Helvetica Neue"/>
                <a:ea typeface="Helvetica Neue"/>
                <a:cs typeface="Helvetica Neue"/>
              </a:defRPr>
            </a:pPr>
            <a:r>
              <a:t>FIFO(선입선출)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완제품 무재고</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전 0kg</a:t>
            </a:r>
          </a:p>
          <a:p xmlns:a="http://schemas.openxmlformats.org/drawingml/2006/main">
            <a:pPr algn="l">
              <a:buNone/>
              <a:defRPr sz="2400">
                <a:solidFill>
                  <a:srgbClr val="000000"/>
                </a:solidFill>
                <a:latin typeface="Helvetica Neue"/>
                <a:ea typeface="Helvetica Neue"/>
                <a:cs typeface="Helvetica Neue"/>
              </a:defRPr>
            </a:pPr>
            <a:r>
              <a:t>사양폐기 최소화</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출고 원칙</a:t>
            </a:r>
          </a:p>
          <a:p xmlns:a="http://schemas.openxmlformats.org/drawingml/2006/main">
            <a:pPr algn="l">
              <a:buNone/>
              <a:defRPr sz="2400">
                <a:solidFill>
                  <a:srgbClr val="000000"/>
                </a:solidFill>
                <a:latin typeface="Helvetica Neue"/>
                <a:ea typeface="Helvetica Neue"/>
                <a:cs typeface="Helvetica Neue"/>
              </a:defRPr>
            </a:pPr>
            <a:r>
              <a:t>PO(발주서) 승인</a:t>
            </a:r>
          </a:p>
          <a:p xmlns:a="http://schemas.openxmlformats.org/drawingml/2006/main">
            <a:pPr algn="l">
              <a:buNone/>
              <a:defRPr sz="2400">
                <a:solidFill>
                  <a:srgbClr val="000000"/>
                </a:solidFill>
                <a:latin typeface="Helvetica Neue"/>
                <a:ea typeface="Helvetica Neue"/>
                <a:cs typeface="Helvetica Neue"/>
              </a:defRPr>
            </a:pPr>
            <a:r>
              <a:t>MOQ·납기 확인</a:t>
            </a:r>
          </a:p>
          <a:p xmlns:a="http://schemas.openxmlformats.org/drawingml/2006/main">
            <a:pPr algn="l">
              <a:buNone/>
              <a:defRPr sz="2400">
                <a:solidFill>
                  <a:srgbClr val="000000"/>
                </a:solidFill>
                <a:latin typeface="Helvetica Neue"/>
                <a:ea typeface="Helvetica Neue"/>
                <a:cs typeface="Helvetica Neue"/>
              </a:defRPr>
            </a:pPr>
            <a:r>
              <a:t>그 뒤 OEM 생산</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06 | SINGLE-SKU POLICY</a:t>
            </a:r>
          </a:p>
        </p:txBody>
      </p:sp>
    </p:spTree>
    <p:extLst>
      <p:ext uri="{BB962C8B-B14F-4D97-AF65-F5344CB8AC3E}">
        <p14:creationId xmlns:p14="http://schemas.microsoft.com/office/powerpoint/2010/main" val="1604558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발주서와 제품 규격을 확인한 뒤 OEM 생산을 시작한다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발주서·규격 확정</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출고</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OEM 완제품화</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필요량 계산</a:t>
            </a:r>
          </a:p>
          <a:p xmlns:a="http://schemas.openxmlformats.org/drawingml/2006/main">
            <a:pPr algn="l">
              <a:buNone/>
              <a:defRPr sz="2400">
                <a:solidFill>
                  <a:srgbClr val="000000"/>
                </a:solidFill>
                <a:latin typeface="Helvetica Neue"/>
                <a:ea typeface="Helvetica Neue"/>
                <a:cs typeface="Helvetica Neue"/>
              </a:defRPr>
            </a:pPr>
            <a:r>
              <a:t>로트 지정·출고</a:t>
            </a:r>
          </a:p>
          <a:p xmlns:a="http://schemas.openxmlformats.org/drawingml/2006/main">
            <a:pPr algn="l">
              <a:buNone/>
              <a:defRPr sz="2400">
                <a:solidFill>
                  <a:srgbClr val="000000"/>
                </a:solidFill>
                <a:latin typeface="Helvetica Neue"/>
                <a:ea typeface="Helvetica Neue"/>
                <a:cs typeface="Helvetica Neue"/>
              </a:defRPr>
            </a:pPr>
            <a:r>
              <a:t>희석비 확정</a:t>
            </a:r>
          </a:p>
          <a:p xmlns:a="http://schemas.openxmlformats.org/drawingml/2006/main">
            <a:pPr algn="l">
              <a:buNone/>
              <a:defRPr sz="2400">
                <a:solidFill>
                  <a:srgbClr val="000000"/>
                </a:solidFill>
                <a:latin typeface="Helvetica Neue"/>
                <a:ea typeface="Helvetica Neue"/>
                <a:cs typeface="Helvetica Neue"/>
              </a:defRPr>
            </a:pPr>
            <a:r>
              <a:t>OEM 입고검사</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농도·수량</a:t>
            </a:r>
          </a:p>
          <a:p xmlns:a="http://schemas.openxmlformats.org/drawingml/2006/main">
            <a:pPr algn="l">
              <a:buNone/>
              <a:defRPr sz="2400">
                <a:solidFill>
                  <a:srgbClr val="000000"/>
                </a:solidFill>
                <a:latin typeface="Helvetica Neue"/>
                <a:ea typeface="Helvetica Neue"/>
                <a:cs typeface="Helvetica Neue"/>
              </a:defRPr>
            </a:pPr>
            <a:r>
              <a:t>담체·포장단위</a:t>
            </a:r>
          </a:p>
          <a:p xmlns:a="http://schemas.openxmlformats.org/drawingml/2006/main">
            <a:pPr algn="l">
              <a:buNone/>
              <a:defRPr sz="2400">
                <a:solidFill>
                  <a:srgbClr val="000000"/>
                </a:solidFill>
                <a:latin typeface="Helvetica Neue"/>
                <a:ea typeface="Helvetica Neue"/>
                <a:cs typeface="Helvetica Neue"/>
              </a:defRPr>
            </a:pPr>
            <a:r>
              <a:t>표시사항·CoA</a:t>
            </a:r>
          </a:p>
          <a:p xmlns:a="http://schemas.openxmlformats.org/drawingml/2006/main">
            <a:pPr algn="l">
              <a:buNone/>
              <a:defRPr sz="2400">
                <a:solidFill>
                  <a:srgbClr val="000000"/>
                </a:solidFill>
                <a:latin typeface="Helvetica Neue"/>
                <a:ea typeface="Helvetica Neue"/>
                <a:cs typeface="Helvetica Neue"/>
              </a:defRPr>
            </a:pPr>
            <a:r>
              <a:t>선금/발주 확정</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혼합·포장</a:t>
            </a:r>
          </a:p>
          <a:p xmlns:a="http://schemas.openxmlformats.org/drawingml/2006/main">
            <a:pPr algn="l">
              <a:buNone/>
              <a:defRPr sz="2400">
                <a:solidFill>
                  <a:srgbClr val="000000"/>
                </a:solidFill>
                <a:latin typeface="Helvetica Neue"/>
                <a:ea typeface="Helvetica Neue"/>
                <a:cs typeface="Helvetica Neue"/>
              </a:defRPr>
            </a:pPr>
            <a:r>
              <a:t>성분·안전성 검사</a:t>
            </a:r>
          </a:p>
          <a:p xmlns:a="http://schemas.openxmlformats.org/drawingml/2006/main">
            <a:pPr algn="l">
              <a:buNone/>
              <a:defRPr sz="2400">
                <a:solidFill>
                  <a:srgbClr val="000000"/>
                </a:solidFill>
                <a:latin typeface="Helvetica Neue"/>
                <a:ea typeface="Helvetica Neue"/>
                <a:cs typeface="Helvetica Neue"/>
              </a:defRPr>
            </a:pPr>
            <a:r>
              <a:t>CoA 발행·직송</a:t>
            </a:r>
          </a:p>
          <a:p xmlns:a="http://schemas.openxmlformats.org/drawingml/2006/main">
            <a:pPr algn="l">
              <a:buNone/>
              <a:defRPr sz="2400">
                <a:solidFill>
                  <a:srgbClr val="000000"/>
                </a:solidFill>
                <a:latin typeface="Helvetica Neue"/>
                <a:ea typeface="Helvetica Neue"/>
                <a:cs typeface="Helvetica Neue"/>
              </a:defRPr>
            </a:pPr>
            <a:r>
              <a:t>잔량 비축 금지</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07 | MAKE-TO-ORDER FLOW</a:t>
            </a:r>
          </a:p>
        </p:txBody>
      </p:sp>
    </p:spTree>
    <p:extLst>
      <p:ext uri="{BB962C8B-B14F-4D97-AF65-F5344CB8AC3E}">
        <p14:creationId xmlns:p14="http://schemas.microsoft.com/office/powerpoint/2010/main" val="1161883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계약 전에 품목 분류와 공장 품질 체계를 서면으로 확인한다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a:t>
            </a:r>
          </a:p>
          <a:p xmlns:a="http://schemas.openxmlformats.org/drawingml/2006/main">
            <a:pPr algn="l">
              <a:buNone/>
              <a:defRPr sz="2400">
                <a:solidFill>
                  <a:srgbClr val="000000"/>
                </a:solidFill>
                <a:latin typeface="Helvetica Neue"/>
                <a:ea typeface="Helvetica Neue"/>
                <a:cs typeface="Helvetica Neue"/>
              </a:defRPr>
            </a:pPr>
            <a:r>
              <a:t>원료 명칭·품목 분류</a:t>
            </a:r>
          </a:p>
          <a:p xmlns:a="http://schemas.openxmlformats.org/drawingml/2006/main">
            <a:pPr algn="l">
              <a:buNone/>
              <a:defRPr sz="2400">
                <a:solidFill>
                  <a:srgbClr val="000000"/>
                </a:solidFill>
                <a:latin typeface="Helvetica Neue"/>
                <a:ea typeface="Helvetica Neue"/>
                <a:cs typeface="Helvetica Neue"/>
              </a:defRPr>
            </a:pPr>
            <a:r>
              <a:t>제조·성분 등록</a:t>
            </a:r>
          </a:p>
          <a:p xmlns:a="http://schemas.openxmlformats.org/drawingml/2006/main">
            <a:pPr algn="l">
              <a:buNone/>
              <a:defRPr sz="2400">
                <a:solidFill>
                  <a:srgbClr val="000000"/>
                </a:solidFill>
                <a:latin typeface="Helvetica Neue"/>
                <a:ea typeface="Helvetica Neue"/>
                <a:cs typeface="Helvetica Neue"/>
              </a:defRPr>
            </a:pPr>
            <a:r>
              <a:t>표시 가능 문구</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규격</a:t>
            </a:r>
          </a:p>
          <a:p xmlns:a="http://schemas.openxmlformats.org/drawingml/2006/main">
            <a:pPr algn="l">
              <a:buNone/>
              <a:defRPr sz="2400">
                <a:solidFill>
                  <a:srgbClr val="000000"/>
                </a:solidFill>
                <a:latin typeface="Helvetica Neue"/>
                <a:ea typeface="Helvetica Neue"/>
                <a:cs typeface="Helvetica Neue"/>
              </a:defRPr>
            </a:pPr>
            <a:r>
              <a:t>GABA 활성함량</a:t>
            </a:r>
          </a:p>
          <a:p xmlns:a="http://schemas.openxmlformats.org/drawingml/2006/main">
            <a:pPr algn="l">
              <a:buNone/>
              <a:defRPr sz="2400">
                <a:solidFill>
                  <a:srgbClr val="000000"/>
                </a:solidFill>
                <a:latin typeface="Helvetica Neue"/>
                <a:ea typeface="Helvetica Neue"/>
                <a:cs typeface="Helvetica Neue"/>
              </a:defRPr>
            </a:pPr>
            <a:r>
              <a:t>로트별 CoA</a:t>
            </a:r>
          </a:p>
          <a:p xmlns:a="http://schemas.openxmlformats.org/drawingml/2006/main">
            <a:pPr algn="l">
              <a:buNone/>
              <a:defRPr sz="2400">
                <a:solidFill>
                  <a:srgbClr val="000000"/>
                </a:solidFill>
                <a:latin typeface="Helvetica Neue"/>
                <a:ea typeface="Helvetica Neue"/>
                <a:cs typeface="Helvetica Neue"/>
              </a:defRPr>
            </a:pPr>
            <a:r>
              <a:t>안정성·보존기한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공장 적합</a:t>
            </a:r>
          </a:p>
          <a:p xmlns:a="http://schemas.openxmlformats.org/drawingml/2006/main">
            <a:pPr algn="l">
              <a:buNone/>
              <a:defRPr sz="2400">
                <a:solidFill>
                  <a:srgbClr val="000000"/>
                </a:solidFill>
                <a:latin typeface="Helvetica Neue"/>
                <a:ea typeface="Helvetica Neue"/>
                <a:cs typeface="Helvetica Neue"/>
              </a:defRPr>
            </a:pPr>
            <a:r>
              <a:t>정량투입·균일혼합</a:t>
            </a:r>
          </a:p>
          <a:p xmlns:a="http://schemas.openxmlformats.org/drawingml/2006/main">
            <a:pPr algn="l">
              <a:buNone/>
              <a:defRPr sz="2400">
                <a:solidFill>
                  <a:srgbClr val="000000"/>
                </a:solidFill>
                <a:latin typeface="Helvetica Neue"/>
                <a:ea typeface="Helvetica Neue"/>
                <a:cs typeface="Helvetica Neue"/>
              </a:defRPr>
            </a:pPr>
            <a:r>
              <a:t>펠렛 영향·세척</a:t>
            </a:r>
          </a:p>
          <a:p xmlns:a="http://schemas.openxmlformats.org/drawingml/2006/main">
            <a:pPr algn="l">
              <a:buNone/>
              <a:defRPr sz="2400">
                <a:solidFill>
                  <a:srgbClr val="000000"/>
                </a:solidFill>
                <a:latin typeface="Helvetica Neue"/>
                <a:ea typeface="Helvetica Neue"/>
                <a:cs typeface="Helvetica Neue"/>
              </a:defRPr>
            </a:pPr>
            <a:r>
              <a:t>변경관리</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공급·회수</a:t>
            </a:r>
          </a:p>
          <a:p xmlns:a="http://schemas.openxmlformats.org/drawingml/2006/main">
            <a:pPr algn="l">
              <a:buNone/>
              <a:defRPr sz="2400">
                <a:solidFill>
                  <a:srgbClr val="000000"/>
                </a:solidFill>
                <a:latin typeface="Helvetica Neue"/>
                <a:ea typeface="Helvetica Neue"/>
                <a:cs typeface="Helvetica Neue"/>
              </a:defRPr>
            </a:pPr>
            <a:r>
              <a:t>로트 추적·회수</a:t>
            </a:r>
          </a:p>
          <a:p xmlns:a="http://schemas.openxmlformats.org/drawingml/2006/main">
            <a:pPr algn="l">
              <a:buNone/>
              <a:defRPr sz="2400">
                <a:solidFill>
                  <a:srgbClr val="000000"/>
                </a:solidFill>
                <a:latin typeface="Helvetica Neue"/>
                <a:ea typeface="Helvetica Neue"/>
                <a:cs typeface="Helvetica Neue"/>
              </a:defRPr>
            </a:pPr>
            <a:r>
              <a:t>MOQ·납기</a:t>
            </a:r>
          </a:p>
          <a:p xmlns:a="http://schemas.openxmlformats.org/drawingml/2006/main">
            <a:pPr algn="l">
              <a:buNone/>
              <a:defRPr sz="2400">
                <a:solidFill>
                  <a:srgbClr val="000000"/>
                </a:solidFill>
                <a:latin typeface="Helvetica Neue"/>
                <a:ea typeface="Helvetica Neue"/>
                <a:cs typeface="Helvetica Neue"/>
              </a:defRPr>
            </a:pPr>
            <a:r>
              <a:t>반품 조건</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08 | REGULATORY &amp; QA GATES</a:t>
            </a:r>
          </a:p>
        </p:txBody>
      </p:sp>
    </p:spTree>
    <p:extLst>
      <p:ext uri="{BB962C8B-B14F-4D97-AF65-F5344CB8AC3E}">
        <p14:creationId xmlns:p14="http://schemas.microsoft.com/office/powerpoint/2010/main" val="1604558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GABA 가능성은 보이지만, 효과는 축종·제형·용량마다 달랐다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젖소 열스트레스</a:t>
            </a:r>
          </a:p>
          <a:p xmlns:a="http://schemas.openxmlformats.org/drawingml/2006/main">
            <a:pPr algn="l">
              <a:buNone/>
              <a:defRPr sz="2400">
                <a:solidFill>
                  <a:srgbClr val="000000"/>
                </a:solidFill>
                <a:latin typeface="Helvetica Neue"/>
                <a:ea typeface="Helvetica Neue"/>
                <a:cs typeface="Helvetica Neue"/>
              </a:defRPr>
            </a:pPr>
            <a:r>
              <a:t>RP-GABA·18두</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넙치 염분스트레스</a:t>
            </a:r>
          </a:p>
          <a:p xmlns:a="http://schemas.openxmlformats.org/drawingml/2006/main">
            <a:pPr algn="l">
              <a:buNone/>
              <a:defRPr sz="2400">
                <a:solidFill>
                  <a:srgbClr val="000000"/>
                </a:solidFill>
                <a:latin typeface="Helvetica Neue"/>
                <a:ea typeface="Helvetica Neue"/>
                <a:cs typeface="Helvetica Neue"/>
              </a:defRPr>
            </a:pPr>
            <a:r>
              <a:t>8주·9수조</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비육 한우</a:t>
            </a:r>
          </a:p>
          <a:p xmlns:a="http://schemas.openxmlformats.org/drawingml/2006/main">
            <a:pPr algn="l">
              <a:buNone/>
              <a:defRPr sz="2400">
                <a:solidFill>
                  <a:srgbClr val="000000"/>
                </a:solidFill>
                <a:latin typeface="Helvetica Neue"/>
                <a:ea typeface="Helvetica Neue"/>
                <a:cs typeface="Helvetica Neue"/>
              </a:defRPr>
            </a:pPr>
            <a:r>
              <a:t>21두</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산유량 비유의</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초기 증체 유의</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성장 개선 비유의</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젖소: 일부 유성분 유의 · 한우: 도체지표 비유의 · 넙치: 성장·삼투조절 비유의</a:t>
            </a:r>
          </a:p>
          <a:p xmlns:a="http://schemas.openxmlformats.org/drawingml/2006/main">
            <a:pPr algn="l">
              <a:buNone/>
              <a:defRPr sz="1600">
                <a:solidFill>
                  <a:srgbClr val="000000"/>
                </a:solidFill>
                <a:latin typeface="Helvetica Neue"/>
                <a:ea typeface="Helvetica Neue"/>
                <a:cs typeface="Helvetica Neue"/>
              </a:defRPr>
            </a:pPr>
            <a:r>
              <a:t>※ RP-GABA=반추위 보호 GABA · 해당 제품을 사용한 고객 시험 필요</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09 | EVIDENCE REALITY</a:t>
            </a:r>
          </a:p>
        </p:txBody>
      </p:sp>
    </p:spTree>
    <p:extLst>
      <p:ext uri="{BB962C8B-B14F-4D97-AF65-F5344CB8AC3E}">
        <p14:creationId xmlns:p14="http://schemas.microsoft.com/office/powerpoint/2010/main" val="13643171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고객 시험은 한 축종·한 제형·한 경제효과에 집중한다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축종</a:t>
            </a:r>
          </a:p>
          <a:p xmlns:a="http://schemas.openxmlformats.org/drawingml/2006/main">
            <a:pPr algn="l">
              <a:buNone/>
              <a:defRPr sz="2400">
                <a:solidFill>
                  <a:srgbClr val="000000"/>
                </a:solidFill>
                <a:latin typeface="Helvetica Neue"/>
                <a:ea typeface="Helvetica Neue"/>
                <a:cs typeface="Helvetica Neue"/>
              </a:defRPr>
            </a:pPr>
            <a:r>
              <a:t>반추동물 1군</a:t>
            </a:r>
          </a:p>
          <a:p xmlns:a="http://schemas.openxmlformats.org/drawingml/2006/main">
            <a:pPr algn="l">
              <a:buNone/>
              <a:defRPr sz="2400">
                <a:solidFill>
                  <a:srgbClr val="000000"/>
                </a:solidFill>
                <a:latin typeface="Helvetica Neue"/>
                <a:ea typeface="Helvetica Neue"/>
                <a:cs typeface="Helvetica Neue"/>
              </a:defRPr>
            </a:pPr>
            <a:r>
              <a:t>열스트레스 상황</a:t>
            </a:r>
          </a:p>
          <a:p xmlns:a="http://schemas.openxmlformats.org/drawingml/2006/main">
            <a:pPr algn="l">
              <a:buNone/>
              <a:defRPr sz="2400">
                <a:solidFill>
                  <a:srgbClr val="000000"/>
                </a:solidFill>
                <a:latin typeface="Helvetica Neue"/>
                <a:ea typeface="Helvetica Neue"/>
                <a:cs typeface="Helvetica Neue"/>
              </a:defRPr>
            </a:pPr>
            <a:r>
              <a:t>고객군 1개</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제형</a:t>
            </a:r>
          </a:p>
          <a:p xmlns:a="http://schemas.openxmlformats.org/drawingml/2006/main">
            <a:pPr algn="l">
              <a:buNone/>
              <a:defRPr sz="2400">
                <a:solidFill>
                  <a:srgbClr val="000000"/>
                </a:solidFill>
                <a:latin typeface="Helvetica Neue"/>
                <a:ea typeface="Helvetica Neue"/>
                <a:cs typeface="Helvetica Neue"/>
              </a:defRPr>
            </a:pPr>
            <a:r>
              <a:t>RP-GABA 우선</a:t>
            </a:r>
          </a:p>
          <a:p xmlns:a="http://schemas.openxmlformats.org/drawingml/2006/main">
            <a:pPr algn="l">
              <a:buNone/>
              <a:defRPr sz="2400">
                <a:solidFill>
                  <a:srgbClr val="000000"/>
                </a:solidFill>
                <a:latin typeface="Helvetica Neue"/>
                <a:ea typeface="Helvetica Neue"/>
                <a:cs typeface="Helvetica Neue"/>
              </a:defRPr>
            </a:pPr>
            <a:r>
              <a:t>활성함량 고정</a:t>
            </a:r>
          </a:p>
          <a:p xmlns:a="http://schemas.openxmlformats.org/drawingml/2006/main">
            <a:pPr algn="l">
              <a:buNone/>
              <a:defRPr sz="2400">
                <a:solidFill>
                  <a:srgbClr val="000000"/>
                </a:solidFill>
                <a:latin typeface="Helvetica Neue"/>
                <a:ea typeface="Helvetica Neue"/>
                <a:cs typeface="Helvetica Neue"/>
              </a:defRPr>
            </a:pPr>
            <a:r>
              <a:t>로트별 안정성</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성과</a:t>
            </a:r>
          </a:p>
          <a:p xmlns:a="http://schemas.openxmlformats.org/drawingml/2006/main">
            <a:pPr algn="l">
              <a:buNone/>
              <a:defRPr sz="2400">
                <a:solidFill>
                  <a:srgbClr val="000000"/>
                </a:solidFill>
                <a:latin typeface="Helvetica Neue"/>
                <a:ea typeface="Helvetica Neue"/>
                <a:cs typeface="Helvetica Neue"/>
              </a:defRPr>
            </a:pPr>
            <a:r>
              <a:t>사료섭취·유성분 중</a:t>
            </a:r>
          </a:p>
          <a:p xmlns:a="http://schemas.openxmlformats.org/drawingml/2006/main">
            <a:pPr algn="l">
              <a:buNone/>
              <a:defRPr sz="2400">
                <a:solidFill>
                  <a:srgbClr val="000000"/>
                </a:solidFill>
                <a:latin typeface="Helvetica Neue"/>
                <a:ea typeface="Helvetica Neue"/>
                <a:cs typeface="Helvetica Neue"/>
              </a:defRPr>
            </a:pPr>
            <a:r>
              <a:t>1차 지표 1개</a:t>
            </a:r>
          </a:p>
          <a:p xmlns:a="http://schemas.openxmlformats.org/drawingml/2006/main">
            <a:pPr algn="l">
              <a:buNone/>
              <a:defRPr sz="2400">
                <a:solidFill>
                  <a:srgbClr val="000000"/>
                </a:solidFill>
                <a:latin typeface="Helvetica Neue"/>
                <a:ea typeface="Helvetica Neue"/>
                <a:cs typeface="Helvetica Neue"/>
              </a:defRPr>
            </a:pPr>
            <a:r>
              <a:t>사전 판정기준</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 조건</a:t>
            </a:r>
          </a:p>
          <a:p xmlns:a="http://schemas.openxmlformats.org/drawingml/2006/main">
            <a:pPr algn="l">
              <a:buNone/>
              <a:defRPr sz="2400">
                <a:solidFill>
                  <a:srgbClr val="000000"/>
                </a:solidFill>
                <a:latin typeface="Helvetica Neue"/>
                <a:ea typeface="Helvetica Neue"/>
                <a:cs typeface="Helvetica Neue"/>
              </a:defRPr>
            </a:pPr>
            <a:r>
              <a:t>유료 고객 시험</a:t>
            </a:r>
          </a:p>
          <a:p xmlns:a="http://schemas.openxmlformats.org/drawingml/2006/main">
            <a:pPr algn="l">
              <a:buNone/>
              <a:defRPr sz="2400">
                <a:solidFill>
                  <a:srgbClr val="000000"/>
                </a:solidFill>
                <a:latin typeface="Helvetica Neue"/>
                <a:ea typeface="Helvetica Neue"/>
                <a:cs typeface="Helvetica Neue"/>
              </a:defRPr>
            </a:pPr>
            <a:r>
              <a:t>가격·중단 기준</a:t>
            </a:r>
          </a:p>
          <a:p xmlns:a="http://schemas.openxmlformats.org/drawingml/2006/main">
            <a:pPr algn="l">
              <a:buNone/>
              <a:defRPr sz="2400">
                <a:solidFill>
                  <a:srgbClr val="000000"/>
                </a:solidFill>
                <a:latin typeface="Helvetica Neue"/>
                <a:ea typeface="Helvetica Neue"/>
                <a:cs typeface="Helvetica Neue"/>
              </a:defRPr>
            </a:pPr>
            <a:r>
              <a:t>반복 주문 조건</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10 | FIRST BEACHHEAD</a:t>
            </a:r>
          </a:p>
        </p:txBody>
      </p:sp>
    </p:spTree>
    <p:extLst>
      <p:ext uri="{BB962C8B-B14F-4D97-AF65-F5344CB8AC3E}">
        <p14:creationId xmlns:p14="http://schemas.microsoft.com/office/powerpoint/2010/main" val="1604558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kg당 8,760원의 공헌이익은 실제 견적을 확인해야 성립한다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목표 판매가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단위당 공헌이익</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예상 원가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9,240</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+8,760</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18,000−9,240=8,760원/kg · 공헌율 48.7%</a:t>
            </a:r>
          </a:p>
          <a:p xmlns:a="http://schemas.openxmlformats.org/drawingml/2006/main">
            <a:pPr algn="l">
              <a:buNone/>
              <a:defRPr sz="1600">
                <a:solidFill>
                  <a:srgbClr val="000000"/>
                </a:solidFill>
                <a:latin typeface="Helvetica Neue"/>
                <a:ea typeface="Helvetica Neue"/>
                <a:cs typeface="Helvetica Neue"/>
              </a:defRPr>
            </a:pPr>
            <a:r>
              <a:t>※ 9,240원/kg은 원본 가정이며 세부 원가는 아직 확인되지 않음</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11 | MASTER ECONOMICS</a:t>
            </a:r>
          </a:p>
        </p:txBody>
      </p:sp>
    </p:spTree>
    <p:extLst>
      <p:ext uri="{BB962C8B-B14F-4D97-AF65-F5344CB8AC3E}">
        <p14:creationId xmlns:p14="http://schemas.microsoft.com/office/powerpoint/2010/main" val="162471053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사료 1톤당 4,149원의 공헌이익도 투입량과 직접비 확인이 필요하다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판매가</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공헌이익</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직접비</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1,851</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+4,149</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제품비 351 + 현장·채널비 1,500 = 직접비 1,851원</a:t>
            </a:r>
          </a:p>
          <a:p xmlns:a="http://schemas.openxmlformats.org/drawingml/2006/main">
            <a:pPr algn="l">
              <a:buNone/>
              <a:defRPr sz="1600">
                <a:solidFill>
                  <a:srgbClr val="000000"/>
                </a:solidFill>
                <a:latin typeface="Helvetica Neue"/>
                <a:ea typeface="Helvetica Neue"/>
                <a:cs typeface="Helvetica Neue"/>
              </a:defRPr>
            </a:pPr>
            <a:r>
              <a:t>※ 75g/사료t과 4,681.8원/kg은 원본 가정</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12 | MATRIX ECONOMICS</a:t>
            </a:r>
          </a:p>
        </p:txBody>
      </p:sp>
    </p:spTree>
    <p:extLst>
      <p:ext uri="{BB962C8B-B14F-4D97-AF65-F5344CB8AC3E}">
        <p14:creationId xmlns:p14="http://schemas.microsoft.com/office/powerpoint/2010/main" val="162471053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사료 1톤당 고객 가치 18,000원은 유료 비교시험으로 확인해야 한다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손실회피 가정</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고객 순가치</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프로그램 가격</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+12,000</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18,000−6,000=12,000원 · B/C=3.0배</a:t>
            </a:r>
          </a:p>
          <a:p xmlns:a="http://schemas.openxmlformats.org/drawingml/2006/main">
            <a:pPr algn="l">
              <a:buNone/>
              <a:defRPr sz="1600">
                <a:solidFill>
                  <a:srgbClr val="000000"/>
                </a:solidFill>
                <a:latin typeface="Helvetica Neue"/>
                <a:ea typeface="Helvetica Neue"/>
                <a:cs typeface="Helvetica Neue"/>
              </a:defRPr>
            </a:pPr>
            <a:r>
              <a:t>※ B/C=편익/비용 비율 · 현재는 가설이며 유료 비교시험에서 확인</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13 | CUSTOMER VALUE HYPOTHESIS</a:t>
            </a:r>
          </a:p>
        </p:txBody>
      </p:sp>
    </p:spTree>
    <p:extLst>
      <p:ext uri="{BB962C8B-B14F-4D97-AF65-F5344CB8AC3E}">
        <p14:creationId xmlns:p14="http://schemas.microsoft.com/office/powerpoint/2010/main" val="13643171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14</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반복 주문 가정대로라면 매출 6.60억원, 공헌이익 3.83억원이다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 마스터</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합계</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매트릭스</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1.75억원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2.07억원</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3.83억원</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매출 3.60억 + 매트릭스 매출 3.00억</a:t>
            </a:r>
          </a:p>
          <a:p xmlns:a="http://schemas.openxmlformats.org/drawingml/2006/main">
            <a:pPr algn="l">
              <a:buNone/>
              <a:defRPr sz="1600">
                <a:solidFill>
                  <a:srgbClr val="000000"/>
                </a:solidFill>
                <a:latin typeface="Helvetica Neue"/>
                <a:ea typeface="Helvetica Neue"/>
                <a:cs typeface="Helvetica Neue"/>
              </a:defRPr>
            </a:pPr>
            <a:r>
              <a:t>※ 실제 PO가 아닌 반복주문 가정 시나리오</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14 | REPEAT SCENARIO</a:t>
            </a:r>
          </a:p>
        </p:txBody>
      </p:sp>
    </p:spTree>
    <p:extLst>
      <p:ext uri="{BB962C8B-B14F-4D97-AF65-F5344CB8AC3E}">
        <p14:creationId xmlns:p14="http://schemas.microsoft.com/office/powerpoint/2010/main" val="136431717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673F532A-4272-4AD1-863A-38B22D8FC8C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15</a:t>
            </a:r>
          </a:p>
        </p:txBody>
      </p:sp>
      <p:sp>
        <p:nvSpPr>
          <p:cNvPr id="2" name="Title-10-3">
            <a:extLst xmlns:a="http://schemas.openxmlformats.org/drawingml/2006/main">
              <a:ext uri="{FF2B5EF4-FFF2-40B4-BE49-F238E27FC236}">
                <a16:creationId xmlns:a16="http://schemas.microsoft.com/office/drawing/2014/main" id="{C8F0B7E0-788B-4632-AFF8-75CBD8CA15A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반복 주문 물량은 추정 생산능력의 35%에 해당한다</a:t>
            </a:r>
          </a:p>
        </p:txBody>
      </p:sp>
      <p:sp>
        <p:nvSpPr>
          <p:cNvPr id="3" name="Rounded-Rectangle-36-4">
            <a:extLst xmlns:a="http://schemas.openxmlformats.org/drawingml/2006/main">
              <a:ext uri="{FF2B5EF4-FFF2-40B4-BE49-F238E27FC236}">
                <a16:creationId xmlns:a16="http://schemas.microsoft.com/office/drawing/2014/main" id="{F7A1D57F-EF2D-418C-9C73-2303C9114CC6}"/>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Content-Placeholder-9-5">
            <a:extLst xmlns:a="http://schemas.openxmlformats.org/drawingml/2006/main">
              <a:ext uri="{FF2B5EF4-FFF2-40B4-BE49-F238E27FC236}">
                <a16:creationId xmlns:a16="http://schemas.microsoft.com/office/drawing/2014/main" id="{409F2D52-88D4-45A2-A354-BBC0108FB8A1}"/>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4.19t</a:t>
            </a:r>
          </a:p>
        </p:txBody>
      </p:sp>
      <p:sp>
        <p:nvSpPr>
          <p:cNvPr id="5" name="Content-Placeholder-15-6">
            <a:extLst xmlns:a="http://schemas.openxmlformats.org/drawingml/2006/main">
              <a:ext uri="{FF2B5EF4-FFF2-40B4-BE49-F238E27FC236}">
                <a16:creationId xmlns:a16="http://schemas.microsoft.com/office/drawing/2014/main" id="{9714F1A2-F61B-4DC0-AAB9-3FCBF3425A93}"/>
              </a:ext>
            </a:extLst>
          </p:cNvPr>
          <p:cNvSpPr>
            <a:spLocks xmlns:a="http://schemas.openxmlformats.org/drawingml/2006/main" noGrp="1"/>
          </p:cNvSpPr>
          <p:nvPr/>
        </p:nvSpPr>
        <p:spPr>
          <a:xfrm xmlns:a="http://schemas.openxmlformats.org/drawingml/2006/main">
            <a:off x="6575965"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첫 모델 필요</a:t>
            </a:r>
          </a:p>
          <a:p xmlns:a="http://schemas.openxmlformats.org/drawingml/2006/main">
            <a:pPr algn="l">
              <a:buNone/>
              <a:defRPr sz="2400">
                <a:solidFill>
                  <a:srgbClr val="000000"/>
                </a:solidFill>
                <a:latin typeface="Helvetica Neue"/>
                <a:ea typeface="Helvetica Neue"/>
                <a:cs typeface="Helvetica Neue"/>
              </a:defRPr>
            </a:pPr>
            <a:r>
              <a:t>활성 GABA/년</a:t>
            </a:r>
          </a:p>
        </p:txBody>
      </p:sp>
      <p:sp>
        <p:nvSpPr>
          <p:cNvPr id="6" name="Rounded-Rectangle-39-7">
            <a:extLst xmlns:a="http://schemas.openxmlformats.org/drawingml/2006/main">
              <a:ext uri="{FF2B5EF4-FFF2-40B4-BE49-F238E27FC236}">
                <a16:creationId xmlns:a16="http://schemas.microsoft.com/office/drawing/2014/main" id="{C0047798-46C2-406A-9B7B-A4732250E1E5}"/>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7" name="Content-Placeholder-9-8">
            <a:extLst xmlns:a="http://schemas.openxmlformats.org/drawingml/2006/main">
              <a:ext uri="{FF2B5EF4-FFF2-40B4-BE49-F238E27FC236}">
                <a16:creationId xmlns:a16="http://schemas.microsoft.com/office/drawing/2014/main" id="{F316EECB-DF1E-45BE-8BBA-588C6D78DC63}"/>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11.94t</a:t>
            </a:r>
          </a:p>
        </p:txBody>
      </p:sp>
      <p:sp>
        <p:nvSpPr>
          <p:cNvPr id="8" name="Content-Placeholder-15-9">
            <a:extLst xmlns:a="http://schemas.openxmlformats.org/drawingml/2006/main">
              <a:ext uri="{FF2B5EF4-FFF2-40B4-BE49-F238E27FC236}">
                <a16:creationId xmlns:a16="http://schemas.microsoft.com/office/drawing/2014/main" id="{2DF94C34-D4F4-4039-8AF7-F69409C5A8CF}"/>
              </a:ext>
            </a:extLst>
          </p:cNvPr>
          <p:cNvSpPr>
            <a:spLocks xmlns:a="http://schemas.openxmlformats.org/drawingml/2006/main" noGrp="1"/>
          </p:cNvSpPr>
          <p:nvPr/>
        </p:nvSpPr>
        <p:spPr>
          <a:xfrm xmlns:a="http://schemas.openxmlformats.org/drawingml/2006/main">
            <a:off x="9528143"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추정 생산능력</a:t>
            </a:r>
          </a:p>
          <a:p xmlns:a="http://schemas.openxmlformats.org/drawingml/2006/main">
            <a:pPr algn="l">
              <a:buNone/>
              <a:defRPr sz="2400">
                <a:solidFill>
                  <a:srgbClr val="000000"/>
                </a:solidFill>
                <a:latin typeface="Helvetica Neue"/>
                <a:ea typeface="Helvetica Neue"/>
                <a:cs typeface="Helvetica Neue"/>
              </a:defRPr>
            </a:pPr>
            <a:r>
              <a:t>활성 GABA/년</a:t>
            </a:r>
          </a:p>
        </p:txBody>
      </p:sp>
      <p:sp>
        <p:nvSpPr>
          <p:cNvPr id="9" name="Content-Placeholder-2-10">
            <a:extLst xmlns:a="http://schemas.openxmlformats.org/drawingml/2006/main">
              <a:ext uri="{FF2B5EF4-FFF2-40B4-BE49-F238E27FC236}">
                <a16:creationId xmlns:a16="http://schemas.microsoft.com/office/drawing/2014/main" id="{6B9CA33A-9DE8-4E60-84D8-67F414473DED}"/>
              </a:ext>
            </a:extLst>
          </p:cNvPr>
          <p:cNvSpPr>
            <a:spLocks xmlns:a="http://schemas.openxmlformats.org/drawingml/2006/main" noGrp="1"/>
          </p:cNvSpPr>
          <p:nvPr/>
        </p:nvSpPr>
        <p:spPr>
          <a:xfrm xmlns:a="http://schemas.openxmlformats.org/drawingml/2006/main">
            <a:off x="6261068" y="1955578"/>
            <a:ext cx="5539835"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4.19÷11.94=35.1% · 여유 7.76t</a:t>
            </a:r>
          </a:p>
          <a:p xmlns:a="http://schemas.openxmlformats.org/drawingml/2006/main">
            <a:pPr algn="l">
              <a:buNone/>
              <a:defRPr sz="2400">
                <a:solidFill>
                  <a:srgbClr val="000000"/>
                </a:solidFill>
                <a:latin typeface="Helvetica Neue"/>
                <a:ea typeface="Helvetica Neue"/>
                <a:cs typeface="Helvetica Neue"/>
              </a:defRPr>
            </a:pPr>
            <a:r>
              <a:t>※ ‘활성 GABA’ 정의·수율·OEE·OEM 능력 확인 전 공급보장 금지</a:t>
            </a:r>
          </a:p>
        </p:txBody>
      </p:sp>
      <p:graphicFrame>
        <p:nvGraphicFramePr>
          <p:cNvPr id="24" name="Chart"/>
          <p:cNvGraphicFramePr/>
          <p:nvPr/>
        </p:nvGraphicFramePr>
        <p:xfrm>
          <a:off xmlns:a="http://schemas.openxmlformats.org/drawingml/2006/main" x="385858" y="1254728"/>
          <a:ext xmlns:a="http://schemas.openxmlformats.org/drawingml/2006/main" cx="5534216" cy="5024533"/>
        </p:xfrm>
        <a:graphic xmlns:a="http://schemas.openxmlformats.org/drawingml/2006/main">
          <a:graphicData uri="http://schemas.openxmlformats.org/drawingml/2006/chart">
            <c:chart xmlns:r="http://schemas.openxmlformats.org/officeDocument/2006/relationships" xmlns:c="http://schemas.openxmlformats.org/drawingml/2006/chart" r:id="Rc3a332c1e26f4225"/>
          </a:graphicData>
        </a:graphic>
      </p:graphicFrame>
      <p:sp>
        <p:nvSpPr>
          <p:cNvPr id="11" name="brand-rule-13">
            <a:extLst xmlns:a="http://schemas.openxmlformats.org/drawingml/2006/main">
              <a:ext uri="{FF2B5EF4-FFF2-40B4-BE49-F238E27FC236}">
                <a16:creationId xmlns:a16="http://schemas.microsoft.com/office/drawing/2014/main" id="{0BD47CD5-4599-4BFF-B057-7CB71052F22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2" name="brand-footer-13">
            <a:extLst xmlns:a="http://schemas.openxmlformats.org/drawingml/2006/main">
              <a:ext uri="{FF2B5EF4-FFF2-40B4-BE49-F238E27FC236}">
                <a16:creationId xmlns:a16="http://schemas.microsoft.com/office/drawing/2014/main" id="{2ECFDDE6-3722-418B-8E1B-1264083A0EA7}"/>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15 | CAPACITY DISCIPLINE</a:t>
            </a:r>
          </a:p>
        </p:txBody>
      </p:sp>
    </p:spTree>
    <p:extLst>
      <p:ext uri="{BB962C8B-B14F-4D97-AF65-F5344CB8AC3E}">
        <p14:creationId xmlns:p14="http://schemas.microsoft.com/office/powerpoint/2010/main" val="185588583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네 가지 중 하나라도 확인되지 않으면 사업을 확대하지 않는다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a:t>
            </a:r>
          </a:p>
          <a:p xmlns:a="http://schemas.openxmlformats.org/drawingml/2006/main">
            <a:pPr algn="l">
              <a:buNone/>
              <a:defRPr sz="2400">
                <a:solidFill>
                  <a:srgbClr val="000000"/>
                </a:solidFill>
                <a:latin typeface="Helvetica Neue"/>
                <a:ea typeface="Helvetica Neue"/>
                <a:cs typeface="Helvetica Neue"/>
              </a:defRPr>
            </a:pPr>
            <a:r>
              <a:t>품목분류·등록경로</a:t>
            </a:r>
          </a:p>
          <a:p xmlns:a="http://schemas.openxmlformats.org/drawingml/2006/main">
            <a:pPr algn="l">
              <a:buNone/>
              <a:defRPr sz="2400">
                <a:solidFill>
                  <a:srgbClr val="000000"/>
                </a:solidFill>
                <a:latin typeface="Helvetica Neue"/>
                <a:ea typeface="Helvetica Neue"/>
                <a:cs typeface="Helvetica Neue"/>
              </a:defRPr>
            </a:pPr>
            <a:r>
              <a:t>표시 가능 문구</a:t>
            </a:r>
          </a:p>
          <a:p xmlns:a="http://schemas.openxmlformats.org/drawingml/2006/main">
            <a:pPr algn="l">
              <a:buNone/>
              <a:defRPr sz="2400">
                <a:solidFill>
                  <a:srgbClr val="000000"/>
                </a:solidFill>
                <a:latin typeface="Helvetica Neue"/>
                <a:ea typeface="Helvetica Neue"/>
                <a:cs typeface="Helvetica Neue"/>
              </a:defRPr>
            </a:pPr>
            <a:r>
              <a:t>확인 전 외부 홍보 중단</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근거</a:t>
            </a:r>
          </a:p>
          <a:p xmlns:a="http://schemas.openxmlformats.org/drawingml/2006/main">
            <a:pPr algn="l">
              <a:buNone/>
              <a:defRPr sz="2400">
                <a:solidFill>
                  <a:srgbClr val="000000"/>
                </a:solidFill>
                <a:latin typeface="Helvetica Neue"/>
                <a:ea typeface="Helvetica Neue"/>
                <a:cs typeface="Helvetica Neue"/>
              </a:defRPr>
            </a:pPr>
            <a:r>
              <a:t>활성함량·안정성</a:t>
            </a:r>
          </a:p>
          <a:p xmlns:a="http://schemas.openxmlformats.org/drawingml/2006/main">
            <a:pPr algn="l">
              <a:buNone/>
              <a:defRPr sz="2400">
                <a:solidFill>
                  <a:srgbClr val="000000"/>
                </a:solidFill>
                <a:latin typeface="Helvetica Neue"/>
                <a:ea typeface="Helvetica Neue"/>
                <a:cs typeface="Helvetica Neue"/>
              </a:defRPr>
            </a:pPr>
            <a:r>
              <a:t>축종별 유효용량</a:t>
            </a:r>
          </a:p>
          <a:p xmlns:a="http://schemas.openxmlformats.org/drawingml/2006/main">
            <a:pPr algn="l">
              <a:buNone/>
              <a:defRPr sz="2400">
                <a:solidFill>
                  <a:srgbClr val="000000"/>
                </a:solidFill>
                <a:latin typeface="Helvetica Neue"/>
                <a:ea typeface="Helvetica Neue"/>
                <a:cs typeface="Helvetica Neue"/>
              </a:defRPr>
            </a:pPr>
            <a:r>
              <a:t>확인 전 확대 보류</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OEM·품질</a:t>
            </a:r>
          </a:p>
          <a:p xmlns:a="http://schemas.openxmlformats.org/drawingml/2006/main">
            <a:pPr algn="l">
              <a:buNone/>
              <a:defRPr sz="2400">
                <a:solidFill>
                  <a:srgbClr val="000000"/>
                </a:solidFill>
                <a:latin typeface="Helvetica Neue"/>
                <a:ea typeface="Helvetica Neue"/>
                <a:cs typeface="Helvetica Neue"/>
              </a:defRPr>
            </a:pPr>
            <a:r>
              <a:t>실제 견적·MOQ·납기</a:t>
            </a:r>
          </a:p>
          <a:p xmlns:a="http://schemas.openxmlformats.org/drawingml/2006/main">
            <a:pPr algn="l">
              <a:buNone/>
              <a:defRPr sz="2400">
                <a:solidFill>
                  <a:srgbClr val="000000"/>
                </a:solidFill>
                <a:latin typeface="Helvetica Neue"/>
                <a:ea typeface="Helvetica Neue"/>
                <a:cs typeface="Helvetica Neue"/>
              </a:defRPr>
            </a:pPr>
            <a:r>
              <a:t>품질 협약서</a:t>
            </a:r>
          </a:p>
          <a:p xmlns:a="http://schemas.openxmlformats.org/drawingml/2006/main">
            <a:pPr algn="l">
              <a:buNone/>
              <a:defRPr sz="2400">
                <a:solidFill>
                  <a:srgbClr val="000000"/>
                </a:solidFill>
                <a:latin typeface="Helvetica Neue"/>
                <a:ea typeface="Helvetica Neue"/>
                <a:cs typeface="Helvetica Neue"/>
              </a:defRPr>
            </a:pPr>
            <a:r>
              <a:t>합의 전 납기 약속 보류</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상업성</a:t>
            </a:r>
          </a:p>
          <a:p xmlns:a="http://schemas.openxmlformats.org/drawingml/2006/main">
            <a:pPr algn="l">
              <a:buNone/>
              <a:defRPr sz="2400">
                <a:solidFill>
                  <a:srgbClr val="000000"/>
                </a:solidFill>
                <a:latin typeface="Helvetica Neue"/>
                <a:ea typeface="Helvetica Neue"/>
                <a:cs typeface="Helvetica Neue"/>
              </a:defRPr>
            </a:pPr>
            <a:r>
              <a:t>유료 고객 시험 2건</a:t>
            </a:r>
          </a:p>
          <a:p xmlns:a="http://schemas.openxmlformats.org/drawingml/2006/main">
            <a:pPr algn="l">
              <a:buNone/>
              <a:defRPr sz="2400">
                <a:solidFill>
                  <a:srgbClr val="000000"/>
                </a:solidFill>
                <a:latin typeface="Helvetica Neue"/>
                <a:ea typeface="Helvetica Neue"/>
                <a:cs typeface="Helvetica Neue"/>
              </a:defRPr>
            </a:pPr>
            <a:r>
              <a:t>반복 주문 자료</a:t>
            </a:r>
          </a:p>
          <a:p xmlns:a="http://schemas.openxmlformats.org/drawingml/2006/main">
            <a:pPr algn="l">
              <a:buNone/>
              <a:defRPr sz="2400">
                <a:solidFill>
                  <a:srgbClr val="000000"/>
                </a:solidFill>
                <a:latin typeface="Helvetica Neue"/>
                <a:ea typeface="Helvetica Neue"/>
                <a:cs typeface="Helvetica Neue"/>
              </a:defRPr>
            </a:pPr>
            <a:r>
              <a:t>미확인 시 투자 확대 중단</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16 | EXPANSION CHECKS</a:t>
            </a:r>
          </a:p>
        </p:txBody>
      </p:sp>
    </p:spTree>
    <p:extLst>
      <p:ext uri="{BB962C8B-B14F-4D97-AF65-F5344CB8AC3E}">
        <p14:creationId xmlns:p14="http://schemas.microsoft.com/office/powerpoint/2010/main" val="160455868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앞으로 90일 동안 네 가지 핵심 검증을 순서대로 마친다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0–30일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31–60일</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61–90일</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제품·공급 조건 확인</a:t>
            </a:r>
          </a:p>
          <a:p xmlns:a="http://schemas.openxmlformats.org/drawingml/2006/main">
            <a:pPr algn="l">
              <a:buNone/>
              <a:defRPr sz="2400">
                <a:solidFill>
                  <a:srgbClr val="000000"/>
                </a:solidFill>
                <a:latin typeface="Helvetica Neue"/>
                <a:ea typeface="Helvetica Neue"/>
                <a:cs typeface="Helvetica Neue"/>
              </a:defRPr>
            </a:pPr>
            <a:r>
              <a:t>시험생산·균일도</a:t>
            </a:r>
          </a:p>
          <a:p xmlns:a="http://schemas.openxmlformats.org/drawingml/2006/main">
            <a:pPr algn="l">
              <a:buNone/>
              <a:defRPr sz="2400">
                <a:solidFill>
                  <a:srgbClr val="000000"/>
                </a:solidFill>
                <a:latin typeface="Helvetica Neue"/>
                <a:ea typeface="Helvetica Neue"/>
                <a:cs typeface="Helvetica Neue"/>
              </a:defRPr>
            </a:pPr>
            <a:r>
              <a:t>안정성·CoA</a:t>
            </a:r>
          </a:p>
          <a:p xmlns:a="http://schemas.openxmlformats.org/drawingml/2006/main">
            <a:pPr algn="l">
              <a:buNone/>
              <a:defRPr sz="2400">
                <a:solidFill>
                  <a:srgbClr val="000000"/>
                </a:solidFill>
                <a:latin typeface="Helvetica Neue"/>
                <a:ea typeface="Helvetica Neue"/>
                <a:cs typeface="Helvetica Neue"/>
              </a:defRPr>
            </a:pPr>
            <a:r>
              <a:t>유료 고객 시험계획</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 확인</a:t>
            </a:r>
          </a:p>
          <a:p xmlns:a="http://schemas.openxmlformats.org/drawingml/2006/main">
            <a:pPr algn="l">
              <a:buNone/>
              <a:defRPr sz="2400">
                <a:solidFill>
                  <a:srgbClr val="000000"/>
                </a:solidFill>
                <a:latin typeface="Helvetica Neue"/>
                <a:ea typeface="Helvetica Neue"/>
                <a:cs typeface="Helvetica Neue"/>
              </a:defRPr>
            </a:pPr>
            <a:r>
              <a:t>품목분류 사전검토</a:t>
            </a:r>
          </a:p>
          <a:p xmlns:a="http://schemas.openxmlformats.org/drawingml/2006/main">
            <a:pPr algn="l">
              <a:buNone/>
              <a:defRPr sz="2400">
                <a:solidFill>
                  <a:srgbClr val="000000"/>
                </a:solidFill>
                <a:latin typeface="Helvetica Neue"/>
                <a:ea typeface="Helvetica Neue"/>
                <a:cs typeface="Helvetica Neue"/>
              </a:defRPr>
            </a:pPr>
            <a:r>
              <a:t>활성함량·제형 확정</a:t>
            </a:r>
          </a:p>
          <a:p xmlns:a="http://schemas.openxmlformats.org/drawingml/2006/main">
            <a:pPr algn="l">
              <a:buNone/>
              <a:defRPr sz="2400">
                <a:solidFill>
                  <a:srgbClr val="000000"/>
                </a:solidFill>
                <a:latin typeface="Helvetica Neue"/>
                <a:ea typeface="Helvetica Neue"/>
                <a:cs typeface="Helvetica Neue"/>
              </a:defRPr>
            </a:pPr>
            <a:r>
              <a:t>OEM 2곳 RFI</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상업성 확인</a:t>
            </a:r>
          </a:p>
          <a:p xmlns:a="http://schemas.openxmlformats.org/drawingml/2006/main">
            <a:pPr algn="l">
              <a:buNone/>
              <a:defRPr sz="2400">
                <a:solidFill>
                  <a:srgbClr val="000000"/>
                </a:solidFill>
                <a:latin typeface="Helvetica Neue"/>
                <a:ea typeface="Helvetica Neue"/>
                <a:cs typeface="Helvetica Neue"/>
              </a:defRPr>
            </a:pPr>
            <a:r>
              <a:t>첫 유료 발주서</a:t>
            </a:r>
          </a:p>
          <a:p xmlns:a="http://schemas.openxmlformats.org/drawingml/2006/main">
            <a:pPr algn="l">
              <a:buNone/>
              <a:defRPr sz="2400">
                <a:solidFill>
                  <a:srgbClr val="000000"/>
                </a:solidFill>
                <a:latin typeface="Helvetica Neue"/>
                <a:ea typeface="Helvetica Neue"/>
                <a:cs typeface="Helvetica Neue"/>
              </a:defRPr>
            </a:pPr>
            <a:r>
              <a:t>반복 주문 조건</a:t>
            </a:r>
          </a:p>
          <a:p xmlns:a="http://schemas.openxmlformats.org/drawingml/2006/main">
            <a:pPr algn="l">
              <a:buNone/>
              <a:defRPr sz="2400">
                <a:solidFill>
                  <a:srgbClr val="000000"/>
                </a:solidFill>
                <a:latin typeface="Helvetica Neue"/>
                <a:ea typeface="Helvetica Neue"/>
                <a:cs typeface="Helvetica Neue"/>
              </a:defRPr>
            </a:pPr>
            <a:r>
              <a:t>실제 원가로 추진 여부 결정</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17 | 90-DAY VALIDATION</a:t>
            </a:r>
          </a:p>
        </p:txBody>
      </p:sp>
    </p:spTree>
    <p:extLst>
      <p:ext uri="{BB962C8B-B14F-4D97-AF65-F5344CB8AC3E}">
        <p14:creationId xmlns:p14="http://schemas.microsoft.com/office/powerpoint/2010/main" val="116188389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93582F7D-404D-46AB-80D1-FE06EE84CD39}"/>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4,560만원을 집행하기 전,</a:t>
            </a:r>
          </a:p>
          <a:p xmlns:a="http://schemas.openxmlformats.org/drawingml/2006/main">
            <a:pPr algn="l">
              <a:buNone/>
              <a:defRPr sz="6000">
                <a:solidFill>
                  <a:srgbClr val="000000"/>
                </a:solidFill>
                <a:latin typeface="Helvetica Neue"/>
                <a:ea typeface="Helvetica Neue"/>
                <a:cs typeface="Helvetica Neue"/>
              </a:defRPr>
            </a:pPr>
            <a:r>
              <a:t>네 가지 검증 과제를 승인해 주십시오</a:t>
            </a:r>
          </a:p>
        </p:txBody>
      </p:sp>
      <p:sp>
        <p:nvSpPr>
          <p:cNvPr id="2" name="Subtitle-4-2">
            <a:extLst xmlns:a="http://schemas.openxmlformats.org/drawingml/2006/main">
              <a:ext uri="{FF2B5EF4-FFF2-40B4-BE49-F238E27FC236}">
                <a16:creationId xmlns:a16="http://schemas.microsoft.com/office/drawing/2014/main" id="{6DBE01A0-2CC5-41DA-85B6-ED57A07E76EC}"/>
              </a:ext>
            </a:extLst>
          </p:cNvPr>
          <p:cNvSpPr>
            <a:spLocks xmlns:a="http://schemas.openxmlformats.org/drawingml/2006/main" noGrp="1"/>
          </p:cNvSpPr>
          <p:nvPr/>
        </p:nvSpPr>
        <p:spPr>
          <a:xfrm xmlns:a="http://schemas.openxmlformats.org/drawingml/2006/main">
            <a:off x="393668" y="4973288"/>
            <a:ext cx="10953750"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Helvetica Neue"/>
                <a:ea typeface="Helvetica Neue"/>
                <a:cs typeface="Helvetica Neue"/>
              </a:defRPr>
            </a:pPr>
            <a:r>
              <a:t>① 품목분류·표시 문구 사전검토  ② 제품 CoA·안정성·유효용량</a:t>
            </a:r>
          </a:p>
          <a:p xmlns:a="http://schemas.openxmlformats.org/drawingml/2006/main">
            <a:pPr algn="l">
              <a:buNone/>
              <a:defRPr sz="2100">
                <a:solidFill>
                  <a:srgbClr val="000000"/>
                </a:solidFill>
                <a:latin typeface="Helvetica Neue"/>
                <a:ea typeface="Helvetica Neue"/>
                <a:cs typeface="Helvetica Neue"/>
              </a:defRPr>
            </a:pPr>
            <a:r>
              <a:t>③ OEM 2곳 실제 견적·품질 협약서  ④ 유료 고객 시험과 반복 주문</a:t>
            </a:r>
          </a:p>
        </p:txBody>
      </p:sp>
      <p:sp>
        <p:nvSpPr>
          <p:cNvPr id="3" name="Subtitle-4-3">
            <a:extLst xmlns:a="http://schemas.openxmlformats.org/drawingml/2006/main">
              <a:ext uri="{FF2B5EF4-FFF2-40B4-BE49-F238E27FC236}">
                <a16:creationId xmlns:a16="http://schemas.microsoft.com/office/drawing/2014/main" id="{83CFF434-0D8D-452B-9588-51118CD257D7}"/>
              </a:ext>
            </a:extLst>
          </p:cNvPr>
          <p:cNvSpPr>
            <a:spLocks xmlns:a="http://schemas.openxmlformats.org/drawingml/2006/main" noGrp="1"/>
          </p:cNvSpPr>
          <p:nvPr/>
        </p:nvSpPr>
        <p:spPr>
          <a:xfrm xmlns:a="http://schemas.openxmlformats.org/drawingml/2006/main">
            <a:off x="393668" y="392240"/>
            <a:ext cx="1612868"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승인 요청 · 검증 예산</a:t>
            </a:r>
          </a:p>
        </p:txBody>
      </p:sp>
      <p:sp>
        <p:nvSpPr>
          <p:cNvPr id="4" name="brand-rule-19">
            <a:extLst xmlns:a="http://schemas.openxmlformats.org/drawingml/2006/main">
              <a:ext uri="{FF2B5EF4-FFF2-40B4-BE49-F238E27FC236}">
                <a16:creationId xmlns:a16="http://schemas.microsoft.com/office/drawing/2014/main" id="{7AAF7002-EC9D-469C-84D7-2EC7F080431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9">
            <a:extLst xmlns:a="http://schemas.openxmlformats.org/drawingml/2006/main">
              <a:ext uri="{FF2B5EF4-FFF2-40B4-BE49-F238E27FC236}">
                <a16:creationId xmlns:a16="http://schemas.microsoft.com/office/drawing/2014/main" id="{5673E306-1329-4C06-B385-21CE77F2D44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18 | DECISION ASK</a:t>
            </a:r>
          </a:p>
        </p:txBody>
      </p:sp>
    </p:spTree>
    <p:extLst>
      <p:ext uri="{BB962C8B-B14F-4D97-AF65-F5344CB8AC3E}">
        <p14:creationId xmlns:p14="http://schemas.microsoft.com/office/powerpoint/2010/main" val="195137840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19</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APPENDIX · 용어·계산식·출처·이용 안내</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용어</a:t>
            </a:r>
          </a:p>
          <a:p xmlns:a="http://schemas.openxmlformats.org/drawingml/2006/main">
            <a:pPr algn="l">
              <a:buNone/>
              <a:defRPr sz="2400">
                <a:solidFill>
                  <a:srgbClr val="000000"/>
                </a:solidFill>
                <a:latin typeface="Helvetica Neue"/>
                <a:ea typeface="Helvetica Neue"/>
                <a:cs typeface="Helvetica Neue"/>
              </a:defRPr>
            </a:pPr>
            <a:r>
              <a:t>GABA=감마아미노부티르산</a:t>
            </a:r>
          </a:p>
          <a:p xmlns:a="http://schemas.openxmlformats.org/drawingml/2006/main">
            <a:pPr algn="l">
              <a:buNone/>
              <a:defRPr sz="2400">
                <a:solidFill>
                  <a:srgbClr val="000000"/>
                </a:solidFill>
                <a:latin typeface="Helvetica Neue"/>
                <a:ea typeface="Helvetica Neue"/>
                <a:cs typeface="Helvetica Neue"/>
              </a:defRPr>
            </a:pPr>
            <a:r>
              <a:t>CoA=로트 성적서</a:t>
            </a:r>
          </a:p>
          <a:p xmlns:a="http://schemas.openxmlformats.org/drawingml/2006/main">
            <a:pPr algn="l">
              <a:buNone/>
              <a:defRPr sz="2400">
                <a:solidFill>
                  <a:srgbClr val="000000"/>
                </a:solidFill>
                <a:latin typeface="Helvetica Neue"/>
                <a:ea typeface="Helvetica Neue"/>
                <a:cs typeface="Helvetica Neue"/>
              </a:defRPr>
            </a:pPr>
            <a:r>
              <a:t>PoV=고객 가치 검증</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운영</a:t>
            </a:r>
          </a:p>
          <a:p xmlns:a="http://schemas.openxmlformats.org/drawingml/2006/main">
            <a:pPr algn="l">
              <a:buNone/>
              <a:defRPr sz="2400">
                <a:solidFill>
                  <a:srgbClr val="000000"/>
                </a:solidFill>
                <a:latin typeface="Helvetica Neue"/>
                <a:ea typeface="Helvetica Neue"/>
                <a:cs typeface="Helvetica Neue"/>
              </a:defRPr>
            </a:pPr>
            <a:r>
              <a:t>마스터배치=고농축 중간재</a:t>
            </a:r>
          </a:p>
          <a:p xmlns:a="http://schemas.openxmlformats.org/drawingml/2006/main">
            <a:pPr algn="l">
              <a:buNone/>
              <a:defRPr sz="2400">
                <a:solidFill>
                  <a:srgbClr val="000000"/>
                </a:solidFill>
                <a:latin typeface="Helvetica Neue"/>
                <a:ea typeface="Helvetica Neue"/>
                <a:cs typeface="Helvetica Neue"/>
              </a:defRPr>
            </a:pPr>
            <a:r>
              <a:t>OEM=주문자 상표 부착 생산</a:t>
            </a:r>
          </a:p>
          <a:p xmlns:a="http://schemas.openxmlformats.org/drawingml/2006/main">
            <a:pPr algn="l">
              <a:buNone/>
              <a:defRPr sz="2400">
                <a:solidFill>
                  <a:srgbClr val="000000"/>
                </a:solidFill>
                <a:latin typeface="Helvetica Neue"/>
                <a:ea typeface="Helvetica Neue"/>
                <a:cs typeface="Helvetica Neue"/>
              </a:defRPr>
            </a:pPr>
            <a:r>
              <a:t>MOQ=최소 주문 수량</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핵심 가정</a:t>
            </a:r>
          </a:p>
          <a:p xmlns:a="http://schemas.openxmlformats.org/drawingml/2006/main">
            <a:pPr algn="l">
              <a:buNone/>
              <a:defRPr sz="2400">
                <a:solidFill>
                  <a:srgbClr val="000000"/>
                </a:solidFill>
                <a:latin typeface="Helvetica Neue"/>
                <a:ea typeface="Helvetica Neue"/>
                <a:cs typeface="Helvetica Neue"/>
              </a:defRPr>
            </a:pPr>
            <a:r>
              <a:t>18,000원/kg·9,240원/kg</a:t>
            </a:r>
          </a:p>
          <a:p xmlns:a="http://schemas.openxmlformats.org/drawingml/2006/main">
            <a:pPr algn="l">
              <a:buNone/>
              <a:defRPr sz="2400">
                <a:solidFill>
                  <a:srgbClr val="000000"/>
                </a:solidFill>
                <a:latin typeface="Helvetica Neue"/>
                <a:ea typeface="Helvetica Neue"/>
                <a:cs typeface="Helvetica Neue"/>
              </a:defRPr>
            </a:pPr>
            <a:r>
              <a:t>75g/사료t·4,681.8원/kg</a:t>
            </a:r>
          </a:p>
          <a:p xmlns:a="http://schemas.openxmlformats.org/drawingml/2006/main">
            <a:pPr algn="l">
              <a:buNone/>
              <a:defRPr sz="2400">
                <a:solidFill>
                  <a:srgbClr val="000000"/>
                </a:solidFill>
                <a:latin typeface="Helvetica Neue"/>
                <a:ea typeface="Helvetica Neue"/>
                <a:cs typeface="Helvetica Neue"/>
              </a:defRPr>
            </a:pPr>
            <a:r>
              <a:t>고객가치 18,000원/t</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이용 안내</a:t>
            </a:r>
          </a:p>
          <a:p xmlns:a="http://schemas.openxmlformats.org/drawingml/2006/main">
            <a:pPr algn="l">
              <a:buNone/>
              <a:defRPr sz="2400">
                <a:solidFill>
                  <a:srgbClr val="000000"/>
                </a:solidFill>
                <a:latin typeface="Helvetica Neue"/>
                <a:ea typeface="Helvetica Neue"/>
                <a:cs typeface="Helvetica Neue"/>
              </a:defRPr>
            </a:pPr>
            <a:r>
              <a:t>법적 분류·효능·공장 적합성·원가</a:t>
            </a:r>
          </a:p>
          <a:p xmlns:a="http://schemas.openxmlformats.org/drawingml/2006/main">
            <a:pPr algn="l">
              <a:buNone/>
              <a:defRPr sz="2400">
                <a:solidFill>
                  <a:srgbClr val="000000"/>
                </a:solidFill>
                <a:latin typeface="Helvetica Neue"/>
                <a:ea typeface="Helvetica Neue"/>
                <a:cs typeface="Helvetica Neue"/>
              </a:defRPr>
            </a:pPr>
            <a:r>
              <a:t>관할기관·시험기관·실제 견적·</a:t>
            </a:r>
          </a:p>
          <a:p xmlns:a="http://schemas.openxmlformats.org/drawingml/2006/main">
            <a:pPr algn="l">
              <a:buNone/>
              <a:defRPr sz="2400">
                <a:solidFill>
                  <a:srgbClr val="000000"/>
                </a:solidFill>
                <a:latin typeface="Helvetica Neue"/>
                <a:ea typeface="Helvetica Neue"/>
                <a:cs typeface="Helvetica Neue"/>
              </a:defRPr>
            </a:pPr>
            <a:r>
              <a:t>고객 현장에서 별도 확인</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19 | APPENDIX</a:t>
            </a:r>
          </a:p>
        </p:txBody>
      </p:sp>
    </p:spTree>
    <p:extLst>
      <p:ext uri="{BB962C8B-B14F-4D97-AF65-F5344CB8AC3E}">
        <p14:creationId xmlns:p14="http://schemas.microsoft.com/office/powerpoint/2010/main" val="1604558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2026-08-03T03:00:53.2370000Z</dcterms:created>
  <dcterms:modified xsi:type="dcterms:W3CDTF">2026-08-03T03:00:53.2370000Z</dcterms:modified>
</coreProperties>
</file>