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b78de1968f44ff" /><Relationship Type="http://schemas.openxmlformats.org/officeDocument/2006/relationships/extended-properties" Target="/docProps/app.xml" Id="Ree22059bfa9649be" /><Relationship Type="http://schemas.openxmlformats.org/officeDocument/2006/relationships/officeDocument" Target="/ppt/presentation.xml" Id="Re85d345ed1da487c" /></Relationships>
</file>

<file path=ppt/presentation.xml><?xml version="1.0" encoding="utf-8"?>
<p:presentation xmlns:p="http://schemas.openxmlformats.org/presentationml/2006/main">
  <p:sldMasterIdLst>
    <p:sldMasterId xmlns:r="http://schemas.openxmlformats.org/officeDocument/2006/relationships" id="2147483648" r:id="R6bdd412e7a9f4e72"/>
  </p:sldMasterIdLst>
  <p:notesMasterIdLst>
    <p:notesMasterId xmlns:r="http://schemas.openxmlformats.org/officeDocument/2006/relationships" r:id="R4f36e2ff82324f69"/>
  </p:notesMasterIdLst>
  <p:sldIdLst>
    <p:sldId xmlns:r="http://schemas.openxmlformats.org/officeDocument/2006/relationships" id="256" r:id="R76380bddf2e34336"/>
    <p:sldId xmlns:r="http://schemas.openxmlformats.org/officeDocument/2006/relationships" id="257" r:id="R1572a907091240d0"/>
    <p:sldId xmlns:r="http://schemas.openxmlformats.org/officeDocument/2006/relationships" id="258" r:id="R7d85d906a9364159"/>
    <p:sldId xmlns:r="http://schemas.openxmlformats.org/officeDocument/2006/relationships" id="259" r:id="R934c41cd54c9418f"/>
    <p:sldId xmlns:r="http://schemas.openxmlformats.org/officeDocument/2006/relationships" id="260" r:id="Rfe07d0686b5444fc"/>
    <p:sldId xmlns:r="http://schemas.openxmlformats.org/officeDocument/2006/relationships" id="261" r:id="R7a1c8f652de84c3d"/>
    <p:sldId xmlns:r="http://schemas.openxmlformats.org/officeDocument/2006/relationships" id="262" r:id="R8987b41f775b4805"/>
    <p:sldId xmlns:r="http://schemas.openxmlformats.org/officeDocument/2006/relationships" id="263" r:id="R9f0c5684735c4823"/>
    <p:sldId xmlns:r="http://schemas.openxmlformats.org/officeDocument/2006/relationships" id="264" r:id="R233252fb3b5a4c18"/>
    <p:sldId xmlns:r="http://schemas.openxmlformats.org/officeDocument/2006/relationships" id="265" r:id="R24d5c7d2a88d4b87"/>
    <p:sldId xmlns:r="http://schemas.openxmlformats.org/officeDocument/2006/relationships" id="266" r:id="R3259f03865dd4775"/>
    <p:sldId xmlns:r="http://schemas.openxmlformats.org/officeDocument/2006/relationships" id="267" r:id="R9af845fd5a864863"/>
    <p:sldId xmlns:r="http://schemas.openxmlformats.org/officeDocument/2006/relationships" id="268" r:id="Rf5c46a48d74b4101"/>
    <p:sldId xmlns:r="http://schemas.openxmlformats.org/officeDocument/2006/relationships" id="269" r:id="R2807a459173d4daa"/>
    <p:sldId xmlns:r="http://schemas.openxmlformats.org/officeDocument/2006/relationships" id="270" r:id="R0797ca28ea1d44a6"/>
    <p:sldId xmlns:r="http://schemas.openxmlformats.org/officeDocument/2006/relationships" id="271" r:id="Rf40e2e06bf674979"/>
    <p:sldId xmlns:r="http://schemas.openxmlformats.org/officeDocument/2006/relationships" id="272" r:id="R2b5aaa056c1f46ef"/>
    <p:sldId xmlns:r="http://schemas.openxmlformats.org/officeDocument/2006/relationships" id="273" r:id="Rb61a1ebb9f134d81"/>
    <p:sldId xmlns:r="http://schemas.openxmlformats.org/officeDocument/2006/relationships" id="274" r:id="R17948ed7fae74a73"/>
    <p:sldId xmlns:r="http://schemas.openxmlformats.org/officeDocument/2006/relationships" id="275" r:id="R31c58a7c9db94c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b55728564294e25" /><Relationship Type="http://schemas.openxmlformats.org/officeDocument/2006/relationships/slideMaster" Target="/ppt/slideMasters/slideMaster1.xml" Id="R6bdd412e7a9f4e72" /><Relationship Type="http://schemas.openxmlformats.org/officeDocument/2006/relationships/notesMaster" Target="/ppt/notesMasters/notesMaster1.xml" Id="R4f36e2ff82324f69" /><Relationship Type="http://schemas.openxmlformats.org/officeDocument/2006/relationships/presProps" Target="/ppt/presProps.xml" Id="R5cc359e389394e93" /><Relationship Type="http://schemas.openxmlformats.org/officeDocument/2006/relationships/tableStyles" Target="/ppt/tableStyles.xml" Id="R3090a60321a24a13" /><Relationship Type="http://schemas.openxmlformats.org/officeDocument/2006/relationships/slide" Target="/ppt/slides/slide1.xml" Id="R76380bddf2e34336" /><Relationship Type="http://schemas.openxmlformats.org/officeDocument/2006/relationships/slide" Target="/ppt/slides/slide2.xml" Id="R1572a907091240d0" /><Relationship Type="http://schemas.openxmlformats.org/officeDocument/2006/relationships/slide" Target="/ppt/slides/slide3.xml" Id="R7d85d906a9364159" /><Relationship Type="http://schemas.openxmlformats.org/officeDocument/2006/relationships/slide" Target="/ppt/slides/slide4.xml" Id="R934c41cd54c9418f" /><Relationship Type="http://schemas.openxmlformats.org/officeDocument/2006/relationships/slide" Target="/ppt/slides/slide5.xml" Id="Rfe07d0686b5444fc" /><Relationship Type="http://schemas.openxmlformats.org/officeDocument/2006/relationships/slide" Target="/ppt/slides/slide6.xml" Id="R7a1c8f652de84c3d" /><Relationship Type="http://schemas.openxmlformats.org/officeDocument/2006/relationships/slide" Target="/ppt/slides/slide7.xml" Id="R8987b41f775b4805" /><Relationship Type="http://schemas.openxmlformats.org/officeDocument/2006/relationships/slide" Target="/ppt/slides/slide8.xml" Id="R9f0c5684735c4823" /><Relationship Type="http://schemas.openxmlformats.org/officeDocument/2006/relationships/slide" Target="/ppt/slides/slide9.xml" Id="R233252fb3b5a4c18" /><Relationship Type="http://schemas.openxmlformats.org/officeDocument/2006/relationships/slide" Target="/ppt/slides/slide10.xml" Id="R24d5c7d2a88d4b87" /><Relationship Type="http://schemas.openxmlformats.org/officeDocument/2006/relationships/slide" Target="/ppt/slides/slide11.xml" Id="R3259f03865dd4775" /><Relationship Type="http://schemas.openxmlformats.org/officeDocument/2006/relationships/slide" Target="/ppt/slides/slide12.xml" Id="R9af845fd5a864863" /><Relationship Type="http://schemas.openxmlformats.org/officeDocument/2006/relationships/slide" Target="/ppt/slides/slide13.xml" Id="Rf5c46a48d74b4101" /><Relationship Type="http://schemas.openxmlformats.org/officeDocument/2006/relationships/slide" Target="/ppt/slides/slide14.xml" Id="R2807a459173d4daa" /><Relationship Type="http://schemas.openxmlformats.org/officeDocument/2006/relationships/slide" Target="/ppt/slides/slide15.xml" Id="R0797ca28ea1d44a6" /><Relationship Type="http://schemas.openxmlformats.org/officeDocument/2006/relationships/slide" Target="/ppt/slides/slide16.xml" Id="Rf40e2e06bf674979" /><Relationship Type="http://schemas.openxmlformats.org/officeDocument/2006/relationships/slide" Target="/ppt/slides/slide17.xml" Id="R2b5aaa056c1f46ef" /><Relationship Type="http://schemas.openxmlformats.org/officeDocument/2006/relationships/slide" Target="/ppt/slides/slide18.xml" Id="Rb61a1ebb9f134d81" /><Relationship Type="http://schemas.openxmlformats.org/officeDocument/2006/relationships/slide" Target="/ppt/slides/slide19.xml" Id="R17948ed7fae74a73" /><Relationship Type="http://schemas.openxmlformats.org/officeDocument/2006/relationships/slide" Target="/ppt/slides/slide20.xml" Id="R31c58a7c9db94c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e710cb13ec45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24124506f04668" /><Relationship Type="http://schemas.openxmlformats.org/officeDocument/2006/relationships/notesMaster" Target="/ppt/notesMasters/notesMaster1.xml" Id="R37e244f9c02a46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9c52248de649c3" /><Relationship Type="http://schemas.openxmlformats.org/officeDocument/2006/relationships/notesMaster" Target="/ppt/notesMasters/notesMaster1.xml" Id="R33e54e51e58242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0af543012c34bda" /><Relationship Type="http://schemas.openxmlformats.org/officeDocument/2006/relationships/notesMaster" Target="/ppt/notesMasters/notesMaster1.xml" Id="R92fed8275e6c41ba"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56d11be95e454c" /><Relationship Type="http://schemas.openxmlformats.org/officeDocument/2006/relationships/notesMaster" Target="/ppt/notesMasters/notesMaster1.xml" Id="Re62e1d4c635a4d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c29e6287b3ff4e05" /><Relationship Type="http://schemas.openxmlformats.org/officeDocument/2006/relationships/notesMaster" Target="/ppt/notesMasters/notesMaster1.xml" Id="R36ea4f1a3f344b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89444a5edaa4c72" /><Relationship Type="http://schemas.openxmlformats.org/officeDocument/2006/relationships/notesMaster" Target="/ppt/notesMasters/notesMaster1.xml" Id="R4e27385229be4216" /></Relationships>
</file>

<file path=ppt/notesSlides/_rels/notesSlide7.xml.rels>&#65279;<?xml version="1.0" encoding="utf-8"?><Relationships xmlns="http://schemas.openxmlformats.org/package/2006/relationships"><Relationship Type="http://schemas.openxmlformats.org/officeDocument/2006/relationships/slide" Target="/ppt/slides/slide7.xml" Id="R5e63d1e5d21b4ee0" /><Relationship Type="http://schemas.openxmlformats.org/officeDocument/2006/relationships/notesMaster" Target="/ppt/notesMasters/notesMaster1.xml" Id="Rb702e4ba388441fa" /></Relationships>
</file>

<file path=ppt/notesSlides/_rels/notesSlide8.xml.rels>&#65279;<?xml version="1.0" encoding="utf-8"?><Relationships xmlns="http://schemas.openxmlformats.org/package/2006/relationships"><Relationship Type="http://schemas.openxmlformats.org/officeDocument/2006/relationships/slide" Target="/ppt/slides/slide8.xml" Id="R69dce42398b44fb8" /><Relationship Type="http://schemas.openxmlformats.org/officeDocument/2006/relationships/notesMaster" Target="/ppt/notesMasters/notesMaster1.xml" Id="Ra22ab1f8b6e34b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dd276f4e79e646d6" /><Relationship Type="http://schemas.openxmlformats.org/officeDocument/2006/relationships/notesMaster" Target="/ppt/notesMasters/notesMaster1.xml" Id="Rd4b2d41b23b34e1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109d62169ce477e" /><Relationship Type="http://schemas.openxmlformats.org/officeDocument/2006/relationships/notesMaster" Target="/ppt/notesMasters/notesMaster1.xml" Id="R40d898ba09394f8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cfc72c75ce4eb8" /><Relationship Type="http://schemas.openxmlformats.org/officeDocument/2006/relationships/notesMaster" Target="/ppt/notesMasters/notesMaster1.xml" Id="R2ad1a144a21e465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c0a3dc2ee0a40d9" /><Relationship Type="http://schemas.openxmlformats.org/officeDocument/2006/relationships/notesMaster" Target="/ppt/notesMasters/notesMaster1.xml" Id="R9a998f6355ec4b9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0c9565ce14e409e" /><Relationship Type="http://schemas.openxmlformats.org/officeDocument/2006/relationships/notesMaster" Target="/ppt/notesMasters/notesMaster1.xml" Id="Rfa5718e0eac349b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608b57c0d2c46ac" /><Relationship Type="http://schemas.openxmlformats.org/officeDocument/2006/relationships/notesMaster" Target="/ppt/notesMasters/notesMaster1.xml" Id="Rd92266e7056344d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e9b59f16cd34cd0" /><Relationship Type="http://schemas.openxmlformats.org/officeDocument/2006/relationships/notesMaster" Target="/ppt/notesMasters/notesMaster1.xml" Id="Rb7346dc1d1dc4a9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80624add229462f" /><Relationship Type="http://schemas.openxmlformats.org/officeDocument/2006/relationships/notesMaster" Target="/ppt/notesMasters/notesMaster1.xml" Id="R3ae57af4f57343a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6e8a5738398465b" /><Relationship Type="http://schemas.openxmlformats.org/officeDocument/2006/relationships/notesMaster" Target="/ppt/notesMasters/notesMaster1.xml" Id="R53b8cdb5189249b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6be773088674d04" /><Relationship Type="http://schemas.openxmlformats.org/officeDocument/2006/relationships/notesMaster" Target="/ppt/notesMasters/notesMaster1.xml" Id="Re7fd41d307884b7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e297c2eea3e4b81" /><Relationship Type="http://schemas.openxmlformats.org/officeDocument/2006/relationships/notesMaster" Target="/ppt/notesMasters/notesMaster1.xml" Id="R0fa3704600d04d7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41cebf505154671" /><Relationship Type="http://schemas.openxmlformats.org/officeDocument/2006/relationships/notesMaster" Target="/ppt/notesMasters/notesMaster1.xml" Id="Rcb63b9449e5948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가바사료 사업은 두 부문으로 나눕니다. 가바크루드는 GABA 20% 기준품과 고객 주문에 맞춘 5~20% OEM 원료를 공급합니다. 가바케어믹스는 가바크루드와 미네랄매트릭스를 결합한 비육 한우 브랜드 축산용 배합사료로 고도화합니다. 목표는 육질 개선과 생산성 향상이지만, 실제 효과는 대조군 시험과 출하 성적으로 확인합니다.</a:t>
            </a:r>
          </a:p>
          <a:p xmlns:a="http://schemas.openxmlformats.org/drawingml/2006/main">
            <a:r>
              <a:t/>
            </a:r>
          </a:p>
          <a:p xmlns:a="http://schemas.openxmlformats.org/drawingml/2006/main">
            <a:r>
              <a:t>[Sources]</a:t>
            </a:r>
          </a:p>
          <a:p xmlns:a="http://schemas.openxmlformats.org/drawingml/2006/main">
            <a:r>
              <a:t>- 사용자 제공 사업화 정보 · 2026-08-03</a:t>
            </a:r>
          </a:p>
          <a:p xmlns:a="http://schemas.openxmlformats.org/drawingml/2006/main">
            <a:r>
              <a:t>- D:/다운로드/GABA_20_Master_Inventory_OEM_Make_to_Order_Business_Model_v5.pptx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속도를 높이되 검증 기간을 왜곡하지 않습니다. 30일 안에 제품 규격, 시험생산, 실제 원가와 유료 농장 실증을 준비합니다. 90일에는 일당증체량과 사료요구율 같은 생산성 조기 신호를 확인하고, 육질은 개체 식별이 연결된 출하 성적으로 최종 판단합니다.</a:t>
            </a:r>
          </a:p>
          <a:p xmlns:a="http://schemas.openxmlformats.org/drawingml/2006/main">
            <a:r>
              <a:t/>
            </a:r>
          </a:p>
          <a:p xmlns:a="http://schemas.openxmlformats.org/drawingml/2006/main">
            <a:r>
              <a:t>[Sources]</a:t>
            </a:r>
          </a:p>
          <a:p xmlns:a="http://schemas.openxmlformats.org/drawingml/2006/main">
            <a:r>
              <a:t>- 사용자 제공 사업화 정보 · 2026-08-03</a:t>
            </a:r>
          </a:p>
          <a:p xmlns:a="http://schemas.openxmlformats.org/drawingml/2006/main">
            <a:r>
              <a:t>- D:/다운로드/GABA_20_Master_Inventory_OEM_Make_to_Order_Business_Model_v5.pptx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가바크루드는 원료 고객에게 기준품과 주문형 농도를 공급합니다. 가바케어믹스는 그 원료에 미네랄매트릭스를 결합해 비육 한우 브랜드 축산용 배합사료로 확장합니다. 두 사업의 공통 기준은 활성 GABA 함량과 로트별 시험성적서입니다.</a:t>
            </a:r>
          </a:p>
          <a:p xmlns:a="http://schemas.openxmlformats.org/drawingml/2006/main">
            <a:r>
              <a:t/>
            </a:r>
          </a:p>
          <a:p xmlns:a="http://schemas.openxmlformats.org/drawingml/2006/main">
            <a:r>
              <a:t>[Sources]</a:t>
            </a:r>
          </a:p>
          <a:p xmlns:a="http://schemas.openxmlformats.org/drawingml/2006/main">
            <a:r>
              <a:t>- 사용자 제공 사업화 정보 · 2026-08-03</a:t>
            </a:r>
          </a:p>
          <a:p xmlns:a="http://schemas.openxmlformats.org/drawingml/2006/main">
            <a:r>
              <a:t>- D:/다운로드/GABA_20_Master_Inventory_OEM_Make_to_Order_Business_Model_v5.pptx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가바크루드는 GABA 20% 기준품을 품질의 기준점으로 삼습니다. 고객이 5~20% 농도를 주문하면 기준품을 바탕으로 OEM 생산합니다. OEM은 주문자 상표 부착 생산을 뜻합니다.</a:t>
            </a:r>
          </a:p>
          <a:p xmlns:a="http://schemas.openxmlformats.org/drawingml/2006/main">
            <a:r>
              <a:t/>
            </a:r>
          </a:p>
          <a:p xmlns:a="http://schemas.openxmlformats.org/drawingml/2006/main">
            <a:r>
              <a:t>[Sources]</a:t>
            </a:r>
          </a:p>
          <a:p xmlns:a="http://schemas.openxmlformats.org/drawingml/2006/main">
            <a:r>
              <a:t>- 사용자 제공 사업화 정보 · 2026-08-03</a:t>
            </a:r>
          </a:p>
          <a:p xmlns:a="http://schemas.openxmlformats.org/drawingml/2006/main">
            <a:r>
              <a:t>- D:/다운로드/GABA_20_Master_Inventory_OEM_Make_to_Order_Business_Model_v5.pptx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배양액 1톤은 1,000L이며 원가는 400만원입니다. 고형분 30%는 300kg이고, GABA와 기타 고형분이 2대 1이므로 GABA 200kg과 기타 고형분 100kg으로 구성됩니다. 최종 가바크루드의 GABA 함량을 20%로 맞추면 총생산량은 200kg÷20%=1,000kg입니다. 따라서 말토덱스트린은 1,000kg-300kg=700kg이 필요합니다. 실제 공정손실은 시험생산 수율로 보정해야 합니다.</a:t>
            </a:r>
          </a:p>
          <a:p xmlns:a="http://schemas.openxmlformats.org/drawingml/2006/main">
            <a:r>
              <a:t/>
            </a:r>
          </a:p>
          <a:p xmlns:a="http://schemas.openxmlformats.org/drawingml/2006/main">
            <a:r>
              <a:t>[Sources]</a:t>
            </a:r>
          </a:p>
          <a:p xmlns:a="http://schemas.openxmlformats.org/drawingml/2006/main">
            <a:r>
              <a:t>- 사용자 제공 배양액 조성·원가 정보 · 2026-08-03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재고정책은 단순합니다. 배양액 1톤당 GABA 20% 가바크루드 1,000kg을 이론 생산량으로 관리하고, 실제 생산량은 시험생산 수율로 보정합니다. 20% 기준품만 안전재고와 재주문점을 관리하고 완제품은 선생산하지 않습니다. MOQ는 최소주문수량, 리드타임은 주문부터 납품까지 걸리는 시간입니다.</a:t>
            </a:r>
          </a:p>
          <a:p xmlns:a="http://schemas.openxmlformats.org/drawingml/2006/main">
            <a:r>
              <a:t/>
            </a:r>
          </a:p>
          <a:p xmlns:a="http://schemas.openxmlformats.org/drawingml/2006/main">
            <a:r>
              <a:t>[Sources]</a:t>
            </a:r>
          </a:p>
          <a:p xmlns:a="http://schemas.openxmlformats.org/drawingml/2006/main">
            <a:r>
              <a:t>- 사용자 제공 배양액 조성·원가 정보 · 2026-08-03</a:t>
            </a:r>
          </a:p>
          <a:p xmlns:a="http://schemas.openxmlformats.org/drawingml/2006/main">
            <a:r>
              <a:t>- D:/다운로드/GABA_20_Master_Inventory_OEM_Make_to_Order_Business_Model_v5.pptx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주문은 제품 규격 확정, 마스터 출고, OEM 완제품 생산의 세 단계로 처리합니다. 고객의 농도, 수량, 표시 사항이 정해지기 전에는 생산하지 않습니다. 이 원칙이 불필요한 완제품 재고를 막아 줍니다.</a:t>
            </a:r>
          </a:p>
          <a:p xmlns:a="http://schemas.openxmlformats.org/drawingml/2006/main">
            <a:r>
              <a:t/>
            </a:r>
          </a:p>
          <a:p xmlns:a="http://schemas.openxmlformats.org/drawingml/2006/main">
            <a:r>
              <a:t>[Sources]</a:t>
            </a:r>
          </a:p>
          <a:p xmlns:a="http://schemas.openxmlformats.org/drawingml/2006/main">
            <a:r>
              <a:t>- D:/다운로드/GABA_20_Master_Inventory_OEM_Make_to_Order_Business_Model_v5.pptx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현행 규정에서 GABA 또는 발효배양물의 허용 품목을 이 자료만으로 확정하지 않았습니다. 신규·변경 물질 검토에는 제조방법, 안전성, 품질, 첨가수준 자료가 중요하므로 사전검토를 서면으로 받아야 합니다. 공장 QA에는 추적·검사·회수 체계까지 포함합니다.</a:t>
            </a:r>
          </a:p>
          <a:p xmlns:a="http://schemas.openxmlformats.org/drawingml/2006/main">
            <a:r>
              <a:t/>
            </a:r>
          </a:p>
          <a:p xmlns:a="http://schemas.openxmlformats.org/drawingml/2006/main">
            <a:r>
              <a:t>[Sources]</a:t>
            </a:r>
          </a:p>
          <a:p xmlns:a="http://schemas.openxmlformats.org/drawingml/2006/main">
            <a:r>
              <a:t>- https://www.law.go.kr/행정규칙/사료%20등의%20기준%20및%20규격</a:t>
            </a:r>
          </a:p>
          <a:p xmlns:a="http://schemas.openxmlformats.org/drawingml/2006/main">
            <a:r>
              <a:t>- https://www.law.go.kr/LSW/admRulInfoP.do?admRulSeq=2100000231582&amp;chrClsCd=010201</a:t>
            </a:r>
          </a:p>
          <a:p xmlns:a="http://schemas.openxmlformats.org/drawingml/2006/main">
            <a:r>
              <a:t>- https://www.mafra.go.kr/bbs/home/792/577302/artclView.do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연구의 결과는 일관되지 않습니다. 2026년 젖소 연구에서는 산유량 차이가 통계적으로 유의하지 않았고 일부 유성분만 유의했습니다. 2023년 한우 연구는 초기 증체에서 가능성을 보였지만 도체 지표는 유의하지 않았습니다. 2025년 넙치 연구에서도 성장 개선이 확인되지 않았습니다. 따라서 기존 연구를 효능 주장으로 사용하지 않고, 비육 한우와 해당 제품에 맞춘 대조군 시험을 새로 설계합니다.</a:t>
            </a:r>
          </a:p>
          <a:p xmlns:a="http://schemas.openxmlformats.org/drawingml/2006/main">
            <a:r>
              <a:t/>
            </a:r>
          </a:p>
          <a:p xmlns:a="http://schemas.openxmlformats.org/drawingml/2006/main">
            <a:r>
              <a:t>[Sources]</a:t>
            </a:r>
          </a:p>
          <a:p xmlns:a="http://schemas.openxmlformats.org/drawingml/2006/main">
            <a:r>
              <a:t>- https://www.mdpi.com/2076-2615/16/2/262</a:t>
            </a:r>
          </a:p>
          <a:p xmlns:a="http://schemas.openxmlformats.org/drawingml/2006/main">
            <a:r>
              <a:t>- https://www.kci.go.kr/kciportal/landing/article.kci?arti_id=ART003036784</a:t>
            </a:r>
          </a:p>
          <a:p xmlns:a="http://schemas.openxmlformats.org/drawingml/2006/main">
            <a:r>
              <a:t>- https://www.e-kfas.org/Upload/files/kfas/4.%2058%281%29%2033-45.pdf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시험은 비육 한우로 좁힙니다. 같은 사육 조건에서 가바케어믹스 급여군과 대조군을 비교하고, 제품 활성함량과 배합 조건을 고정합니다. 생산성은 ADG, FCR, kg 증체당 사료비로 보고, 육질은 도체중, 등심단면적, 근내지방도, 육질등급, 등지방두께로 판단합니다. ADG는 일당증체량, FCR은 체중 1kg 증가에 필요한 사료량입니다.</a:t>
            </a:r>
          </a:p>
          <a:p xmlns:a="http://schemas.openxmlformats.org/drawingml/2006/main">
            <a:r>
              <a:t/>
            </a:r>
          </a:p>
          <a:p xmlns:a="http://schemas.openxmlformats.org/drawingml/2006/main">
            <a:r>
              <a:t>[Sources]</a:t>
            </a:r>
          </a:p>
          <a:p xmlns:a="http://schemas.openxmlformats.org/drawingml/2006/main">
            <a:r>
              <a:t>- 사용자 제공 사업화 정보 · 2026-08-03</a:t>
            </a:r>
          </a:p>
          <a:p xmlns:a="http://schemas.openxmlformats.org/drawingml/2006/main">
            <a:r>
              <a:t>- https://www.kci.go.kr/kciportal/landing/article.kci?arti_id=ART003036784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배양액 원가만 반영한 확인 가능 원가 하한은 kg당 4,000원입니다. 최종 매출원가는 배양액 400만원에 말토덱스트린 700kg의 실제 단가와 건조·검사·포장비를 더한 뒤 가바크루드 1,000kg으로 나눠 계산합니다. 따라서 14,000원은 추가 원가를 반영하기 전 매출총이익 상한이며 확정 이익이 아닙니다.</a:t>
            </a:r>
          </a:p>
          <a:p xmlns:a="http://schemas.openxmlformats.org/drawingml/2006/main">
            <a:r>
              <a:t/>
            </a:r>
          </a:p>
          <a:p xmlns:a="http://schemas.openxmlformats.org/drawingml/2006/main">
            <a:r>
              <a:t>[Sources]</a:t>
            </a:r>
          </a:p>
          <a:p xmlns:a="http://schemas.openxmlformats.org/drawingml/2006/main">
            <a:r>
              <a:t>- 사용자 제공 배양액 조성·원가 정보 · 2026-08-03</a:t>
            </a:r>
          </a:p>
          <a:p xmlns:a="http://schemas.openxmlformats.org/drawingml/2006/main">
            <a:r>
              <a:t>- D:/다운로드/GABA_20_Master_Inventory_OEM_Make_to_Order_Business_Model_v5.pptx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매출액 6,000원에서 제품 매출원가 351원을 빼면 매출총이익은 사료 1톤당 5,649원입니다. 판매·현장 변동비 1,500원을 추가로 차감한 손익분기 기준이익은 4,149원입니다. 기존 모델의 제품 투입량 75g/사료t과 제품원가 4,681.8원/kg은 아직 유효용량과 실제 견적으로 확인해야 합니다.</a:t>
            </a:r>
          </a:p>
          <a:p xmlns:a="http://schemas.openxmlformats.org/drawingml/2006/main">
            <a:r>
              <a:t/>
            </a:r>
          </a:p>
          <a:p xmlns:a="http://schemas.openxmlformats.org/drawingml/2006/main">
            <a:r>
              <a:t>[Sources]</a:t>
            </a:r>
          </a:p>
          <a:p xmlns:a="http://schemas.openxmlformats.org/drawingml/2006/main">
            <a:r>
              <a:t>- D:/다운로드/GABA_20_Master_Inventory_OEM_Make_to_Order_Business_Model_v5.pptx</a:t>
            </a:r>
          </a:p>
          <a:p xmlns:a="http://schemas.openxmlformats.org/drawingml/2006/main">
            <a:r>
              <a:t>- https://www.mdpi.com/2076-2615/16/2/262</a:t>
            </a:r>
          </a:p>
          <a:p xmlns:a="http://schemas.openxmlformats.org/drawingml/2006/main">
            <a:r>
              <a:t>- https://www.kci.go.kr/kciportal/landing/article.kci?arti_id=ART003036784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고객가치 18,000원/사료t은 원본의 가정입니다. 이 숫자는 고객 현장에서 비교군을 두고 손실회피 또는 생산성 개선을 측정할 때만 영업 근거가 됩니다. B/C는 편익을 비용으로 나눈 비율입니다.</a:t>
            </a:r>
          </a:p>
          <a:p xmlns:a="http://schemas.openxmlformats.org/drawingml/2006/main">
            <a:r>
              <a:t/>
            </a:r>
          </a:p>
          <a:p xmlns:a="http://schemas.openxmlformats.org/drawingml/2006/main">
            <a:r>
              <a:t>[Sources]</a:t>
            </a:r>
          </a:p>
          <a:p xmlns:a="http://schemas.openxmlformats.org/drawingml/2006/main">
            <a:r>
              <a:t>- D:/다운로드/GABA_20_Master_Inventory_OEM_Make_to_Order_Business_Model_v5.pptx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페이지는 잠재 매출 규모를 보여주는 시나리오이지 매출 예측이 아닙니다. 가바크루드 20톤과 가바케어믹스 5만 사료톤이 실제 반복주문으로 확인될 때 총매출액은 6.60억원입니다. 매출총이익은 가바크루드의 말토덱스트린·건조·검사·포장 원가를 입력한 뒤 계산해야 합니다.</a:t>
            </a:r>
          </a:p>
          <a:p xmlns:a="http://schemas.openxmlformats.org/drawingml/2006/main">
            <a:r>
              <a:t/>
            </a:r>
          </a:p>
          <a:p xmlns:a="http://schemas.openxmlformats.org/drawingml/2006/main">
            <a:r>
              <a:t>[Sources]</a:t>
            </a:r>
          </a:p>
          <a:p xmlns:a="http://schemas.openxmlformats.org/drawingml/2006/main">
            <a:r>
              <a:t>- 사용자 제공 배양액 조성·원가 정보 · 2026-08-03</a:t>
            </a:r>
          </a:p>
          <a:p xmlns:a="http://schemas.openxmlformats.org/drawingml/2006/main">
            <a:r>
              <a:t>- D:/다운로드/GABA_20_Master_Inventory_OEM_Make_to_Order_Business_Model_v5.pptx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비전바이오켐의 배양액 생산가능량은 월 20톤, 지에프퍼멘텍은 월 200톤으로 제공됐습니다. 합계는 월 220톤입니다. 배양액 1톤당 이론상 가바크루드 1톤이므로 월 220톤 생산이 가능하며 말토덱스트린은 월 154톤이 필요합니다. CAPA는 생산가능량을 뜻하며 계약, 실제 가동률, 품질체계와 공정수율을 확인한 뒤 공급계획에 반영해야 합니다.</a:t>
            </a:r>
          </a:p>
          <a:p xmlns:a="http://schemas.openxmlformats.org/drawingml/2006/main">
            <a:r>
              <a:t/>
            </a:r>
          </a:p>
          <a:p xmlns:a="http://schemas.openxmlformats.org/drawingml/2006/main">
            <a:r>
              <a:t>[Sources]</a:t>
            </a:r>
          </a:p>
          <a:p xmlns:a="http://schemas.openxmlformats.org/drawingml/2006/main">
            <a:r>
              <a:t>- 사용자 제공 사업화 정보 · 2026-08-03</a:t>
            </a:r>
          </a:p>
          <a:p xmlns:a="http://schemas.openxmlformats.org/drawingml/2006/main">
            <a:r>
              <a:t>- 사용자 제공 배양액 조성·원가 정보 · 2026-08-03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30일은 제품과 사업 준비의 시간입니다. 이 기간에 제품 규격, 품목·표시 문구, 시험생산, 실제 원가와 유료 농장 계약을 확인합니다. 90일은 생산성의 조기 신호를 보는 기간이며, 육질은 출하 성적으로 최종 판정합니다. 이상반응, 지속적인 섭취 저하, kg 증체당 비용 악화, 제품 규격 미달이 확인되면 시험을 중단하거나 확대를 보류합니다.</a:t>
            </a:r>
          </a:p>
          <a:p xmlns:a="http://schemas.openxmlformats.org/drawingml/2006/main">
            <a:r>
              <a:t/>
            </a:r>
          </a:p>
          <a:p xmlns:a="http://schemas.openxmlformats.org/drawingml/2006/main">
            <a:r>
              <a:t>[Sources]</a:t>
            </a:r>
          </a:p>
          <a:p xmlns:a="http://schemas.openxmlformats.org/drawingml/2006/main">
            <a:r>
              <a:t>- 사용자 제공 사업화 정보 · 2026-08-03</a:t>
            </a:r>
          </a:p>
          <a:p xmlns:a="http://schemas.openxmlformats.org/drawingml/2006/main">
            <a:r>
              <a:t>- https://www.law.go.kr/행정규칙/사료%20등의%20기준%20및%20규격</a:t>
            </a:r>
          </a:p>
          <a:p xmlns:a="http://schemas.openxmlformats.org/drawingml/2006/main">
            <a:r>
              <a:t>- https://www.law.go.kr/LSW/admRulInfoP.do?admRulSeq=2100000231582&amp;chrClsCd=010201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0일에서 7일 사이에는 제품 규격, 품목·표시 문구와 비육 한우 대조군 시험계획을 확정합니다. 8일에서 21일 사이에는 시험생산 한 번과 3지점 시료로 재현성을 확인하고 실제 원가를 계산합니다. 22일에서 30일 사이에는 유료 농장 한 곳과 발주서 한 건을 확보해 실증을 시작합니다. 이후 90일까지 생산성 조기 신호를 보고, 육질은 출하 시점에 최종 판단합니다.</a:t>
            </a:r>
          </a:p>
          <a:p xmlns:a="http://schemas.openxmlformats.org/drawingml/2006/main">
            <a:r>
              <a:t/>
            </a:r>
          </a:p>
          <a:p xmlns:a="http://schemas.openxmlformats.org/drawingml/2006/main">
            <a:r>
              <a:t>[Sources]</a:t>
            </a:r>
          </a:p>
          <a:p xmlns:a="http://schemas.openxmlformats.org/drawingml/2006/main">
            <a:r>
              <a:t>- 사용자 제공 사업화 정보 · 2026-08-03</a:t>
            </a:r>
          </a:p>
          <a:p xmlns:a="http://schemas.openxmlformats.org/drawingml/2006/main">
            <a:r>
              <a:t>- https://www.law.go.kr/행정규칙/사료%20등의%20기준%20및%20규격</a:t>
            </a:r>
          </a:p>
          <a:p xmlns:a="http://schemas.openxmlformats.org/drawingml/2006/main">
            <a:r>
              <a:t>- https://www.law.go.kr/LSW/admRulInfoP.do?admRulSeq=2100000231582&amp;chrClsCd=010201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분석기술 전문가는 장순욱 셀핀다 생명과학연구소 부사장으로, 해원바이오 전무와 한국신약 연구소장을 지냈습니다. 분석기술 고문은 구자룡 충남대 농업과학연구소 총괄책임으로, 우성사료 연구소장을 지냈습니다. 정밀발효·정제 전문가는 박지호 셀핀다 생명과학연구소 소장으로, 현대바이오랜드 재직 경력이 있습니다. 박지호 소장의 과거 직책은 제공되지 않아 재직 경력으로만 표기했습니다.</a:t>
            </a:r>
          </a:p>
          <a:p xmlns:a="http://schemas.openxmlformats.org/drawingml/2006/main">
            <a:r>
              <a:t/>
            </a:r>
          </a:p>
          <a:p xmlns:a="http://schemas.openxmlformats.org/drawingml/2006/main">
            <a:r>
              <a:t>[Sources]</a:t>
            </a:r>
          </a:p>
          <a:p xmlns:a="http://schemas.openxmlformats.org/drawingml/2006/main">
            <a:r>
              <a:t>- 사용자 제공 사업화 정보 · 2026-08-03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사업화 일정은 세 단계입니다. 2026년 8월에는 생산 파트너를 활용한 파일럿 생산으로 공정수율, 제품 규격, 시험성적서와 실제 매출원가를 확인합니다. 2027년 상반기에는 유료 반복 주문과 납기·품질·매출총이익 조건을 통과한 범위에서 양산을 가동합니다. 2028년 하반기에는 확정 수요, 가동률, 투자 회수, 인허가와 자금조달을 확인한 뒤 5톤·10톤·50톤급 발효조 구성을 비교해 자체 공장 설립을 추진합니다. 지금의 승인 요청은 대규모 설비 투자가 아니라 30일 검증 예산 4,560만원입니다.</a:t>
            </a:r>
          </a:p>
          <a:p xmlns:a="http://schemas.openxmlformats.org/drawingml/2006/main">
            <a:r>
              <a:t/>
            </a:r>
          </a:p>
          <a:p xmlns:a="http://schemas.openxmlformats.org/drawingml/2006/main">
            <a:r>
              <a:t>[Sources]</a:t>
            </a:r>
          </a:p>
          <a:p xmlns:a="http://schemas.openxmlformats.org/drawingml/2006/main">
            <a:r>
              <a:t>- 사용자 제공 사업화 정보 · 2026-08-03</a:t>
            </a:r>
          </a:p>
          <a:p xmlns:a="http://schemas.openxmlformats.org/drawingml/2006/main">
            <a:r>
              <a:t>- D:/다운로드/GABA_20_Master_Inventory_OEM_Make_to_Order_Business_Model_v5.pptx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 장은 두 사업의 정의, 통상적인 손익 용어, 주요 사업화 일정과 이용 시 주의사항을 정리했습니다. 매출총이익은 매출액에서 매출원가를 뺀 금액이며 판매관리비와 고정비를 차감하기 전 값입니다. 2026년 8월 파일럿 생산, 2027년 상반기 양산 가동, 2028년 하반기 자체 공장 설립은 목표 일정이며 단계별 승인 조건을 통과해야 합니다. 30일은 제품과 사업 준비를 마치고 유료 실증을 시작하는 목표이며, 육질 개선 효능을 확정하는 시점이 아닙니다. 법적 분류와 표시·광고 문구는 별도 전문 검토가 필요합니다.</a:t>
            </a:r>
          </a:p>
          <a:p xmlns:a="http://schemas.openxmlformats.org/drawingml/2006/main">
            <a:r>
              <a:t/>
            </a:r>
          </a:p>
          <a:p xmlns:a="http://schemas.openxmlformats.org/drawingml/2006/main">
            <a:r>
              <a:t>[Sources]</a:t>
            </a:r>
          </a:p>
          <a:p xmlns:a="http://schemas.openxmlformats.org/drawingml/2006/main">
            <a:r>
              <a:t>- 사용자 제공 사업화 정보 · 2026-08-03</a:t>
            </a:r>
          </a:p>
          <a:p xmlns:a="http://schemas.openxmlformats.org/drawingml/2006/main">
            <a:r>
              <a:t>- 사용자 제공 배양액 조성·원가 정보 · 2026-08-03</a:t>
            </a:r>
          </a:p>
          <a:p xmlns:a="http://schemas.openxmlformats.org/drawingml/2006/main">
            <a:r>
              <a:t>- https://www.law.go.kr/행정규칙/사료%20등의%20기준%20및%20규격</a:t>
            </a:r>
          </a:p>
          <a:p xmlns:a="http://schemas.openxmlformats.org/drawingml/2006/main">
            <a:r>
              <a:t>- https://www.law.go.kr/LSW/admRulInfoP.do?admRulSeq=2100000231582&amp;chrClsCd=010201</a:t>
            </a:r>
          </a:p>
          <a:p xmlns:a="http://schemas.openxmlformats.org/drawingml/2006/main">
            <a:r>
              <a:t>- https://www.mafra.go.kr/bbs/home/791/597692/download.do</a:t>
            </a:r>
          </a:p>
          <a:p xmlns:a="http://schemas.openxmlformats.org/drawingml/2006/main">
            <a:r>
              <a:t>- https://www.mdpi.com/2076-2615/16/2/262</a:t>
            </a:r>
          </a:p>
          <a:p xmlns:a="http://schemas.openxmlformats.org/drawingml/2006/main">
            <a:r>
              <a:t>- https://www.kci.go.kr/kciportal/landing/article.kci?arti_id=ART003036784</a:t>
            </a:r>
          </a:p>
          <a:p xmlns:a="http://schemas.openxmlformats.org/drawingml/2006/main">
            <a:r>
              <a:t>- https://www.e-kfas.org/Upload/files/kfas/4.%2058%281%29%2033-45.pdf</a:t>
            </a:r>
          </a:p>
          <a:p xmlns:a="http://schemas.openxmlformats.org/drawingml/2006/main">
            <a:r>
              <a:t>- D:/다운로드/GABA_20_Master_Inventory_OEM_Make_to_Order_Business_Model_v5.pptx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0159fdec09486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316721e58b4462" /><Relationship Type="http://schemas.openxmlformats.org/officeDocument/2006/relationships/slideLayout" Target="/ppt/slideLayouts/slideLayout1.xml" Id="R9e9b18afb5214a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9b18afb5214a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889ca60d09248e3" /><Relationship Type="http://schemas.openxmlformats.org/officeDocument/2006/relationships/notesSlide" Target="/ppt/notesSlides/notesSlide1.xml" Id="R27a699b8900248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9af6271914d4bc0" /><Relationship Type="http://schemas.openxmlformats.org/officeDocument/2006/relationships/notesSlide" Target="/ppt/notesSlides/notesSlide2.xml" Id="R93685b4cb816428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3b6a10d36ee4ed9" /><Relationship Type="http://schemas.openxmlformats.org/officeDocument/2006/relationships/notesSlide" Target="/ppt/notesSlides/notesSlide3.xml" Id="R13ede11e798744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c42e2ad97e0498b" /><Relationship Type="http://schemas.openxmlformats.org/officeDocument/2006/relationships/notesSlide" Target="/ppt/notesSlides/notesSlide4.xml" Id="R4a772d3bbe3348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e1b0ad3af9e4405" /><Relationship Type="http://schemas.openxmlformats.org/officeDocument/2006/relationships/notesSlide" Target="/ppt/notesSlides/notesSlide5.xml" Id="Rf7645db8b52640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d2eca4cd21d4596" /><Relationship Type="http://schemas.openxmlformats.org/officeDocument/2006/relationships/notesSlide" Target="/ppt/notesSlides/notesSlide6.xml" Id="Rb9d642ed855b44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abd550b18d7491b" /><Relationship Type="http://schemas.openxmlformats.org/officeDocument/2006/relationships/notesSlide" Target="/ppt/notesSlides/notesSlide7.xml" Id="R5b485af48c92451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b2b88f8d7c44e9d" /><Relationship Type="http://schemas.openxmlformats.org/officeDocument/2006/relationships/notesSlide" Target="/ppt/notesSlides/notesSlide8.xml" Id="R6d93c6c02fa1423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11b1421c87e45cd" /><Relationship Type="http://schemas.openxmlformats.org/officeDocument/2006/relationships/notesSlide" Target="/ppt/notesSlides/notesSlide9.xml" Id="R00b925bd37f74a2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2dc02f6bfcc41a6" /><Relationship Type="http://schemas.openxmlformats.org/officeDocument/2006/relationships/notesSlide" Target="/ppt/notesSlides/notesSlide10.xml" Id="R2e160f062cf94bc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ecc9f411e3e4445" /><Relationship Type="http://schemas.openxmlformats.org/officeDocument/2006/relationships/notesSlide" Target="/ppt/notesSlides/notesSlide11.xml" Id="Ref04313a5617489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792a0d98edf4a83" /><Relationship Type="http://schemas.openxmlformats.org/officeDocument/2006/relationships/notesSlide" Target="/ppt/notesSlides/notesSlide12.xml" Id="Ree49a1e476e14e8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a76461b14634a00" /><Relationship Type="http://schemas.openxmlformats.org/officeDocument/2006/relationships/notesSlide" Target="/ppt/notesSlides/notesSlide13.xml" Id="Ra10d1afdf189445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aa80ad2192a4344" /><Relationship Type="http://schemas.openxmlformats.org/officeDocument/2006/relationships/notesSlide" Target="/ppt/notesSlides/notesSlide14.xml" Id="R41ae24f3d2f94f3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a97c836bf694b99" /><Relationship Type="http://schemas.openxmlformats.org/officeDocument/2006/relationships/chart" Target="/ppt/slides/charts/chart1.xml" Id="Rc5149fd3899c4e0a" /><Relationship Type="http://schemas.openxmlformats.org/officeDocument/2006/relationships/notesSlide" Target="/ppt/notesSlides/notesSlide15.xml" Id="R663e5430417e431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d1df61a21864033" /><Relationship Type="http://schemas.openxmlformats.org/officeDocument/2006/relationships/notesSlide" Target="/ppt/notesSlides/notesSlide16.xml" Id="R097d0587856b4f4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4dd271ed902404f" /><Relationship Type="http://schemas.openxmlformats.org/officeDocument/2006/relationships/notesSlide" Target="/ppt/notesSlides/notesSlide17.xml" Id="R2cb80f949a054d9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95a3758bceb4c46" /><Relationship Type="http://schemas.openxmlformats.org/officeDocument/2006/relationships/notesSlide" Target="/ppt/notesSlides/notesSlide18.xml" Id="R35f26d33ec774f3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2f561617cd745f1" /><Relationship Type="http://schemas.openxmlformats.org/officeDocument/2006/relationships/notesSlide" Target="/ppt/notesSlides/notesSlide19.xml" Id="R066612f8ac9442c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243017e12e94e48" /><Relationship Type="http://schemas.openxmlformats.org/officeDocument/2006/relationships/notesSlide" Target="/ppt/notesSlides/notesSlide20.xml" Id="R6cb63ac6cac5446a" /></Relationships>
</file>

<file path=ppt/slides/charts/chart1.xml><?xml version="1.0" encoding="utf-8"?>
<c:chartSpace xmlns:c="http://schemas.openxmlformats.org/drawingml/2006/chart">
  <c:lang val="en-US"/>
  <c:chart>
    <c:plotArea>
      <c:lineChart>
        <c:grouping val="standard"/>
        <c:varyColors val="0"/>
        <c:ser>
          <c:idx val="0"/>
          <c:order val="0"/>
          <c:tx>
            <c:v>활성 GABA(t/년)</c:v>
          </c:tx>
          <c:spPr>
            <a:ln xmlns:a="http://schemas.openxmlformats.org/drawingml/2006/main" w="28575">
              <a:solidFill>
                <a:srgbClr val="00A878"/>
              </a:solidFill>
              <a:prstDash val="solid"/>
            </a:ln>
          </c:spPr>
          <c:marker>
            <c:symbol val="circle"/>
            <c:size val="6"/>
          </c:marker>
          <c:cat>
            <c:strLit>
              <c:ptCount val="4"/>
              <c:pt idx="0">
                <c:v>비전바이오켐</c:v>
              </c:pt>
              <c:pt idx="1">
                <c:v>비전바이오켐</c:v>
              </c:pt>
              <c:pt idx="2">
                <c:v>지에프퍼멘텍</c:v>
              </c:pt>
              <c:pt idx="3">
                <c:v>지에프퍼멘텍</c:v>
              </c:pt>
            </c:strLit>
          </c:cat>
          <c:val>
            <c:numLit>
              <c:formatCode>0.0</c:formatCode>
              <c:ptCount val="4"/>
              <c:pt idx="0">
                <c:v>20</c:v>
              </c:pt>
              <c:pt idx="1">
                <c:v>20</c:v>
              </c:pt>
              <c:pt idx="2">
                <c:v>200</c:v>
              </c:pt>
              <c:pt idx="3">
                <c:v>200</c:v>
              </c:pt>
            </c:numLit>
          </c:val>
        </c:ser>
        <c:dLbls>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72768"/>
        <c:lblAlgn val="ctr"/>
        <c:lblOffset val="100"/>
        <c:noMultiLvlLbl val="0"/>
      </c:catAx>
      <c:valAx>
        <c:axId val="48672768"/>
        <c:scaling>
          <c:orientation val="minMax"/>
          <c:max val="220"/>
          <c:min val="0"/>
        </c:scaling>
        <c:delete val="0"/>
        <c:axPos val="l"/>
        <c:majorGridlines>
          <c:spPr>
            <a:ln xmlns:a="http://schemas.openxmlformats.org/drawingml/2006/main" w="9525">
              <a:solidFill>
                <a:srgbClr val="EDEDED"/>
              </a:solidFill>
              <a:prstDash val="solid"/>
            </a:ln>
          </c:spPr>
        </c:majorGridlines>
        <c:numFmt formatCode="0"/>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50112"/>
        <c:crossBetween val="between"/>
        <c:majorUnit val="50"/>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6" name="Title-3-1">
            <a:extLst xmlns:a="http://schemas.openxmlformats.org/drawingml/2006/main">
              <a:ext uri="{FF2B5EF4-FFF2-40B4-BE49-F238E27FC236}">
                <a16:creationId xmlns:a16="http://schemas.microsoft.com/office/drawing/2014/main" id="{CEC8634E-8608-4CFC-AABB-C79CBFD2183A}"/>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buNone/>
              <a:defRPr sz="6000">
                <a:solidFill>
                  <a:srgbClr val="000000"/>
                </a:solidFill>
                <a:latin typeface="Helvetica Neue"/>
                <a:ea typeface="Helvetica Neue"/>
                <a:cs typeface="Helvetica Neue"/>
              </a:defRPr>
            </a:pPr>
            <a:r>
              <a:t>육질과 생산성을 함께 검증하는 가바케어믹스로 고도화한다</a:t>
            </a:r>
          </a:p>
        </p:txBody>
      </p:sp>
      <p:sp>
        <p:nvSpPr>
          <p:cNvPr id="2" name="Subtitle-4-2">
            <a:extLst xmlns:a="http://schemas.openxmlformats.org/drawingml/2006/main">
              <a:ext uri="{FF2B5EF4-FFF2-40B4-BE49-F238E27FC236}">
                <a16:creationId xmlns:a16="http://schemas.microsoft.com/office/drawing/2014/main" id="{362AD5FE-C022-4A84-8566-7192195AE44D}"/>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가바크루드: GABA 20% 기준품·OEM 5~20% 원료</a:t>
            </a:r>
          </a:p>
          <a:p xmlns:a="http://schemas.openxmlformats.org/drawingml/2006/main">
            <a:pPr algn="l">
              <a:buNone/>
              <a:defRPr sz="2400">
                <a:solidFill>
                  <a:srgbClr val="000000"/>
                </a:solidFill>
                <a:latin typeface="Helvetica Neue"/>
                <a:ea typeface="Helvetica Neue"/>
                <a:cs typeface="Helvetica Neue"/>
              </a:defRPr>
            </a:pPr>
            <a:r>
              <a:t>가바케어믹스: 비육 한우 브랜드 축산용 배합사료</a:t>
            </a:r>
          </a:p>
        </p:txBody>
      </p:sp>
      <p:sp>
        <p:nvSpPr>
          <p:cNvPr id="3" name="Subtitle-4-3">
            <a:extLst xmlns:a="http://schemas.openxmlformats.org/drawingml/2006/main">
              <a:ext uri="{FF2B5EF4-FFF2-40B4-BE49-F238E27FC236}">
                <a16:creationId xmlns:a16="http://schemas.microsoft.com/office/drawing/2014/main" id="{A8CDEDD7-7EBB-4481-B233-7DADAAE8D654}"/>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사업화 발표자료 · 2026.08</a:t>
            </a:r>
          </a:p>
        </p:txBody>
      </p:sp>
      <p:sp>
        <p:nvSpPr>
          <p:cNvPr id="4" name="brand-rule-1">
            <a:extLst xmlns:a="http://schemas.openxmlformats.org/drawingml/2006/main">
              <a:ext uri="{FF2B5EF4-FFF2-40B4-BE49-F238E27FC236}">
                <a16:creationId xmlns:a16="http://schemas.microsoft.com/office/drawing/2014/main" id="{CA1F29A9-BADD-4BED-BF68-8B0C79487B53}"/>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5" name="brand-footer-1">
            <a:extLst xmlns:a="http://schemas.openxmlformats.org/drawingml/2006/main">
              <a:ext uri="{FF2B5EF4-FFF2-40B4-BE49-F238E27FC236}">
                <a16:creationId xmlns:a16="http://schemas.microsoft.com/office/drawing/2014/main" id="{FF036762-6761-4834-ADCD-DA1291523648}"/>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01 | THESIS</a:t>
            </a:r>
          </a:p>
        </p:txBody>
      </p:sp>
    </p:spTree>
    <p:extLst>
      <p:ext uri="{BB962C8B-B14F-4D97-AF65-F5344CB8AC3E}">
        <p14:creationId xmlns:p14="http://schemas.microsoft.com/office/powerpoint/2010/main" val="69088520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Title-3-1">
            <a:extLst xmlns:a="http://schemas.openxmlformats.org/drawingml/2006/main">
              <a:ext uri="{FF2B5EF4-FFF2-40B4-BE49-F238E27FC236}">
                <a16:creationId xmlns:a16="http://schemas.microsoft.com/office/drawing/2014/main" id="{4E73852B-3E73-49A0-9BFA-C1069C65A177}"/>
              </a:ext>
            </a:extLst>
          </p:cNvPr>
          <p:cNvSpPr>
            <a:spLocks xmlns:a="http://schemas.openxmlformats.org/drawingml/2006/main" noGrp="1"/>
          </p:cNvSpPr>
          <p:nvPr/>
        </p:nvSpPr>
        <p:spPr>
          <a:xfrm xmlns:a="http://schemas.openxmlformats.org/drawingml/2006/main">
            <a:off x="393668" y="2579942"/>
            <a:ext cx="9448800" cy="3624263"/>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buNone/>
              <a:defRPr sz="6000">
                <a:solidFill>
                  <a:srgbClr val="000000"/>
                </a:solidFill>
                <a:latin typeface="Helvetica Neue"/>
                <a:ea typeface="Helvetica Neue"/>
                <a:cs typeface="Helvetica Neue"/>
              </a:defRPr>
            </a:pPr>
            <a:r>
              <a:t>30일 안에 준비하고,</a:t>
            </a:r>
          </a:p>
          <a:p xmlns:a="http://schemas.openxmlformats.org/drawingml/2006/main">
            <a:pPr algn="l">
              <a:buNone/>
              <a:defRPr sz="6000">
                <a:solidFill>
                  <a:srgbClr val="000000"/>
                </a:solidFill>
                <a:latin typeface="Helvetica Neue"/>
                <a:ea typeface="Helvetica Neue"/>
                <a:cs typeface="Helvetica Neue"/>
              </a:defRPr>
            </a:pPr>
            <a:r>
              <a:t>육질은 출하 시 판정한다</a:t>
            </a:r>
          </a:p>
        </p:txBody>
      </p:sp>
      <p:sp>
        <p:nvSpPr>
          <p:cNvPr id="2" name="Subtitle-4-2">
            <a:extLst xmlns:a="http://schemas.openxmlformats.org/drawingml/2006/main">
              <a:ext uri="{FF2B5EF4-FFF2-40B4-BE49-F238E27FC236}">
                <a16:creationId xmlns:a16="http://schemas.microsoft.com/office/drawing/2014/main" id="{41D73F4A-10CA-4BEC-8903-349333AA7EF9}"/>
              </a:ext>
            </a:extLst>
          </p:cNvPr>
          <p:cNvSpPr>
            <a:spLocks xmlns:a="http://schemas.openxmlformats.org/drawingml/2006/main" noGrp="1"/>
          </p:cNvSpPr>
          <p:nvPr/>
        </p:nvSpPr>
        <p:spPr>
          <a:xfrm xmlns:a="http://schemas.openxmlformats.org/drawingml/2006/main">
            <a:off x="393668" y="392240"/>
            <a:ext cx="6157817"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GABA CARE MIX | BRANDED HANWOO</a:t>
            </a:r>
          </a:p>
        </p:txBody>
      </p:sp>
      <p:sp>
        <p:nvSpPr>
          <p:cNvPr id="3" name="Subtitle-4-3">
            <a:extLst xmlns:a="http://schemas.openxmlformats.org/drawingml/2006/main">
              <a:ext uri="{FF2B5EF4-FFF2-40B4-BE49-F238E27FC236}">
                <a16:creationId xmlns:a16="http://schemas.microsoft.com/office/drawing/2014/main" id="{DF9034B2-BA94-4EB3-B461-4FBB5F96BACA}"/>
              </a:ext>
            </a:extLst>
          </p:cNvPr>
          <p:cNvSpPr>
            <a:spLocks xmlns:a="http://schemas.openxmlformats.org/drawingml/2006/main" noGrp="1"/>
          </p:cNvSpPr>
          <p:nvPr/>
        </p:nvSpPr>
        <p:spPr>
          <a:xfrm xmlns:a="http://schemas.openxmlformats.org/drawingml/2006/main">
            <a:off x="7886700" y="392240"/>
            <a:ext cx="39116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30일 실증 착수 · 90일 생산성 신호</a:t>
            </a:r>
          </a:p>
        </p:txBody>
      </p:sp>
      <p:sp>
        <p:nvSpPr>
          <p:cNvPr id="4" name="brand-rule-2">
            <a:extLst xmlns:a="http://schemas.openxmlformats.org/drawingml/2006/main">
              <a:ext uri="{FF2B5EF4-FFF2-40B4-BE49-F238E27FC236}">
                <a16:creationId xmlns:a16="http://schemas.microsoft.com/office/drawing/2014/main" id="{25713A14-BD67-4D51-87F2-93F34382ACE1}"/>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5" name="brand-footer-2">
            <a:extLst xmlns:a="http://schemas.openxmlformats.org/drawingml/2006/main">
              <a:ext uri="{FF2B5EF4-FFF2-40B4-BE49-F238E27FC236}">
                <a16:creationId xmlns:a16="http://schemas.microsoft.com/office/drawing/2014/main" id="{E9521AF2-7264-4CC8-AEBF-DEB9799FF568}"/>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02 | EXECUTIVE THESIS</a:t>
            </a:r>
          </a:p>
        </p:txBody>
      </p:sp>
    </p:spTree>
    <p:extLst>
      <p:ext uri="{BB962C8B-B14F-4D97-AF65-F5344CB8AC3E}">
        <p14:creationId xmlns:p14="http://schemas.microsoft.com/office/powerpoint/2010/main" val="5048347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5" name="Slide-Number-Placeholder-3-2">
            <a:extLst xmlns:a="http://schemas.openxmlformats.org/drawingml/2006/main">
              <a:ext uri="{FF2B5EF4-FFF2-40B4-BE49-F238E27FC236}">
                <a16:creationId xmlns:a16="http://schemas.microsoft.com/office/drawing/2014/main" id="{B496B7F5-0060-42C5-8E64-3225E107460D}"/>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3</a:t>
            </a:r>
          </a:p>
        </p:txBody>
      </p:sp>
      <p:sp>
        <p:nvSpPr>
          <p:cNvPr id="2" name="Title-10-3">
            <a:extLst xmlns:a="http://schemas.openxmlformats.org/drawingml/2006/main">
              <a:ext uri="{FF2B5EF4-FFF2-40B4-BE49-F238E27FC236}">
                <a16:creationId xmlns:a16="http://schemas.microsoft.com/office/drawing/2014/main" id="{2EFF0847-A637-4DB9-87E4-30B0DAE8EF2C}"/>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가바크루드가 원료를 공급하고, 가바케어믹스가 브랜드 한우 성과를 검증한다</a:t>
            </a:r>
          </a:p>
        </p:txBody>
      </p:sp>
      <p:cxnSp>
        <p:nvCxnSpPr>
          <p:cNvPr id="59"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243B184A-5714-470F-861E-0880A4B3822B}"/>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175C1DC6-EE18-4075-8D6A-38DBD46445E6}"/>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A7E15ADD-2361-408A-87FD-131AA6388C2E}"/>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8DE72BF7-233C-4347-B53E-1BBB871445A6}"/>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기준 원료</a:t>
            </a:r>
          </a:p>
        </p:txBody>
      </p:sp>
      <p:sp>
        <p:nvSpPr>
          <p:cNvPr id="8" name="Content-Placeholder-15-9">
            <a:extLst xmlns:a="http://schemas.openxmlformats.org/drawingml/2006/main">
              <a:ext uri="{FF2B5EF4-FFF2-40B4-BE49-F238E27FC236}">
                <a16:creationId xmlns:a16="http://schemas.microsoft.com/office/drawing/2014/main" id="{FBA56E75-1370-458F-ACBB-6B3996EE1512}"/>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맞춤 원료</a:t>
            </a:r>
          </a:p>
        </p:txBody>
      </p:sp>
      <p:sp>
        <p:nvSpPr>
          <p:cNvPr id="9" name="Content-Placeholder-15-10">
            <a:extLst xmlns:a="http://schemas.openxmlformats.org/drawingml/2006/main">
              <a:ext uri="{FF2B5EF4-FFF2-40B4-BE49-F238E27FC236}">
                <a16:creationId xmlns:a16="http://schemas.microsoft.com/office/drawing/2014/main" id="{B63CBB6C-9454-4282-9788-768A6B008AEC}"/>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브랜드 축산</a:t>
            </a:r>
          </a:p>
        </p:txBody>
      </p:sp>
      <p:sp>
        <p:nvSpPr>
          <p:cNvPr id="10" name="Text-Placeholder-16-11">
            <a:extLst xmlns:a="http://schemas.openxmlformats.org/drawingml/2006/main">
              <a:ext uri="{FF2B5EF4-FFF2-40B4-BE49-F238E27FC236}">
                <a16:creationId xmlns:a16="http://schemas.microsoft.com/office/drawing/2014/main" id="{AF24F0EC-48C2-45AF-8DCE-09616248C3B7}"/>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OEM 5~20%</a:t>
            </a:r>
          </a:p>
          <a:p xmlns:a="http://schemas.openxmlformats.org/drawingml/2006/main">
            <a:pPr algn="l">
              <a:buNone/>
              <a:defRPr sz="2400">
                <a:solidFill>
                  <a:srgbClr val="000000"/>
                </a:solidFill>
                <a:latin typeface="Helvetica Neue"/>
                <a:ea typeface="Helvetica Neue"/>
                <a:cs typeface="Helvetica Neue"/>
              </a:defRPr>
            </a:pPr>
            <a:r>
              <a:t>고객 주문 후 생산</a:t>
            </a:r>
          </a:p>
          <a:p xmlns:a="http://schemas.openxmlformats.org/drawingml/2006/main">
            <a:pPr algn="l">
              <a:buNone/>
              <a:defRPr sz="2400">
                <a:solidFill>
                  <a:srgbClr val="000000"/>
                </a:solidFill>
                <a:latin typeface="Helvetica Neue"/>
                <a:ea typeface="Helvetica Neue"/>
                <a:cs typeface="Helvetica Neue"/>
              </a:defRPr>
            </a:pPr>
            <a:r>
              <a:t>농도·포장 맞춤</a:t>
            </a:r>
          </a:p>
        </p:txBody>
      </p:sp>
      <p:sp>
        <p:nvSpPr>
          <p:cNvPr id="11" name="Text-Placeholder-16-12">
            <a:extLst xmlns:a="http://schemas.openxmlformats.org/drawingml/2006/main">
              <a:ext uri="{FF2B5EF4-FFF2-40B4-BE49-F238E27FC236}">
                <a16:creationId xmlns:a16="http://schemas.microsoft.com/office/drawing/2014/main" id="{B6E06F27-F095-485D-BEBC-A99720AF45F5}"/>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GABA 20% 기준품</a:t>
            </a:r>
          </a:p>
          <a:p xmlns:a="http://schemas.openxmlformats.org/drawingml/2006/main">
            <a:pPr algn="l">
              <a:buNone/>
              <a:defRPr sz="2400">
                <a:solidFill>
                  <a:srgbClr val="000000"/>
                </a:solidFill>
                <a:latin typeface="Helvetica Neue"/>
                <a:ea typeface="Helvetica Neue"/>
                <a:cs typeface="Helvetica Neue"/>
              </a:defRPr>
            </a:pPr>
            <a:r>
              <a:t>품질·출하 기준</a:t>
            </a:r>
          </a:p>
          <a:p xmlns:a="http://schemas.openxmlformats.org/drawingml/2006/main">
            <a:pPr algn="l">
              <a:buNone/>
              <a:defRPr sz="2400">
                <a:solidFill>
                  <a:srgbClr val="000000"/>
                </a:solidFill>
                <a:latin typeface="Helvetica Neue"/>
                <a:ea typeface="Helvetica Neue"/>
                <a:cs typeface="Helvetica Neue"/>
              </a:defRPr>
            </a:pPr>
            <a:r>
              <a:t>로트별 CoA</a:t>
            </a:r>
          </a:p>
        </p:txBody>
      </p:sp>
      <p:sp>
        <p:nvSpPr>
          <p:cNvPr id="12" name="Text-Placeholder-16-13">
            <a:extLst xmlns:a="http://schemas.openxmlformats.org/drawingml/2006/main">
              <a:ext uri="{FF2B5EF4-FFF2-40B4-BE49-F238E27FC236}">
                <a16:creationId xmlns:a16="http://schemas.microsoft.com/office/drawing/2014/main" id="{BAC9D127-353B-49C3-9413-F5CB25757567}"/>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가바크루드+</a:t>
            </a:r>
          </a:p>
          <a:p xmlns:a="http://schemas.openxmlformats.org/drawingml/2006/main">
            <a:pPr algn="l">
              <a:buNone/>
              <a:defRPr sz="2400">
                <a:solidFill>
                  <a:srgbClr val="000000"/>
                </a:solidFill>
                <a:latin typeface="Helvetica Neue"/>
                <a:ea typeface="Helvetica Neue"/>
                <a:cs typeface="Helvetica Neue"/>
              </a:defRPr>
            </a:pPr>
            <a:r>
              <a:t>미네랄매트릭스</a:t>
            </a:r>
          </a:p>
          <a:p xmlns:a="http://schemas.openxmlformats.org/drawingml/2006/main">
            <a:pPr algn="l">
              <a:buNone/>
              <a:defRPr sz="2400">
                <a:solidFill>
                  <a:srgbClr val="000000"/>
                </a:solidFill>
                <a:latin typeface="Helvetica Neue"/>
                <a:ea typeface="Helvetica Neue"/>
                <a:cs typeface="Helvetica Neue"/>
              </a:defRPr>
            </a:pPr>
            <a:r>
              <a:t>비육 한우 배합</a:t>
            </a:r>
          </a:p>
        </p:txBody>
      </p:sp>
      <p:sp>
        <p:nvSpPr>
          <p:cNvPr id="13" name="brand-rule-15">
            <a:extLst xmlns:a="http://schemas.openxmlformats.org/drawingml/2006/main">
              <a:ext uri="{FF2B5EF4-FFF2-40B4-BE49-F238E27FC236}">
                <a16:creationId xmlns:a16="http://schemas.microsoft.com/office/drawing/2014/main" id="{810E5F20-8B15-4F79-96EF-62B242EDEF8C}"/>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14" name="brand-footer-15">
            <a:extLst xmlns:a="http://schemas.openxmlformats.org/drawingml/2006/main">
              <a:ext uri="{FF2B5EF4-FFF2-40B4-BE49-F238E27FC236}">
                <a16:creationId xmlns:a16="http://schemas.microsoft.com/office/drawing/2014/main" id="{E067D592-0B78-481E-9B2E-6E8FAB0B9F30}"/>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03 | TWO BUSINESS TRACKS</a:t>
            </a:r>
          </a:p>
        </p:txBody>
      </p:sp>
    </p:spTree>
    <p:extLst>
      <p:ext uri="{BB962C8B-B14F-4D97-AF65-F5344CB8AC3E}">
        <p14:creationId xmlns:p14="http://schemas.microsoft.com/office/powerpoint/2010/main" val="116188389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5" name="Slide-Number-Placeholder-3-2">
            <a:extLst xmlns:a="http://schemas.openxmlformats.org/drawingml/2006/main">
              <a:ext uri="{FF2B5EF4-FFF2-40B4-BE49-F238E27FC236}">
                <a16:creationId xmlns:a16="http://schemas.microsoft.com/office/drawing/2014/main" id="{B496B7F5-0060-42C5-8E64-3225E107460D}"/>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4</a:t>
            </a:r>
          </a:p>
        </p:txBody>
      </p:sp>
      <p:sp>
        <p:nvSpPr>
          <p:cNvPr id="2" name="Title-10-3">
            <a:extLst xmlns:a="http://schemas.openxmlformats.org/drawingml/2006/main">
              <a:ext uri="{FF2B5EF4-FFF2-40B4-BE49-F238E27FC236}">
                <a16:creationId xmlns:a16="http://schemas.microsoft.com/office/drawing/2014/main" id="{2EFF0847-A637-4DB9-87E4-30B0DAE8EF2C}"/>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GABA 20% 기준품으로 주문 농도까지 확장한다</a:t>
            </a:r>
          </a:p>
        </p:txBody>
      </p:sp>
      <p:cxnSp>
        <p:nvCxnSpPr>
          <p:cNvPr id="59"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243B184A-5714-470F-861E-0880A4B3822B}"/>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175C1DC6-EE18-4075-8D6A-38DBD46445E6}"/>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A7E15ADD-2361-408A-87FD-131AA6388C2E}"/>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8DE72BF7-233C-4347-B53E-1BBB871445A6}"/>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원료의 출발점</a:t>
            </a:r>
          </a:p>
        </p:txBody>
      </p:sp>
      <p:sp>
        <p:nvSpPr>
          <p:cNvPr id="8" name="Content-Placeholder-15-9">
            <a:extLst xmlns:a="http://schemas.openxmlformats.org/drawingml/2006/main">
              <a:ext uri="{FF2B5EF4-FFF2-40B4-BE49-F238E27FC236}">
                <a16:creationId xmlns:a16="http://schemas.microsoft.com/office/drawing/2014/main" id="{FBA56E75-1370-458F-ACBB-6B3996EE1512}"/>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단일 재고 SKU</a:t>
            </a:r>
          </a:p>
        </p:txBody>
      </p:sp>
      <p:sp>
        <p:nvSpPr>
          <p:cNvPr id="9" name="Content-Placeholder-15-10">
            <a:extLst xmlns:a="http://schemas.openxmlformats.org/drawingml/2006/main">
              <a:ext uri="{FF2B5EF4-FFF2-40B4-BE49-F238E27FC236}">
                <a16:creationId xmlns:a16="http://schemas.microsoft.com/office/drawing/2014/main" id="{B63CBB6C-9454-4282-9788-768A6B008AEC}"/>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주문형 원료</a:t>
            </a:r>
          </a:p>
        </p:txBody>
      </p:sp>
      <p:sp>
        <p:nvSpPr>
          <p:cNvPr id="10" name="Text-Placeholder-16-11">
            <a:extLst xmlns:a="http://schemas.openxmlformats.org/drawingml/2006/main">
              <a:ext uri="{FF2B5EF4-FFF2-40B4-BE49-F238E27FC236}">
                <a16:creationId xmlns:a16="http://schemas.microsoft.com/office/drawing/2014/main" id="{AF24F0EC-48C2-45AF-8DCE-09616248C3B7}"/>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GABA 20% 기준품</a:t>
            </a:r>
          </a:p>
          <a:p xmlns:a="http://schemas.openxmlformats.org/drawingml/2006/main">
            <a:pPr algn="l">
              <a:buNone/>
              <a:defRPr sz="2400">
                <a:solidFill>
                  <a:srgbClr val="000000"/>
                </a:solidFill>
                <a:latin typeface="Helvetica Neue"/>
                <a:ea typeface="Helvetica Neue"/>
                <a:cs typeface="Helvetica Neue"/>
              </a:defRPr>
            </a:pPr>
            <a:r>
              <a:t>로트·CoA 관리</a:t>
            </a:r>
          </a:p>
          <a:p xmlns:a="http://schemas.openxmlformats.org/drawingml/2006/main">
            <a:pPr algn="l">
              <a:buNone/>
              <a:defRPr sz="2400">
                <a:solidFill>
                  <a:srgbClr val="000000"/>
                </a:solidFill>
                <a:latin typeface="Helvetica Neue"/>
                <a:ea typeface="Helvetica Neue"/>
                <a:cs typeface="Helvetica Neue"/>
              </a:defRPr>
            </a:pPr>
            <a:r>
              <a:t>품질·출하 기준</a:t>
            </a:r>
          </a:p>
          <a:p xmlns:a="http://schemas.openxmlformats.org/drawingml/2006/main">
            <a:pPr algn="l">
              <a:buNone/>
              <a:defRPr sz="2400">
                <a:solidFill>
                  <a:srgbClr val="000000"/>
                </a:solidFill>
                <a:latin typeface="Helvetica Neue"/>
                <a:ea typeface="Helvetica Neue"/>
                <a:cs typeface="Helvetica Neue"/>
              </a:defRPr>
            </a:pPr>
            <a:r>
              <a:t>재고 집중</a:t>
            </a:r>
          </a:p>
        </p:txBody>
      </p:sp>
      <p:sp>
        <p:nvSpPr>
          <p:cNvPr id="11" name="Text-Placeholder-16-12">
            <a:extLst xmlns:a="http://schemas.openxmlformats.org/drawingml/2006/main">
              <a:ext uri="{FF2B5EF4-FFF2-40B4-BE49-F238E27FC236}">
                <a16:creationId xmlns:a16="http://schemas.microsoft.com/office/drawing/2014/main" id="{B6E06F27-F095-485D-BEBC-A99720AF45F5}"/>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발효배양액</a:t>
            </a:r>
          </a:p>
          <a:p xmlns:a="http://schemas.openxmlformats.org/drawingml/2006/main">
            <a:pPr algn="l">
              <a:buNone/>
              <a:defRPr sz="2400">
                <a:solidFill>
                  <a:srgbClr val="000000"/>
                </a:solidFill>
                <a:latin typeface="Helvetica Neue"/>
                <a:ea typeface="Helvetica Neue"/>
                <a:cs typeface="Helvetica Neue"/>
              </a:defRPr>
            </a:pPr>
            <a:r>
              <a:t>GABA 20%·고형분 30%</a:t>
            </a:r>
          </a:p>
          <a:p xmlns:a="http://schemas.openxmlformats.org/drawingml/2006/main">
            <a:pPr algn="l">
              <a:buNone/>
              <a:defRPr sz="2400">
                <a:solidFill>
                  <a:srgbClr val="000000"/>
                </a:solidFill>
                <a:latin typeface="Helvetica Neue"/>
                <a:ea typeface="Helvetica Neue"/>
                <a:cs typeface="Helvetica Neue"/>
              </a:defRPr>
            </a:pPr>
            <a:r>
              <a:t>말토덱스트린 혼합</a:t>
            </a:r>
          </a:p>
          <a:p xmlns:a="http://schemas.openxmlformats.org/drawingml/2006/main">
            <a:pPr algn="l">
              <a:buNone/>
              <a:defRPr sz="2400">
                <a:solidFill>
                  <a:srgbClr val="000000"/>
                </a:solidFill>
                <a:latin typeface="Helvetica Neue"/>
                <a:ea typeface="Helvetica Neue"/>
                <a:cs typeface="Helvetica Neue"/>
              </a:defRPr>
            </a:pPr>
            <a:r>
              <a:t>기준품 원료</a:t>
            </a:r>
          </a:p>
        </p:txBody>
      </p:sp>
      <p:sp>
        <p:nvSpPr>
          <p:cNvPr id="12" name="Text-Placeholder-16-13">
            <a:extLst xmlns:a="http://schemas.openxmlformats.org/drawingml/2006/main">
              <a:ext uri="{FF2B5EF4-FFF2-40B4-BE49-F238E27FC236}">
                <a16:creationId xmlns:a16="http://schemas.microsoft.com/office/drawing/2014/main" id="{BAC9D127-353B-49C3-9413-F5CB25757567}"/>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OEM 5~20%</a:t>
            </a:r>
          </a:p>
          <a:p xmlns:a="http://schemas.openxmlformats.org/drawingml/2006/main">
            <a:pPr algn="l">
              <a:buNone/>
              <a:defRPr sz="2400">
                <a:solidFill>
                  <a:srgbClr val="000000"/>
                </a:solidFill>
                <a:latin typeface="Helvetica Neue"/>
                <a:ea typeface="Helvetica Neue"/>
                <a:cs typeface="Helvetica Neue"/>
              </a:defRPr>
            </a:pPr>
            <a:r>
              <a:t>농도·포장 맞춤</a:t>
            </a:r>
          </a:p>
          <a:p xmlns:a="http://schemas.openxmlformats.org/drawingml/2006/main">
            <a:pPr algn="l">
              <a:buNone/>
              <a:defRPr sz="2400">
                <a:solidFill>
                  <a:srgbClr val="000000"/>
                </a:solidFill>
                <a:latin typeface="Helvetica Neue"/>
                <a:ea typeface="Helvetica Neue"/>
                <a:cs typeface="Helvetica Neue"/>
              </a:defRPr>
            </a:pPr>
            <a:r>
              <a:t>고객 발주 후 생산</a:t>
            </a:r>
          </a:p>
          <a:p xmlns:a="http://schemas.openxmlformats.org/drawingml/2006/main">
            <a:pPr algn="l">
              <a:buNone/>
              <a:defRPr sz="2400">
                <a:solidFill>
                  <a:srgbClr val="000000"/>
                </a:solidFill>
                <a:latin typeface="Helvetica Neue"/>
                <a:ea typeface="Helvetica Neue"/>
                <a:cs typeface="Helvetica Neue"/>
              </a:defRPr>
            </a:pPr>
            <a:r>
              <a:t>원료 매출</a:t>
            </a:r>
          </a:p>
        </p:txBody>
      </p:sp>
      <p:sp>
        <p:nvSpPr>
          <p:cNvPr id="13" name="brand-rule-15">
            <a:extLst xmlns:a="http://schemas.openxmlformats.org/drawingml/2006/main">
              <a:ext uri="{FF2B5EF4-FFF2-40B4-BE49-F238E27FC236}">
                <a16:creationId xmlns:a16="http://schemas.microsoft.com/office/drawing/2014/main" id="{810E5F20-8B15-4F79-96EF-62B242EDEF8C}"/>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14" name="brand-footer-15">
            <a:extLst xmlns:a="http://schemas.openxmlformats.org/drawingml/2006/main">
              <a:ext uri="{FF2B5EF4-FFF2-40B4-BE49-F238E27FC236}">
                <a16:creationId xmlns:a16="http://schemas.microsoft.com/office/drawing/2014/main" id="{E067D592-0B78-481E-9B2E-6E8FAB0B9F30}"/>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04 | GABA CRUDE</a:t>
            </a:r>
          </a:p>
        </p:txBody>
      </p:sp>
    </p:spTree>
    <p:extLst>
      <p:ext uri="{BB962C8B-B14F-4D97-AF65-F5344CB8AC3E}">
        <p14:creationId xmlns:p14="http://schemas.microsoft.com/office/powerpoint/2010/main" val="116188389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5" name="Rounded-Rectangle-5-1">
            <a:extLst xmlns:a="http://schemas.openxmlformats.org/drawingml/2006/main">
              <a:ext uri="{FF2B5EF4-FFF2-40B4-BE49-F238E27FC236}">
                <a16:creationId xmlns:a16="http://schemas.microsoft.com/office/drawing/2014/main" id="{E16F1EE6-E756-45C0-8617-BB78BF867B63}"/>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D4C87DE3-EBAE-4928-8F13-9D57644F80E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B8FB0289-E741-4BA8-94D1-677C5EF213D1}"/>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83969B42-BFA8-448C-8026-85E52F042B1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5</a:t>
            </a:r>
          </a:p>
        </p:txBody>
      </p:sp>
      <p:sp>
        <p:nvSpPr>
          <p:cNvPr id="5" name="Title-2-5">
            <a:extLst xmlns:a="http://schemas.openxmlformats.org/drawingml/2006/main">
              <a:ext uri="{FF2B5EF4-FFF2-40B4-BE49-F238E27FC236}">
                <a16:creationId xmlns:a16="http://schemas.microsoft.com/office/drawing/2014/main" id="{DCF1A8D5-0AB3-4E51-AEDC-9EBECE5A451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배양액 1톤은 GABA 20% 가바크루드 1톤으로 전환된다</a:t>
            </a:r>
          </a:p>
        </p:txBody>
      </p:sp>
      <p:sp>
        <p:nvSpPr>
          <p:cNvPr id="6" name="Content-Placeholder-9-6">
            <a:extLst xmlns:a="http://schemas.openxmlformats.org/drawingml/2006/main">
              <a:ext uri="{FF2B5EF4-FFF2-40B4-BE49-F238E27FC236}">
                <a16:creationId xmlns:a16="http://schemas.microsoft.com/office/drawing/2014/main" id="{3E72F593-79F2-43AE-A593-E6DB7B4B4FC0}"/>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배양액 원가</a:t>
            </a:r>
          </a:p>
          <a:p xmlns:a="http://schemas.openxmlformats.org/drawingml/2006/main">
            <a:pPr algn="l">
              <a:buNone/>
              <a:defRPr sz="2400">
                <a:solidFill>
                  <a:srgbClr val="000000"/>
                </a:solidFill>
                <a:latin typeface="Helvetica Neue"/>
                <a:ea typeface="Helvetica Neue"/>
                <a:cs typeface="Helvetica Neue"/>
              </a:defRPr>
            </a:pPr>
            <a:r>
              <a:t>1톤/1,000L</a:t>
            </a:r>
          </a:p>
        </p:txBody>
      </p:sp>
      <p:sp>
        <p:nvSpPr>
          <p:cNvPr id="7" name="Content-Placeholder-10-7">
            <a:extLst xmlns:a="http://schemas.openxmlformats.org/drawingml/2006/main">
              <a:ext uri="{FF2B5EF4-FFF2-40B4-BE49-F238E27FC236}">
                <a16:creationId xmlns:a16="http://schemas.microsoft.com/office/drawing/2014/main" id="{F70819C6-E100-46F1-A253-8C7B6596CAA2}"/>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말토덱스트린</a:t>
            </a:r>
          </a:p>
          <a:p xmlns:a="http://schemas.openxmlformats.org/drawingml/2006/main">
            <a:pPr algn="l">
              <a:buNone/>
              <a:defRPr sz="2400">
                <a:solidFill>
                  <a:srgbClr val="000000"/>
                </a:solidFill>
                <a:latin typeface="Helvetica Neue"/>
                <a:ea typeface="Helvetica Neue"/>
                <a:cs typeface="Helvetica Neue"/>
              </a:defRPr>
            </a:pPr>
            <a:r>
              <a:t>투입량</a:t>
            </a:r>
          </a:p>
        </p:txBody>
      </p:sp>
      <p:sp>
        <p:nvSpPr>
          <p:cNvPr id="8" name="Content-Placeholder-11-8">
            <a:extLst xmlns:a="http://schemas.openxmlformats.org/drawingml/2006/main">
              <a:ext uri="{FF2B5EF4-FFF2-40B4-BE49-F238E27FC236}">
                <a16:creationId xmlns:a16="http://schemas.microsoft.com/office/drawing/2014/main" id="{7A05743D-C63F-4B00-B533-D7ECE388EBC1}"/>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고형분 구성</a:t>
            </a:r>
          </a:p>
          <a:p xmlns:a="http://schemas.openxmlformats.org/drawingml/2006/main">
            <a:pPr algn="l">
              <a:buNone/>
              <a:defRPr sz="2400">
                <a:solidFill>
                  <a:srgbClr val="000000"/>
                </a:solidFill>
                <a:latin typeface="Helvetica Neue"/>
                <a:ea typeface="Helvetica Neue"/>
                <a:cs typeface="Helvetica Neue"/>
              </a:defRPr>
            </a:pPr>
            <a:r>
              <a:t>GABA+기타</a:t>
            </a:r>
          </a:p>
        </p:txBody>
      </p:sp>
      <p:sp>
        <p:nvSpPr>
          <p:cNvPr id="9" name="Content-Placeholder-9-9">
            <a:extLst xmlns:a="http://schemas.openxmlformats.org/drawingml/2006/main">
              <a:ext uri="{FF2B5EF4-FFF2-40B4-BE49-F238E27FC236}">
                <a16:creationId xmlns:a16="http://schemas.microsoft.com/office/drawing/2014/main" id="{6B6DF3F5-8239-45F8-9E70-2B3E7F1DB3FF}"/>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400만원</a:t>
            </a:r>
          </a:p>
        </p:txBody>
      </p:sp>
      <p:sp>
        <p:nvSpPr>
          <p:cNvPr id="10" name="Content-Placeholder-9-10">
            <a:extLst xmlns:a="http://schemas.openxmlformats.org/drawingml/2006/main">
              <a:ext uri="{FF2B5EF4-FFF2-40B4-BE49-F238E27FC236}">
                <a16:creationId xmlns:a16="http://schemas.microsoft.com/office/drawing/2014/main" id="{CE72FAEF-F255-4F90-AEDE-480E5F8C5F47}"/>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200kg+100kg</a:t>
            </a:r>
          </a:p>
        </p:txBody>
      </p:sp>
      <p:sp>
        <p:nvSpPr>
          <p:cNvPr id="11" name="Content-Placeholder-9-11">
            <a:extLst xmlns:a="http://schemas.openxmlformats.org/drawingml/2006/main">
              <a:ext uri="{FF2B5EF4-FFF2-40B4-BE49-F238E27FC236}">
                <a16:creationId xmlns:a16="http://schemas.microsoft.com/office/drawing/2014/main" id="{70DD8D92-9021-4372-B7E8-35A09E99E87D}"/>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700kg</a:t>
            </a:r>
          </a:p>
        </p:txBody>
      </p:sp>
      <p:sp>
        <p:nvSpPr>
          <p:cNvPr id="12" name="Content-Placeholder-15-12">
            <a:extLst xmlns:a="http://schemas.openxmlformats.org/drawingml/2006/main">
              <a:ext uri="{FF2B5EF4-FFF2-40B4-BE49-F238E27FC236}">
                <a16:creationId xmlns:a16="http://schemas.microsoft.com/office/drawing/2014/main" id="{E1FBB930-6AF2-4B7D-84BA-8E934D069C6B}"/>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GABA 200kg÷목표 함량 20%=가바크루드 1,000kg · 배양액 고형분 300kg+말토덱스트린 700kg</a:t>
            </a:r>
          </a:p>
        </p:txBody>
      </p:sp>
      <p:sp>
        <p:nvSpPr>
          <p:cNvPr id="13" name="brand-rule-3">
            <a:extLst xmlns:a="http://schemas.openxmlformats.org/drawingml/2006/main">
              <a:ext uri="{FF2B5EF4-FFF2-40B4-BE49-F238E27FC236}">
                <a16:creationId xmlns:a16="http://schemas.microsoft.com/office/drawing/2014/main" id="{CF26F2E1-309A-4854-AE35-3CF8D1E0B7DE}"/>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14" name="brand-footer-3">
            <a:extLst xmlns:a="http://schemas.openxmlformats.org/drawingml/2006/main">
              <a:ext uri="{FF2B5EF4-FFF2-40B4-BE49-F238E27FC236}">
                <a16:creationId xmlns:a16="http://schemas.microsoft.com/office/drawing/2014/main" id="{67FA2FB3-A9A5-4AF6-A336-B21A6025C47A}"/>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05 | GABA CRUDE COST</a:t>
            </a:r>
          </a:p>
        </p:txBody>
      </p:sp>
    </p:spTree>
    <p:extLst>
      <p:ext uri="{BB962C8B-B14F-4D97-AF65-F5344CB8AC3E}">
        <p14:creationId xmlns:p14="http://schemas.microsoft.com/office/powerpoint/2010/main" val="136431717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9" name="Slide-Number-Placeholder-1-2">
            <a:extLst xmlns:a="http://schemas.openxmlformats.org/drawingml/2006/main">
              <a:ext uri="{FF2B5EF4-FFF2-40B4-BE49-F238E27FC236}">
                <a16:creationId xmlns:a16="http://schemas.microsoft.com/office/drawing/2014/main" id="{899BFBB6-2B10-416C-B0B8-D3DCD3722082}"/>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6</a:t>
            </a:r>
          </a:p>
        </p:txBody>
      </p:sp>
      <p:sp>
        <p:nvSpPr>
          <p:cNvPr id="2" name="Title-2-3">
            <a:extLst xmlns:a="http://schemas.openxmlformats.org/drawingml/2006/main">
              <a:ext uri="{FF2B5EF4-FFF2-40B4-BE49-F238E27FC236}">
                <a16:creationId xmlns:a16="http://schemas.microsoft.com/office/drawing/2014/main" id="{5CFAC748-585C-4584-8553-0EC8E67AB075}"/>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기준품 재고에 집중한다</a:t>
            </a:r>
          </a:p>
        </p:txBody>
      </p:sp>
      <p:sp>
        <p:nvSpPr>
          <p:cNvPr id="3" name="Content-Placeholder-9-4">
            <a:extLst xmlns:a="http://schemas.openxmlformats.org/drawingml/2006/main">
              <a:ext uri="{FF2B5EF4-FFF2-40B4-BE49-F238E27FC236}">
                <a16:creationId xmlns:a16="http://schemas.microsoft.com/office/drawing/2014/main" id="{34DB5DEF-8114-43EB-BCF8-0B628E7C364A}"/>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생산 기준</a:t>
            </a:r>
          </a:p>
          <a:p xmlns:a="http://schemas.openxmlformats.org/drawingml/2006/main">
            <a:pPr algn="l">
              <a:buNone/>
              <a:defRPr sz="2400">
                <a:solidFill>
                  <a:srgbClr val="000000"/>
                </a:solidFill>
                <a:latin typeface="Helvetica Neue"/>
                <a:ea typeface="Helvetica Neue"/>
                <a:cs typeface="Helvetica Neue"/>
              </a:defRPr>
            </a:pPr>
            <a:r>
              <a:t>배양액 1톤당</a:t>
            </a:r>
          </a:p>
          <a:p xmlns:a="http://schemas.openxmlformats.org/drawingml/2006/main">
            <a:pPr algn="l">
              <a:buNone/>
              <a:defRPr sz="2400">
                <a:solidFill>
                  <a:srgbClr val="000000"/>
                </a:solidFill>
                <a:latin typeface="Helvetica Neue"/>
                <a:ea typeface="Helvetica Neue"/>
                <a:cs typeface="Helvetica Neue"/>
              </a:defRPr>
            </a:pPr>
            <a:r>
              <a:t>가바크루드 1,000kg</a:t>
            </a:r>
          </a:p>
          <a:p xmlns:a="http://schemas.openxmlformats.org/drawingml/2006/main">
            <a:pPr algn="l">
              <a:buNone/>
              <a:defRPr sz="2400">
                <a:solidFill>
                  <a:srgbClr val="000000"/>
                </a:solidFill>
                <a:latin typeface="Helvetica Neue"/>
                <a:ea typeface="Helvetica Neue"/>
                <a:cs typeface="Helvetica Neue"/>
              </a:defRPr>
            </a:pPr>
            <a:r>
              <a:t>이론 수율</a:t>
            </a:r>
          </a:p>
        </p:txBody>
      </p:sp>
      <p:sp>
        <p:nvSpPr>
          <p:cNvPr id="4" name="Content-Placeholder-10-5">
            <a:extLst xmlns:a="http://schemas.openxmlformats.org/drawingml/2006/main">
              <a:ext uri="{FF2B5EF4-FFF2-40B4-BE49-F238E27FC236}">
                <a16:creationId xmlns:a16="http://schemas.microsoft.com/office/drawing/2014/main" id="{EFACA7CB-B804-47CA-AB1B-80FE7DDA4BA7}"/>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재고 관리</a:t>
            </a:r>
          </a:p>
          <a:p xmlns:a="http://schemas.openxmlformats.org/drawingml/2006/main">
            <a:pPr algn="l">
              <a:buNone/>
              <a:defRPr sz="2400">
                <a:solidFill>
                  <a:srgbClr val="000000"/>
                </a:solidFill>
                <a:latin typeface="Helvetica Neue"/>
                <a:ea typeface="Helvetica Neue"/>
                <a:cs typeface="Helvetica Neue"/>
              </a:defRPr>
            </a:pPr>
            <a:r>
              <a:t>CoA(성적서)</a:t>
            </a:r>
          </a:p>
          <a:p xmlns:a="http://schemas.openxmlformats.org/drawingml/2006/main">
            <a:pPr algn="l">
              <a:buNone/>
              <a:defRPr sz="2400">
                <a:solidFill>
                  <a:srgbClr val="000000"/>
                </a:solidFill>
                <a:latin typeface="Helvetica Neue"/>
                <a:ea typeface="Helvetica Neue"/>
                <a:cs typeface="Helvetica Neue"/>
              </a:defRPr>
            </a:pPr>
            <a:r>
              <a:t>유통기한·안전재고</a:t>
            </a:r>
          </a:p>
          <a:p xmlns:a="http://schemas.openxmlformats.org/drawingml/2006/main">
            <a:pPr algn="l">
              <a:buNone/>
              <a:defRPr sz="2400">
                <a:solidFill>
                  <a:srgbClr val="000000"/>
                </a:solidFill>
                <a:latin typeface="Helvetica Neue"/>
                <a:ea typeface="Helvetica Neue"/>
                <a:cs typeface="Helvetica Neue"/>
              </a:defRPr>
            </a:pPr>
            <a:r>
              <a:t>FIFO(선입선출)</a:t>
            </a:r>
          </a:p>
        </p:txBody>
      </p:sp>
      <p:sp>
        <p:nvSpPr>
          <p:cNvPr id="5" name="Content-Placeholder-9-6">
            <a:extLst xmlns:a="http://schemas.openxmlformats.org/drawingml/2006/main">
              <a:ext uri="{FF2B5EF4-FFF2-40B4-BE49-F238E27FC236}">
                <a16:creationId xmlns:a16="http://schemas.microsoft.com/office/drawing/2014/main" id="{234C9D70-A9C5-49B5-8918-C361BF8A333B}"/>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완제품 무재고</a:t>
            </a:r>
          </a:p>
          <a:p xmlns:a="http://schemas.openxmlformats.org/drawingml/2006/main">
            <a:pPr algn="l">
              <a:buNone/>
              <a:defRPr sz="2400">
                <a:solidFill>
                  <a:srgbClr val="000000"/>
                </a:solidFill>
                <a:latin typeface="Helvetica Neue"/>
                <a:ea typeface="Helvetica Neue"/>
                <a:cs typeface="Helvetica Neue"/>
              </a:defRPr>
            </a:pPr>
            <a:r>
              <a:t>5·10·15·20%</a:t>
            </a:r>
          </a:p>
          <a:p xmlns:a="http://schemas.openxmlformats.org/drawingml/2006/main">
            <a:pPr algn="l">
              <a:buNone/>
              <a:defRPr sz="2400">
                <a:solidFill>
                  <a:srgbClr val="000000"/>
                </a:solidFill>
                <a:latin typeface="Helvetica Neue"/>
                <a:ea typeface="Helvetica Neue"/>
                <a:cs typeface="Helvetica Neue"/>
              </a:defRPr>
            </a:pPr>
            <a:r>
              <a:t>OEM 전 0kg</a:t>
            </a:r>
          </a:p>
          <a:p xmlns:a="http://schemas.openxmlformats.org/drawingml/2006/main">
            <a:pPr algn="l">
              <a:buNone/>
              <a:defRPr sz="2400">
                <a:solidFill>
                  <a:srgbClr val="000000"/>
                </a:solidFill>
                <a:latin typeface="Helvetica Neue"/>
                <a:ea typeface="Helvetica Neue"/>
                <a:cs typeface="Helvetica Neue"/>
              </a:defRPr>
            </a:pPr>
            <a:r>
              <a:t>사양폐기 최소화</a:t>
            </a:r>
          </a:p>
        </p:txBody>
      </p:sp>
      <p:sp>
        <p:nvSpPr>
          <p:cNvPr id="6" name="Content-Placeholder-10-7">
            <a:extLst xmlns:a="http://schemas.openxmlformats.org/drawingml/2006/main">
              <a:ext uri="{FF2B5EF4-FFF2-40B4-BE49-F238E27FC236}">
                <a16:creationId xmlns:a16="http://schemas.microsoft.com/office/drawing/2014/main" id="{1A34C16A-8F7A-4B12-BA58-172260CF0F97}"/>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출고 원칙</a:t>
            </a:r>
          </a:p>
          <a:p xmlns:a="http://schemas.openxmlformats.org/drawingml/2006/main">
            <a:pPr algn="l">
              <a:buNone/>
              <a:defRPr sz="2400">
                <a:solidFill>
                  <a:srgbClr val="000000"/>
                </a:solidFill>
                <a:latin typeface="Helvetica Neue"/>
                <a:ea typeface="Helvetica Neue"/>
                <a:cs typeface="Helvetica Neue"/>
              </a:defRPr>
            </a:pPr>
            <a:r>
              <a:t>PO(발주서) 승인</a:t>
            </a:r>
          </a:p>
          <a:p xmlns:a="http://schemas.openxmlformats.org/drawingml/2006/main">
            <a:pPr algn="l">
              <a:buNone/>
              <a:defRPr sz="2400">
                <a:solidFill>
                  <a:srgbClr val="000000"/>
                </a:solidFill>
                <a:latin typeface="Helvetica Neue"/>
                <a:ea typeface="Helvetica Neue"/>
                <a:cs typeface="Helvetica Neue"/>
              </a:defRPr>
            </a:pPr>
            <a:r>
              <a:t>MOQ·납기 확인</a:t>
            </a:r>
          </a:p>
          <a:p xmlns:a="http://schemas.openxmlformats.org/drawingml/2006/main">
            <a:pPr algn="l">
              <a:buNone/>
              <a:defRPr sz="2400">
                <a:solidFill>
                  <a:srgbClr val="000000"/>
                </a:solidFill>
                <a:latin typeface="Helvetica Neue"/>
                <a:ea typeface="Helvetica Neue"/>
                <a:cs typeface="Helvetica Neue"/>
              </a:defRPr>
            </a:pPr>
            <a:r>
              <a:t>그 뒤 OEM 생산</a:t>
            </a:r>
          </a:p>
        </p:txBody>
      </p:sp>
      <p:sp>
        <p:nvSpPr>
          <p:cNvPr id="7" name="brand-rule-16">
            <a:extLst xmlns:a="http://schemas.openxmlformats.org/drawingml/2006/main">
              <a:ext uri="{FF2B5EF4-FFF2-40B4-BE49-F238E27FC236}">
                <a16:creationId xmlns:a16="http://schemas.microsoft.com/office/drawing/2014/main" id="{55BD5789-824C-4804-8B5F-C81E993C9E53}"/>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8" name="brand-footer-16">
            <a:extLst xmlns:a="http://schemas.openxmlformats.org/drawingml/2006/main">
              <a:ext uri="{FF2B5EF4-FFF2-40B4-BE49-F238E27FC236}">
                <a16:creationId xmlns:a16="http://schemas.microsoft.com/office/drawing/2014/main" id="{B551CBFC-E8C9-4FAA-B5CF-AB153853215C}"/>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06 | GABA CRUDE INVENTORY</a:t>
            </a:r>
          </a:p>
        </p:txBody>
      </p:sp>
    </p:spTree>
    <p:extLst>
      <p:ext uri="{BB962C8B-B14F-4D97-AF65-F5344CB8AC3E}">
        <p14:creationId xmlns:p14="http://schemas.microsoft.com/office/powerpoint/2010/main" val="160455868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5" name="Slide-Number-Placeholder-3-2">
            <a:extLst xmlns:a="http://schemas.openxmlformats.org/drawingml/2006/main">
              <a:ext uri="{FF2B5EF4-FFF2-40B4-BE49-F238E27FC236}">
                <a16:creationId xmlns:a16="http://schemas.microsoft.com/office/drawing/2014/main" id="{B496B7F5-0060-42C5-8E64-3225E107460D}"/>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7</a:t>
            </a:r>
          </a:p>
        </p:txBody>
      </p:sp>
      <p:sp>
        <p:nvSpPr>
          <p:cNvPr id="2" name="Title-10-3">
            <a:extLst xmlns:a="http://schemas.openxmlformats.org/drawingml/2006/main">
              <a:ext uri="{FF2B5EF4-FFF2-40B4-BE49-F238E27FC236}">
                <a16:creationId xmlns:a16="http://schemas.microsoft.com/office/drawing/2014/main" id="{2EFF0847-A637-4DB9-87E4-30B0DAE8EF2C}"/>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가바크루드 주문 농도와 발주서를 확인한 뒤 OEM 생산을 시작한다</a:t>
            </a:r>
          </a:p>
        </p:txBody>
      </p:sp>
      <p:cxnSp>
        <p:nvCxnSpPr>
          <p:cNvPr id="59"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243B184A-5714-470F-861E-0880A4B3822B}"/>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175C1DC6-EE18-4075-8D6A-38DBD46445E6}"/>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A7E15ADD-2361-408A-87FD-131AA6388C2E}"/>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8DE72BF7-233C-4347-B53E-1BBB871445A6}"/>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발주서·규격 확정</a:t>
            </a:r>
          </a:p>
        </p:txBody>
      </p:sp>
      <p:sp>
        <p:nvSpPr>
          <p:cNvPr id="8" name="Content-Placeholder-15-9">
            <a:extLst xmlns:a="http://schemas.openxmlformats.org/drawingml/2006/main">
              <a:ext uri="{FF2B5EF4-FFF2-40B4-BE49-F238E27FC236}">
                <a16:creationId xmlns:a16="http://schemas.microsoft.com/office/drawing/2014/main" id="{FBA56E75-1370-458F-ACBB-6B3996EE1512}"/>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마스터 출고</a:t>
            </a:r>
          </a:p>
        </p:txBody>
      </p:sp>
      <p:sp>
        <p:nvSpPr>
          <p:cNvPr id="9" name="Content-Placeholder-15-10">
            <a:extLst xmlns:a="http://schemas.openxmlformats.org/drawingml/2006/main">
              <a:ext uri="{FF2B5EF4-FFF2-40B4-BE49-F238E27FC236}">
                <a16:creationId xmlns:a16="http://schemas.microsoft.com/office/drawing/2014/main" id="{B63CBB6C-9454-4282-9788-768A6B008AEC}"/>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OEM 완제품화</a:t>
            </a:r>
          </a:p>
        </p:txBody>
      </p:sp>
      <p:sp>
        <p:nvSpPr>
          <p:cNvPr id="10" name="Text-Placeholder-16-11">
            <a:extLst xmlns:a="http://schemas.openxmlformats.org/drawingml/2006/main">
              <a:ext uri="{FF2B5EF4-FFF2-40B4-BE49-F238E27FC236}">
                <a16:creationId xmlns:a16="http://schemas.microsoft.com/office/drawing/2014/main" id="{AF24F0EC-48C2-45AF-8DCE-09616248C3B7}"/>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필요량 계산</a:t>
            </a:r>
          </a:p>
          <a:p xmlns:a="http://schemas.openxmlformats.org/drawingml/2006/main">
            <a:pPr algn="l">
              <a:buNone/>
              <a:defRPr sz="2400">
                <a:solidFill>
                  <a:srgbClr val="000000"/>
                </a:solidFill>
                <a:latin typeface="Helvetica Neue"/>
                <a:ea typeface="Helvetica Neue"/>
                <a:cs typeface="Helvetica Neue"/>
              </a:defRPr>
            </a:pPr>
            <a:r>
              <a:t>로트 지정·출고</a:t>
            </a:r>
          </a:p>
          <a:p xmlns:a="http://schemas.openxmlformats.org/drawingml/2006/main">
            <a:pPr algn="l">
              <a:buNone/>
              <a:defRPr sz="2400">
                <a:solidFill>
                  <a:srgbClr val="000000"/>
                </a:solidFill>
                <a:latin typeface="Helvetica Neue"/>
                <a:ea typeface="Helvetica Neue"/>
                <a:cs typeface="Helvetica Neue"/>
              </a:defRPr>
            </a:pPr>
            <a:r>
              <a:t>희석비 확정</a:t>
            </a:r>
          </a:p>
          <a:p xmlns:a="http://schemas.openxmlformats.org/drawingml/2006/main">
            <a:pPr algn="l">
              <a:buNone/>
              <a:defRPr sz="2400">
                <a:solidFill>
                  <a:srgbClr val="000000"/>
                </a:solidFill>
                <a:latin typeface="Helvetica Neue"/>
                <a:ea typeface="Helvetica Neue"/>
                <a:cs typeface="Helvetica Neue"/>
              </a:defRPr>
            </a:pPr>
            <a:r>
              <a:t>OEM 입고검사</a:t>
            </a:r>
          </a:p>
        </p:txBody>
      </p:sp>
      <p:sp>
        <p:nvSpPr>
          <p:cNvPr id="11" name="Text-Placeholder-16-12">
            <a:extLst xmlns:a="http://schemas.openxmlformats.org/drawingml/2006/main">
              <a:ext uri="{FF2B5EF4-FFF2-40B4-BE49-F238E27FC236}">
                <a16:creationId xmlns:a16="http://schemas.microsoft.com/office/drawing/2014/main" id="{B6E06F27-F095-485D-BEBC-A99720AF45F5}"/>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농도·수량</a:t>
            </a:r>
          </a:p>
          <a:p xmlns:a="http://schemas.openxmlformats.org/drawingml/2006/main">
            <a:pPr algn="l">
              <a:buNone/>
              <a:defRPr sz="2400">
                <a:solidFill>
                  <a:srgbClr val="000000"/>
                </a:solidFill>
                <a:latin typeface="Helvetica Neue"/>
                <a:ea typeface="Helvetica Neue"/>
                <a:cs typeface="Helvetica Neue"/>
              </a:defRPr>
            </a:pPr>
            <a:r>
              <a:t>담체·포장단위</a:t>
            </a:r>
          </a:p>
          <a:p xmlns:a="http://schemas.openxmlformats.org/drawingml/2006/main">
            <a:pPr algn="l">
              <a:buNone/>
              <a:defRPr sz="2400">
                <a:solidFill>
                  <a:srgbClr val="000000"/>
                </a:solidFill>
                <a:latin typeface="Helvetica Neue"/>
                <a:ea typeface="Helvetica Neue"/>
                <a:cs typeface="Helvetica Neue"/>
              </a:defRPr>
            </a:pPr>
            <a:r>
              <a:t>표시사항·CoA</a:t>
            </a:r>
          </a:p>
          <a:p xmlns:a="http://schemas.openxmlformats.org/drawingml/2006/main">
            <a:pPr algn="l">
              <a:buNone/>
              <a:defRPr sz="2400">
                <a:solidFill>
                  <a:srgbClr val="000000"/>
                </a:solidFill>
                <a:latin typeface="Helvetica Neue"/>
                <a:ea typeface="Helvetica Neue"/>
                <a:cs typeface="Helvetica Neue"/>
              </a:defRPr>
            </a:pPr>
            <a:r>
              <a:t>선금/발주 확정</a:t>
            </a:r>
          </a:p>
        </p:txBody>
      </p:sp>
      <p:sp>
        <p:nvSpPr>
          <p:cNvPr id="12" name="Text-Placeholder-16-13">
            <a:extLst xmlns:a="http://schemas.openxmlformats.org/drawingml/2006/main">
              <a:ext uri="{FF2B5EF4-FFF2-40B4-BE49-F238E27FC236}">
                <a16:creationId xmlns:a16="http://schemas.microsoft.com/office/drawing/2014/main" id="{BAC9D127-353B-49C3-9413-F5CB25757567}"/>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혼합·포장</a:t>
            </a:r>
          </a:p>
          <a:p xmlns:a="http://schemas.openxmlformats.org/drawingml/2006/main">
            <a:pPr algn="l">
              <a:buNone/>
              <a:defRPr sz="2400">
                <a:solidFill>
                  <a:srgbClr val="000000"/>
                </a:solidFill>
                <a:latin typeface="Helvetica Neue"/>
                <a:ea typeface="Helvetica Neue"/>
                <a:cs typeface="Helvetica Neue"/>
              </a:defRPr>
            </a:pPr>
            <a:r>
              <a:t>성분·안전성 검사</a:t>
            </a:r>
          </a:p>
          <a:p xmlns:a="http://schemas.openxmlformats.org/drawingml/2006/main">
            <a:pPr algn="l">
              <a:buNone/>
              <a:defRPr sz="2400">
                <a:solidFill>
                  <a:srgbClr val="000000"/>
                </a:solidFill>
                <a:latin typeface="Helvetica Neue"/>
                <a:ea typeface="Helvetica Neue"/>
                <a:cs typeface="Helvetica Neue"/>
              </a:defRPr>
            </a:pPr>
            <a:r>
              <a:t>CoA 발행·직송</a:t>
            </a:r>
          </a:p>
          <a:p xmlns:a="http://schemas.openxmlformats.org/drawingml/2006/main">
            <a:pPr algn="l">
              <a:buNone/>
              <a:defRPr sz="2400">
                <a:solidFill>
                  <a:srgbClr val="000000"/>
                </a:solidFill>
                <a:latin typeface="Helvetica Neue"/>
                <a:ea typeface="Helvetica Neue"/>
                <a:cs typeface="Helvetica Neue"/>
              </a:defRPr>
            </a:pPr>
            <a:r>
              <a:t>잔량 비축 금지</a:t>
            </a:r>
          </a:p>
        </p:txBody>
      </p:sp>
      <p:sp>
        <p:nvSpPr>
          <p:cNvPr id="13" name="brand-rule-15">
            <a:extLst xmlns:a="http://schemas.openxmlformats.org/drawingml/2006/main">
              <a:ext uri="{FF2B5EF4-FFF2-40B4-BE49-F238E27FC236}">
                <a16:creationId xmlns:a16="http://schemas.microsoft.com/office/drawing/2014/main" id="{810E5F20-8B15-4F79-96EF-62B242EDEF8C}"/>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14" name="brand-footer-15">
            <a:extLst xmlns:a="http://schemas.openxmlformats.org/drawingml/2006/main">
              <a:ext uri="{FF2B5EF4-FFF2-40B4-BE49-F238E27FC236}">
                <a16:creationId xmlns:a16="http://schemas.microsoft.com/office/drawing/2014/main" id="{E067D592-0B78-481E-9B2E-6E8FAB0B9F30}"/>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07 | GABA CRUDE OEM FLOW</a:t>
            </a:r>
          </a:p>
        </p:txBody>
      </p:sp>
    </p:spTree>
    <p:extLst>
      <p:ext uri="{BB962C8B-B14F-4D97-AF65-F5344CB8AC3E}">
        <p14:creationId xmlns:p14="http://schemas.microsoft.com/office/powerpoint/2010/main" val="116188389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9" name="Slide-Number-Placeholder-1-2">
            <a:extLst xmlns:a="http://schemas.openxmlformats.org/drawingml/2006/main">
              <a:ext uri="{FF2B5EF4-FFF2-40B4-BE49-F238E27FC236}">
                <a16:creationId xmlns:a16="http://schemas.microsoft.com/office/drawing/2014/main" id="{899BFBB6-2B10-416C-B0B8-D3DCD3722082}"/>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8</a:t>
            </a:r>
          </a:p>
        </p:txBody>
      </p:sp>
      <p:sp>
        <p:nvSpPr>
          <p:cNvPr id="2" name="Title-2-3">
            <a:extLst xmlns:a="http://schemas.openxmlformats.org/drawingml/2006/main">
              <a:ext uri="{FF2B5EF4-FFF2-40B4-BE49-F238E27FC236}">
                <a16:creationId xmlns:a16="http://schemas.microsoft.com/office/drawing/2014/main" id="{5CFAC748-585C-4584-8553-0EC8E67AB075}"/>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두 사업 모두 첫 계약 전에 품목 분류와 공장 품질 체계를 서면으로 확인한다</a:t>
            </a:r>
          </a:p>
        </p:txBody>
      </p:sp>
      <p:sp>
        <p:nvSpPr>
          <p:cNvPr id="3" name="Content-Placeholder-9-4">
            <a:extLst xmlns:a="http://schemas.openxmlformats.org/drawingml/2006/main">
              <a:ext uri="{FF2B5EF4-FFF2-40B4-BE49-F238E27FC236}">
                <a16:creationId xmlns:a16="http://schemas.microsoft.com/office/drawing/2014/main" id="{34DB5DEF-8114-43EB-BCF8-0B628E7C364A}"/>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규제 경로</a:t>
            </a:r>
          </a:p>
          <a:p xmlns:a="http://schemas.openxmlformats.org/drawingml/2006/main">
            <a:pPr algn="l">
              <a:buNone/>
              <a:defRPr sz="2400">
                <a:solidFill>
                  <a:srgbClr val="000000"/>
                </a:solidFill>
                <a:latin typeface="Helvetica Neue"/>
                <a:ea typeface="Helvetica Neue"/>
                <a:cs typeface="Helvetica Neue"/>
              </a:defRPr>
            </a:pPr>
            <a:r>
              <a:t>원료 명칭·품목 분류</a:t>
            </a:r>
          </a:p>
          <a:p xmlns:a="http://schemas.openxmlformats.org/drawingml/2006/main">
            <a:pPr algn="l">
              <a:buNone/>
              <a:defRPr sz="2400">
                <a:solidFill>
                  <a:srgbClr val="000000"/>
                </a:solidFill>
                <a:latin typeface="Helvetica Neue"/>
                <a:ea typeface="Helvetica Neue"/>
                <a:cs typeface="Helvetica Neue"/>
              </a:defRPr>
            </a:pPr>
            <a:r>
              <a:t>제조·성분 등록</a:t>
            </a:r>
          </a:p>
          <a:p xmlns:a="http://schemas.openxmlformats.org/drawingml/2006/main">
            <a:pPr algn="l">
              <a:buNone/>
              <a:defRPr sz="2400">
                <a:solidFill>
                  <a:srgbClr val="000000"/>
                </a:solidFill>
                <a:latin typeface="Helvetica Neue"/>
                <a:ea typeface="Helvetica Neue"/>
                <a:cs typeface="Helvetica Neue"/>
              </a:defRPr>
            </a:pPr>
            <a:r>
              <a:t>표시 가능 문구</a:t>
            </a:r>
          </a:p>
        </p:txBody>
      </p:sp>
      <p:sp>
        <p:nvSpPr>
          <p:cNvPr id="4" name="Content-Placeholder-10-5">
            <a:extLst xmlns:a="http://schemas.openxmlformats.org/drawingml/2006/main">
              <a:ext uri="{FF2B5EF4-FFF2-40B4-BE49-F238E27FC236}">
                <a16:creationId xmlns:a16="http://schemas.microsoft.com/office/drawing/2014/main" id="{EFACA7CB-B804-47CA-AB1B-80FE7DDA4BA7}"/>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제품 규격</a:t>
            </a:r>
          </a:p>
          <a:p xmlns:a="http://schemas.openxmlformats.org/drawingml/2006/main">
            <a:pPr algn="l">
              <a:buNone/>
              <a:defRPr sz="2400">
                <a:solidFill>
                  <a:srgbClr val="000000"/>
                </a:solidFill>
                <a:latin typeface="Helvetica Neue"/>
                <a:ea typeface="Helvetica Neue"/>
                <a:cs typeface="Helvetica Neue"/>
              </a:defRPr>
            </a:pPr>
            <a:r>
              <a:t>GABA 활성함량</a:t>
            </a:r>
          </a:p>
          <a:p xmlns:a="http://schemas.openxmlformats.org/drawingml/2006/main">
            <a:pPr algn="l">
              <a:buNone/>
              <a:defRPr sz="2400">
                <a:solidFill>
                  <a:srgbClr val="000000"/>
                </a:solidFill>
                <a:latin typeface="Helvetica Neue"/>
                <a:ea typeface="Helvetica Neue"/>
                <a:cs typeface="Helvetica Neue"/>
              </a:defRPr>
            </a:pPr>
            <a:r>
              <a:t>로트별 CoA</a:t>
            </a:r>
          </a:p>
          <a:p xmlns:a="http://schemas.openxmlformats.org/drawingml/2006/main">
            <a:pPr algn="l">
              <a:buNone/>
              <a:defRPr sz="2400">
                <a:solidFill>
                  <a:srgbClr val="000000"/>
                </a:solidFill>
                <a:latin typeface="Helvetica Neue"/>
                <a:ea typeface="Helvetica Neue"/>
                <a:cs typeface="Helvetica Neue"/>
              </a:defRPr>
            </a:pPr>
            <a:r>
              <a:t>안정성·보존기한</a:t>
            </a:r>
          </a:p>
        </p:txBody>
      </p:sp>
      <p:sp>
        <p:nvSpPr>
          <p:cNvPr id="5" name="Content-Placeholder-9-6">
            <a:extLst xmlns:a="http://schemas.openxmlformats.org/drawingml/2006/main">
              <a:ext uri="{FF2B5EF4-FFF2-40B4-BE49-F238E27FC236}">
                <a16:creationId xmlns:a16="http://schemas.microsoft.com/office/drawing/2014/main" id="{234C9D70-A9C5-49B5-8918-C361BF8A333B}"/>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공장 적합</a:t>
            </a:r>
          </a:p>
          <a:p xmlns:a="http://schemas.openxmlformats.org/drawingml/2006/main">
            <a:pPr algn="l">
              <a:buNone/>
              <a:defRPr sz="2400">
                <a:solidFill>
                  <a:srgbClr val="000000"/>
                </a:solidFill>
                <a:latin typeface="Helvetica Neue"/>
                <a:ea typeface="Helvetica Neue"/>
                <a:cs typeface="Helvetica Neue"/>
              </a:defRPr>
            </a:pPr>
            <a:r>
              <a:t>정량투입·균일혼합</a:t>
            </a:r>
          </a:p>
          <a:p xmlns:a="http://schemas.openxmlformats.org/drawingml/2006/main">
            <a:pPr algn="l">
              <a:buNone/>
              <a:defRPr sz="2400">
                <a:solidFill>
                  <a:srgbClr val="000000"/>
                </a:solidFill>
                <a:latin typeface="Helvetica Neue"/>
                <a:ea typeface="Helvetica Neue"/>
                <a:cs typeface="Helvetica Neue"/>
              </a:defRPr>
            </a:pPr>
            <a:r>
              <a:t>펠렛 영향·세척</a:t>
            </a:r>
          </a:p>
          <a:p xmlns:a="http://schemas.openxmlformats.org/drawingml/2006/main">
            <a:pPr algn="l">
              <a:buNone/>
              <a:defRPr sz="2400">
                <a:solidFill>
                  <a:srgbClr val="000000"/>
                </a:solidFill>
                <a:latin typeface="Helvetica Neue"/>
                <a:ea typeface="Helvetica Neue"/>
                <a:cs typeface="Helvetica Neue"/>
              </a:defRPr>
            </a:pPr>
            <a:r>
              <a:t>변경관리</a:t>
            </a:r>
          </a:p>
        </p:txBody>
      </p:sp>
      <p:sp>
        <p:nvSpPr>
          <p:cNvPr id="6" name="Content-Placeholder-10-7">
            <a:extLst xmlns:a="http://schemas.openxmlformats.org/drawingml/2006/main">
              <a:ext uri="{FF2B5EF4-FFF2-40B4-BE49-F238E27FC236}">
                <a16:creationId xmlns:a16="http://schemas.microsoft.com/office/drawing/2014/main" id="{1A34C16A-8F7A-4B12-BA58-172260CF0F97}"/>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공급·회수</a:t>
            </a:r>
          </a:p>
          <a:p xmlns:a="http://schemas.openxmlformats.org/drawingml/2006/main">
            <a:pPr algn="l">
              <a:buNone/>
              <a:defRPr sz="2400">
                <a:solidFill>
                  <a:srgbClr val="000000"/>
                </a:solidFill>
                <a:latin typeface="Helvetica Neue"/>
                <a:ea typeface="Helvetica Neue"/>
                <a:cs typeface="Helvetica Neue"/>
              </a:defRPr>
            </a:pPr>
            <a:r>
              <a:t>로트 추적·회수</a:t>
            </a:r>
          </a:p>
          <a:p xmlns:a="http://schemas.openxmlformats.org/drawingml/2006/main">
            <a:pPr algn="l">
              <a:buNone/>
              <a:defRPr sz="2400">
                <a:solidFill>
                  <a:srgbClr val="000000"/>
                </a:solidFill>
                <a:latin typeface="Helvetica Neue"/>
                <a:ea typeface="Helvetica Neue"/>
                <a:cs typeface="Helvetica Neue"/>
              </a:defRPr>
            </a:pPr>
            <a:r>
              <a:t>MOQ·납기</a:t>
            </a:r>
          </a:p>
          <a:p xmlns:a="http://schemas.openxmlformats.org/drawingml/2006/main">
            <a:pPr algn="l">
              <a:buNone/>
              <a:defRPr sz="2400">
                <a:solidFill>
                  <a:srgbClr val="000000"/>
                </a:solidFill>
                <a:latin typeface="Helvetica Neue"/>
                <a:ea typeface="Helvetica Neue"/>
                <a:cs typeface="Helvetica Neue"/>
              </a:defRPr>
            </a:pPr>
            <a:r>
              <a:t>반품 조건</a:t>
            </a:r>
          </a:p>
        </p:txBody>
      </p:sp>
      <p:sp>
        <p:nvSpPr>
          <p:cNvPr id="7" name="brand-rule-16">
            <a:extLst xmlns:a="http://schemas.openxmlformats.org/drawingml/2006/main">
              <a:ext uri="{FF2B5EF4-FFF2-40B4-BE49-F238E27FC236}">
                <a16:creationId xmlns:a16="http://schemas.microsoft.com/office/drawing/2014/main" id="{55BD5789-824C-4804-8B5F-C81E993C9E53}"/>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8" name="brand-footer-16">
            <a:extLst xmlns:a="http://schemas.openxmlformats.org/drawingml/2006/main">
              <a:ext uri="{FF2B5EF4-FFF2-40B4-BE49-F238E27FC236}">
                <a16:creationId xmlns:a16="http://schemas.microsoft.com/office/drawing/2014/main" id="{B551CBFC-E8C9-4FAA-B5CF-AB153853215C}"/>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08 | REGULATORY &amp; QA CHECKS</a:t>
            </a:r>
          </a:p>
        </p:txBody>
      </p:sp>
    </p:spTree>
    <p:extLst>
      <p:ext uri="{BB962C8B-B14F-4D97-AF65-F5344CB8AC3E}">
        <p14:creationId xmlns:p14="http://schemas.microsoft.com/office/powerpoint/2010/main" val="160455868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5" name="Rounded-Rectangle-5-1">
            <a:extLst xmlns:a="http://schemas.openxmlformats.org/drawingml/2006/main">
              <a:ext uri="{FF2B5EF4-FFF2-40B4-BE49-F238E27FC236}">
                <a16:creationId xmlns:a16="http://schemas.microsoft.com/office/drawing/2014/main" id="{E16F1EE6-E756-45C0-8617-BB78BF867B63}"/>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D4C87DE3-EBAE-4928-8F13-9D57644F80E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B8FB0289-E741-4BA8-94D1-677C5EF213D1}"/>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83969B42-BFA8-448C-8026-85E52F042B1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9</a:t>
            </a:r>
          </a:p>
        </p:txBody>
      </p:sp>
      <p:sp>
        <p:nvSpPr>
          <p:cNvPr id="5" name="Title-2-5">
            <a:extLst xmlns:a="http://schemas.openxmlformats.org/drawingml/2006/main">
              <a:ext uri="{FF2B5EF4-FFF2-40B4-BE49-F238E27FC236}">
                <a16:creationId xmlns:a16="http://schemas.microsoft.com/office/drawing/2014/main" id="{DCF1A8D5-0AB3-4E51-AEDC-9EBECE5A451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기존 연구만으로 브랜드 한우의 육질 개선을 증명할 수 없다</a:t>
            </a:r>
          </a:p>
        </p:txBody>
      </p:sp>
      <p:sp>
        <p:nvSpPr>
          <p:cNvPr id="6" name="Content-Placeholder-9-6">
            <a:extLst xmlns:a="http://schemas.openxmlformats.org/drawingml/2006/main">
              <a:ext uri="{FF2B5EF4-FFF2-40B4-BE49-F238E27FC236}">
                <a16:creationId xmlns:a16="http://schemas.microsoft.com/office/drawing/2014/main" id="{3E72F593-79F2-43AE-A593-E6DB7B4B4FC0}"/>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젖소 열스트레스</a:t>
            </a:r>
          </a:p>
          <a:p xmlns:a="http://schemas.openxmlformats.org/drawingml/2006/main">
            <a:pPr algn="l">
              <a:buNone/>
              <a:defRPr sz="2400">
                <a:solidFill>
                  <a:srgbClr val="000000"/>
                </a:solidFill>
                <a:latin typeface="Helvetica Neue"/>
                <a:ea typeface="Helvetica Neue"/>
                <a:cs typeface="Helvetica Neue"/>
              </a:defRPr>
            </a:pPr>
            <a:r>
              <a:t>RP-GABA·18두</a:t>
            </a:r>
          </a:p>
        </p:txBody>
      </p:sp>
      <p:sp>
        <p:nvSpPr>
          <p:cNvPr id="7" name="Content-Placeholder-10-7">
            <a:extLst xmlns:a="http://schemas.openxmlformats.org/drawingml/2006/main">
              <a:ext uri="{FF2B5EF4-FFF2-40B4-BE49-F238E27FC236}">
                <a16:creationId xmlns:a16="http://schemas.microsoft.com/office/drawing/2014/main" id="{F70819C6-E100-46F1-A253-8C7B6596CAA2}"/>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넙치 염분스트레스</a:t>
            </a:r>
          </a:p>
          <a:p xmlns:a="http://schemas.openxmlformats.org/drawingml/2006/main">
            <a:pPr algn="l">
              <a:buNone/>
              <a:defRPr sz="2400">
                <a:solidFill>
                  <a:srgbClr val="000000"/>
                </a:solidFill>
                <a:latin typeface="Helvetica Neue"/>
                <a:ea typeface="Helvetica Neue"/>
                <a:cs typeface="Helvetica Neue"/>
              </a:defRPr>
            </a:pPr>
            <a:r>
              <a:t>8주·9수조</a:t>
            </a:r>
          </a:p>
        </p:txBody>
      </p:sp>
      <p:sp>
        <p:nvSpPr>
          <p:cNvPr id="8" name="Content-Placeholder-11-8">
            <a:extLst xmlns:a="http://schemas.openxmlformats.org/drawingml/2006/main">
              <a:ext uri="{FF2B5EF4-FFF2-40B4-BE49-F238E27FC236}">
                <a16:creationId xmlns:a16="http://schemas.microsoft.com/office/drawing/2014/main" id="{7A05743D-C63F-4B00-B533-D7ECE388EBC1}"/>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비육 한우</a:t>
            </a:r>
          </a:p>
          <a:p xmlns:a="http://schemas.openxmlformats.org/drawingml/2006/main">
            <a:pPr algn="l">
              <a:buNone/>
              <a:defRPr sz="2400">
                <a:solidFill>
                  <a:srgbClr val="000000"/>
                </a:solidFill>
                <a:latin typeface="Helvetica Neue"/>
                <a:ea typeface="Helvetica Neue"/>
                <a:cs typeface="Helvetica Neue"/>
              </a:defRPr>
            </a:pPr>
            <a:r>
              <a:t>21두</a:t>
            </a:r>
          </a:p>
        </p:txBody>
      </p:sp>
      <p:sp>
        <p:nvSpPr>
          <p:cNvPr id="9" name="Content-Placeholder-9-9">
            <a:extLst xmlns:a="http://schemas.openxmlformats.org/drawingml/2006/main">
              <a:ext uri="{FF2B5EF4-FFF2-40B4-BE49-F238E27FC236}">
                <a16:creationId xmlns:a16="http://schemas.microsoft.com/office/drawing/2014/main" id="{6B6DF3F5-8239-45F8-9E70-2B3E7F1DB3FF}"/>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산유량 비유의</a:t>
            </a:r>
          </a:p>
        </p:txBody>
      </p:sp>
      <p:sp>
        <p:nvSpPr>
          <p:cNvPr id="10" name="Content-Placeholder-9-10">
            <a:extLst xmlns:a="http://schemas.openxmlformats.org/drawingml/2006/main">
              <a:ext uri="{FF2B5EF4-FFF2-40B4-BE49-F238E27FC236}">
                <a16:creationId xmlns:a16="http://schemas.microsoft.com/office/drawing/2014/main" id="{CE72FAEF-F255-4F90-AEDE-480E5F8C5F47}"/>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초기 증체 유의</a:t>
            </a:r>
          </a:p>
        </p:txBody>
      </p:sp>
      <p:sp>
        <p:nvSpPr>
          <p:cNvPr id="11" name="Content-Placeholder-9-11">
            <a:extLst xmlns:a="http://schemas.openxmlformats.org/drawingml/2006/main">
              <a:ext uri="{FF2B5EF4-FFF2-40B4-BE49-F238E27FC236}">
                <a16:creationId xmlns:a16="http://schemas.microsoft.com/office/drawing/2014/main" id="{70DD8D92-9021-4372-B7E8-35A09E99E87D}"/>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성장 개선 비유의</a:t>
            </a:r>
          </a:p>
        </p:txBody>
      </p:sp>
      <p:sp>
        <p:nvSpPr>
          <p:cNvPr id="12" name="Content-Placeholder-15-12">
            <a:extLst xmlns:a="http://schemas.openxmlformats.org/drawingml/2006/main">
              <a:ext uri="{FF2B5EF4-FFF2-40B4-BE49-F238E27FC236}">
                <a16:creationId xmlns:a16="http://schemas.microsoft.com/office/drawing/2014/main" id="{E1FBB930-6AF2-4B7D-84BA-8E934D069C6B}"/>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젖소: 일부 유성분 유의 · 한우: 초기 증체 유의, 도체지표 비유의 · 넙치: 성장 비유의</a:t>
            </a:r>
          </a:p>
          <a:p xmlns:a="http://schemas.openxmlformats.org/drawingml/2006/main">
            <a:pPr algn="l">
              <a:buNone/>
              <a:defRPr sz="1600">
                <a:solidFill>
                  <a:srgbClr val="000000"/>
                </a:solidFill>
                <a:latin typeface="Helvetica Neue"/>
                <a:ea typeface="Helvetica Neue"/>
                <a:cs typeface="Helvetica Neue"/>
              </a:defRPr>
            </a:pPr>
            <a:r>
              <a:t>※ 해당 제품·대조군·사전 판정기준으로 다시 확인 필요</a:t>
            </a:r>
          </a:p>
        </p:txBody>
      </p:sp>
      <p:sp>
        <p:nvSpPr>
          <p:cNvPr id="13" name="brand-rule-3">
            <a:extLst xmlns:a="http://schemas.openxmlformats.org/drawingml/2006/main">
              <a:ext uri="{FF2B5EF4-FFF2-40B4-BE49-F238E27FC236}">
                <a16:creationId xmlns:a16="http://schemas.microsoft.com/office/drawing/2014/main" id="{CF26F2E1-309A-4854-AE35-3CF8D1E0B7DE}"/>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14" name="brand-footer-3">
            <a:extLst xmlns:a="http://schemas.openxmlformats.org/drawingml/2006/main">
              <a:ext uri="{FF2B5EF4-FFF2-40B4-BE49-F238E27FC236}">
                <a16:creationId xmlns:a16="http://schemas.microsoft.com/office/drawing/2014/main" id="{67FA2FB3-A9A5-4AF6-A336-B21A6025C47A}"/>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09 | GABA CARE MIX EVIDENCE</a:t>
            </a:r>
          </a:p>
        </p:txBody>
      </p:sp>
    </p:spTree>
    <p:extLst>
      <p:ext uri="{BB962C8B-B14F-4D97-AF65-F5344CB8AC3E}">
        <p14:creationId xmlns:p14="http://schemas.microsoft.com/office/powerpoint/2010/main" val="136431717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9" name="Slide-Number-Placeholder-1-2">
            <a:extLst xmlns:a="http://schemas.openxmlformats.org/drawingml/2006/main">
              <a:ext uri="{FF2B5EF4-FFF2-40B4-BE49-F238E27FC236}">
                <a16:creationId xmlns:a16="http://schemas.microsoft.com/office/drawing/2014/main" id="{899BFBB6-2B10-416C-B0B8-D3DCD3722082}"/>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10</a:t>
            </a:r>
          </a:p>
        </p:txBody>
      </p:sp>
      <p:sp>
        <p:nvSpPr>
          <p:cNvPr id="2" name="Title-2-3">
            <a:extLst xmlns:a="http://schemas.openxmlformats.org/drawingml/2006/main">
              <a:ext uri="{FF2B5EF4-FFF2-40B4-BE49-F238E27FC236}">
                <a16:creationId xmlns:a16="http://schemas.microsoft.com/office/drawing/2014/main" id="{5CFAC748-585C-4584-8553-0EC8E67AB075}"/>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가바케어믹스의 첫 검증은 비육 한우 한 축종에 집중한다</a:t>
            </a:r>
          </a:p>
        </p:txBody>
      </p:sp>
      <p:sp>
        <p:nvSpPr>
          <p:cNvPr id="3" name="Content-Placeholder-9-4">
            <a:extLst xmlns:a="http://schemas.openxmlformats.org/drawingml/2006/main">
              <a:ext uri="{FF2B5EF4-FFF2-40B4-BE49-F238E27FC236}">
                <a16:creationId xmlns:a16="http://schemas.microsoft.com/office/drawing/2014/main" id="{34DB5DEF-8114-43EB-BCF8-0B628E7C364A}"/>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시험 대상</a:t>
            </a:r>
          </a:p>
          <a:p xmlns:a="http://schemas.openxmlformats.org/drawingml/2006/main">
            <a:pPr algn="l">
              <a:buNone/>
              <a:defRPr sz="2400">
                <a:solidFill>
                  <a:srgbClr val="000000"/>
                </a:solidFill>
                <a:latin typeface="Helvetica Neue"/>
                <a:ea typeface="Helvetica Neue"/>
                <a:cs typeface="Helvetica Neue"/>
              </a:defRPr>
            </a:pPr>
            <a:r>
              <a:t>비육 한우</a:t>
            </a:r>
          </a:p>
          <a:p xmlns:a="http://schemas.openxmlformats.org/drawingml/2006/main">
            <a:pPr algn="l">
              <a:buNone/>
              <a:defRPr sz="2400">
                <a:solidFill>
                  <a:srgbClr val="000000"/>
                </a:solidFill>
                <a:latin typeface="Helvetica Neue"/>
                <a:ea typeface="Helvetica Neue"/>
                <a:cs typeface="Helvetica Neue"/>
              </a:defRPr>
            </a:pPr>
            <a:r>
              <a:t>동일 사육조건</a:t>
            </a:r>
          </a:p>
          <a:p xmlns:a="http://schemas.openxmlformats.org/drawingml/2006/main">
            <a:pPr algn="l">
              <a:buNone/>
              <a:defRPr sz="2400">
                <a:solidFill>
                  <a:srgbClr val="000000"/>
                </a:solidFill>
                <a:latin typeface="Helvetica Neue"/>
                <a:ea typeface="Helvetica Neue"/>
                <a:cs typeface="Helvetica Neue"/>
              </a:defRPr>
            </a:pPr>
            <a:r>
              <a:t>가바케어믹스·대조군</a:t>
            </a:r>
          </a:p>
        </p:txBody>
      </p:sp>
      <p:sp>
        <p:nvSpPr>
          <p:cNvPr id="4" name="Content-Placeholder-10-5">
            <a:extLst xmlns:a="http://schemas.openxmlformats.org/drawingml/2006/main">
              <a:ext uri="{FF2B5EF4-FFF2-40B4-BE49-F238E27FC236}">
                <a16:creationId xmlns:a16="http://schemas.microsoft.com/office/drawing/2014/main" id="{EFACA7CB-B804-47CA-AB1B-80FE7DDA4BA7}"/>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제품 기준</a:t>
            </a:r>
          </a:p>
          <a:p xmlns:a="http://schemas.openxmlformats.org/drawingml/2006/main">
            <a:pPr algn="l">
              <a:buNone/>
              <a:defRPr sz="2400">
                <a:solidFill>
                  <a:srgbClr val="000000"/>
                </a:solidFill>
                <a:latin typeface="Helvetica Neue"/>
                <a:ea typeface="Helvetica Neue"/>
                <a:cs typeface="Helvetica Neue"/>
              </a:defRPr>
            </a:pPr>
            <a:r>
              <a:t>활성함량 고정</a:t>
            </a:r>
          </a:p>
          <a:p xmlns:a="http://schemas.openxmlformats.org/drawingml/2006/main">
            <a:pPr algn="l">
              <a:buNone/>
              <a:defRPr sz="2400">
                <a:solidFill>
                  <a:srgbClr val="000000"/>
                </a:solidFill>
                <a:latin typeface="Helvetica Neue"/>
                <a:ea typeface="Helvetica Neue"/>
                <a:cs typeface="Helvetica Neue"/>
              </a:defRPr>
            </a:pPr>
            <a:r>
              <a:t>배합 균일도</a:t>
            </a:r>
          </a:p>
          <a:p xmlns:a="http://schemas.openxmlformats.org/drawingml/2006/main">
            <a:pPr algn="l">
              <a:buNone/>
              <a:defRPr sz="2400">
                <a:solidFill>
                  <a:srgbClr val="000000"/>
                </a:solidFill>
                <a:latin typeface="Helvetica Neue"/>
                <a:ea typeface="Helvetica Neue"/>
                <a:cs typeface="Helvetica Neue"/>
              </a:defRPr>
            </a:pPr>
            <a:r>
              <a:t>로트별 안정성</a:t>
            </a:r>
          </a:p>
        </p:txBody>
      </p:sp>
      <p:sp>
        <p:nvSpPr>
          <p:cNvPr id="5" name="Content-Placeholder-9-6">
            <a:extLst xmlns:a="http://schemas.openxmlformats.org/drawingml/2006/main">
              <a:ext uri="{FF2B5EF4-FFF2-40B4-BE49-F238E27FC236}">
                <a16:creationId xmlns:a16="http://schemas.microsoft.com/office/drawing/2014/main" id="{234C9D70-A9C5-49B5-8918-C361BF8A333B}"/>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생산성</a:t>
            </a:r>
          </a:p>
          <a:p xmlns:a="http://schemas.openxmlformats.org/drawingml/2006/main">
            <a:pPr algn="l">
              <a:buNone/>
              <a:defRPr sz="2400">
                <a:solidFill>
                  <a:srgbClr val="000000"/>
                </a:solidFill>
                <a:latin typeface="Helvetica Neue"/>
                <a:ea typeface="Helvetica Neue"/>
                <a:cs typeface="Helvetica Neue"/>
              </a:defRPr>
            </a:pPr>
            <a:r>
              <a:t>일당증체량 ADG</a:t>
            </a:r>
          </a:p>
          <a:p xmlns:a="http://schemas.openxmlformats.org/drawingml/2006/main">
            <a:pPr algn="l">
              <a:buNone/>
              <a:defRPr sz="2400">
                <a:solidFill>
                  <a:srgbClr val="000000"/>
                </a:solidFill>
                <a:latin typeface="Helvetica Neue"/>
                <a:ea typeface="Helvetica Neue"/>
                <a:cs typeface="Helvetica Neue"/>
              </a:defRPr>
            </a:pPr>
            <a:r>
              <a:t>사료요구율 FCR</a:t>
            </a:r>
          </a:p>
          <a:p xmlns:a="http://schemas.openxmlformats.org/drawingml/2006/main">
            <a:pPr algn="l">
              <a:buNone/>
              <a:defRPr sz="2400">
                <a:solidFill>
                  <a:srgbClr val="000000"/>
                </a:solidFill>
                <a:latin typeface="Helvetica Neue"/>
                <a:ea typeface="Helvetica Neue"/>
                <a:cs typeface="Helvetica Neue"/>
              </a:defRPr>
            </a:pPr>
            <a:r>
              <a:t>kg 증체당 사료비</a:t>
            </a:r>
          </a:p>
        </p:txBody>
      </p:sp>
      <p:sp>
        <p:nvSpPr>
          <p:cNvPr id="6" name="Content-Placeholder-10-7">
            <a:extLst xmlns:a="http://schemas.openxmlformats.org/drawingml/2006/main">
              <a:ext uri="{FF2B5EF4-FFF2-40B4-BE49-F238E27FC236}">
                <a16:creationId xmlns:a16="http://schemas.microsoft.com/office/drawing/2014/main" id="{1A34C16A-8F7A-4B12-BA58-172260CF0F97}"/>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육질</a:t>
            </a:r>
          </a:p>
          <a:p xmlns:a="http://schemas.openxmlformats.org/drawingml/2006/main">
            <a:pPr algn="l">
              <a:buNone/>
              <a:defRPr sz="2400">
                <a:solidFill>
                  <a:srgbClr val="000000"/>
                </a:solidFill>
                <a:latin typeface="Helvetica Neue"/>
                <a:ea typeface="Helvetica Neue"/>
                <a:cs typeface="Helvetica Neue"/>
              </a:defRPr>
            </a:pPr>
            <a:r>
              <a:t>도체중·등심단면적</a:t>
            </a:r>
          </a:p>
          <a:p xmlns:a="http://schemas.openxmlformats.org/drawingml/2006/main">
            <a:pPr algn="l">
              <a:buNone/>
              <a:defRPr sz="2400">
                <a:solidFill>
                  <a:srgbClr val="000000"/>
                </a:solidFill>
                <a:latin typeface="Helvetica Neue"/>
                <a:ea typeface="Helvetica Neue"/>
                <a:cs typeface="Helvetica Neue"/>
              </a:defRPr>
            </a:pPr>
            <a:r>
              <a:t>근내지방도·육질등급</a:t>
            </a:r>
          </a:p>
          <a:p xmlns:a="http://schemas.openxmlformats.org/drawingml/2006/main">
            <a:pPr algn="l">
              <a:buNone/>
              <a:defRPr sz="2400">
                <a:solidFill>
                  <a:srgbClr val="000000"/>
                </a:solidFill>
                <a:latin typeface="Helvetica Neue"/>
                <a:ea typeface="Helvetica Neue"/>
                <a:cs typeface="Helvetica Neue"/>
              </a:defRPr>
            </a:pPr>
            <a:r>
              <a:t>등지방두께</a:t>
            </a:r>
          </a:p>
        </p:txBody>
      </p:sp>
      <p:sp>
        <p:nvSpPr>
          <p:cNvPr id="7" name="brand-rule-16">
            <a:extLst xmlns:a="http://schemas.openxmlformats.org/drawingml/2006/main">
              <a:ext uri="{FF2B5EF4-FFF2-40B4-BE49-F238E27FC236}">
                <a16:creationId xmlns:a16="http://schemas.microsoft.com/office/drawing/2014/main" id="{55BD5789-824C-4804-8B5F-C81E993C9E53}"/>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8" name="brand-footer-16">
            <a:extLst xmlns:a="http://schemas.openxmlformats.org/drawingml/2006/main">
              <a:ext uri="{FF2B5EF4-FFF2-40B4-BE49-F238E27FC236}">
                <a16:creationId xmlns:a16="http://schemas.microsoft.com/office/drawing/2014/main" id="{B551CBFC-E8C9-4FAA-B5CF-AB153853215C}"/>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10 | GABA CARE MIX POV</a:t>
            </a:r>
          </a:p>
        </p:txBody>
      </p:sp>
    </p:spTree>
    <p:extLst>
      <p:ext uri="{BB962C8B-B14F-4D97-AF65-F5344CB8AC3E}">
        <p14:creationId xmlns:p14="http://schemas.microsoft.com/office/powerpoint/2010/main" val="160455868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5" name="Rounded-Rectangle-5-1">
            <a:extLst xmlns:a="http://schemas.openxmlformats.org/drawingml/2006/main">
              <a:ext uri="{FF2B5EF4-FFF2-40B4-BE49-F238E27FC236}">
                <a16:creationId xmlns:a16="http://schemas.microsoft.com/office/drawing/2014/main" id="{1D34A078-3FBA-46F8-85A2-00826C88368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C93A012E-BCFE-4293-BD7E-DC4D2D17E54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B9F28272-6F11-465D-9090-5F1883B816E6}"/>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469D7F27-099D-43CA-8CFF-C4952289DBC4}"/>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11</a:t>
            </a:r>
          </a:p>
        </p:txBody>
      </p:sp>
      <p:sp>
        <p:nvSpPr>
          <p:cNvPr id="5" name="Title-2-5">
            <a:extLst xmlns:a="http://schemas.openxmlformats.org/drawingml/2006/main">
              <a:ext uri="{FF2B5EF4-FFF2-40B4-BE49-F238E27FC236}">
                <a16:creationId xmlns:a16="http://schemas.microsoft.com/office/drawing/2014/main" id="{1C1F8AD9-AE8E-4562-AC37-26708243BFC1}"/>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가바크루드 매출원가는 kg당 4,000원에서 시작한다</a:t>
            </a:r>
          </a:p>
        </p:txBody>
      </p:sp>
      <p:sp>
        <p:nvSpPr>
          <p:cNvPr id="6" name="Content-Placeholder-9-6">
            <a:extLst xmlns:a="http://schemas.openxmlformats.org/drawingml/2006/main">
              <a:ext uri="{FF2B5EF4-FFF2-40B4-BE49-F238E27FC236}">
                <a16:creationId xmlns:a16="http://schemas.microsoft.com/office/drawing/2014/main" id="{1D1250B4-54F3-4782-A4B2-EE1F200D3ABD}"/>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판매가격</a:t>
            </a:r>
          </a:p>
          <a:p xmlns:a="http://schemas.openxmlformats.org/drawingml/2006/main">
            <a:pPr algn="l">
              <a:buNone/>
              <a:defRPr sz="2400">
                <a:solidFill>
                  <a:srgbClr val="000000"/>
                </a:solidFill>
                <a:latin typeface="Helvetica Neue"/>
                <a:ea typeface="Helvetica Neue"/>
                <a:cs typeface="Helvetica Neue"/>
              </a:defRPr>
            </a:pPr>
            <a:r>
              <a:t>KRW/kg</a:t>
            </a:r>
          </a:p>
        </p:txBody>
      </p:sp>
      <p:sp>
        <p:nvSpPr>
          <p:cNvPr id="7" name="Content-Placeholder-10-7">
            <a:extLst xmlns:a="http://schemas.openxmlformats.org/drawingml/2006/main">
              <a:ext uri="{FF2B5EF4-FFF2-40B4-BE49-F238E27FC236}">
                <a16:creationId xmlns:a16="http://schemas.microsoft.com/office/drawing/2014/main" id="{34AFEE71-7610-48B7-8F8F-99A57BE66387}"/>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매출총이익 상한</a:t>
            </a:r>
          </a:p>
          <a:p xmlns:a="http://schemas.openxmlformats.org/drawingml/2006/main">
            <a:pPr algn="l">
              <a:buNone/>
              <a:defRPr sz="2400">
                <a:solidFill>
                  <a:srgbClr val="000000"/>
                </a:solidFill>
                <a:latin typeface="Helvetica Neue"/>
                <a:ea typeface="Helvetica Neue"/>
                <a:cs typeface="Helvetica Neue"/>
              </a:defRPr>
            </a:pPr>
            <a:r>
              <a:t>KRW/kg</a:t>
            </a:r>
          </a:p>
        </p:txBody>
      </p:sp>
      <p:sp>
        <p:nvSpPr>
          <p:cNvPr id="8" name="Content-Placeholder-11-8">
            <a:extLst xmlns:a="http://schemas.openxmlformats.org/drawingml/2006/main">
              <a:ext uri="{FF2B5EF4-FFF2-40B4-BE49-F238E27FC236}">
                <a16:creationId xmlns:a16="http://schemas.microsoft.com/office/drawing/2014/main" id="{5E11AEC0-D14C-486A-85E7-0A0C6F0810EC}"/>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확인된 원가 하한</a:t>
            </a:r>
          </a:p>
          <a:p xmlns:a="http://schemas.openxmlformats.org/drawingml/2006/main">
            <a:pPr algn="l">
              <a:buNone/>
              <a:defRPr sz="2400">
                <a:solidFill>
                  <a:srgbClr val="000000"/>
                </a:solidFill>
                <a:latin typeface="Helvetica Neue"/>
                <a:ea typeface="Helvetica Neue"/>
                <a:cs typeface="Helvetica Neue"/>
              </a:defRPr>
            </a:pPr>
            <a:r>
              <a:t>KRW/kg</a:t>
            </a:r>
          </a:p>
        </p:txBody>
      </p:sp>
      <p:sp>
        <p:nvSpPr>
          <p:cNvPr id="9" name="Content-Placeholder-9-9">
            <a:extLst xmlns:a="http://schemas.openxmlformats.org/drawingml/2006/main">
              <a:ext uri="{FF2B5EF4-FFF2-40B4-BE49-F238E27FC236}">
                <a16:creationId xmlns:a16="http://schemas.microsoft.com/office/drawing/2014/main" id="{A2AE840C-7F28-496B-A49B-159987874C50}"/>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18,000</a:t>
            </a:r>
          </a:p>
        </p:txBody>
      </p:sp>
      <p:sp>
        <p:nvSpPr>
          <p:cNvPr id="10" name="Content-Placeholder-9-10">
            <a:extLst xmlns:a="http://schemas.openxmlformats.org/drawingml/2006/main">
              <a:ext uri="{FF2B5EF4-FFF2-40B4-BE49-F238E27FC236}">
                <a16:creationId xmlns:a16="http://schemas.microsoft.com/office/drawing/2014/main" id="{AA702D10-C695-463A-A3C0-DBF5E496DB6B}"/>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4,000</a:t>
            </a:r>
          </a:p>
        </p:txBody>
      </p:sp>
      <p:sp>
        <p:nvSpPr>
          <p:cNvPr id="11" name="Content-Placeholder-9-11">
            <a:extLst xmlns:a="http://schemas.openxmlformats.org/drawingml/2006/main">
              <a:ext uri="{FF2B5EF4-FFF2-40B4-BE49-F238E27FC236}">
                <a16:creationId xmlns:a16="http://schemas.microsoft.com/office/drawing/2014/main" id="{EAF87244-54F7-4E88-B704-D25904851B8C}"/>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+14,000</a:t>
            </a:r>
          </a:p>
        </p:txBody>
      </p:sp>
      <p:sp>
        <p:nvSpPr>
          <p:cNvPr id="12" name="Content-Placeholder-15-12">
            <a:extLst xmlns:a="http://schemas.openxmlformats.org/drawingml/2006/main">
              <a:ext uri="{FF2B5EF4-FFF2-40B4-BE49-F238E27FC236}">
                <a16:creationId xmlns:a16="http://schemas.microsoft.com/office/drawing/2014/main" id="{8E8A1894-A69C-460E-A838-F3D9255760E7}"/>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배양액 400만원÷가바크루드 1,000kg=4,000원/kg</a:t>
            </a:r>
          </a:p>
          <a:p xmlns:a="http://schemas.openxmlformats.org/drawingml/2006/main">
            <a:pPr algn="l">
              <a:buNone/>
              <a:defRPr sz="1600">
                <a:solidFill>
                  <a:srgbClr val="000000"/>
                </a:solidFill>
                <a:latin typeface="Helvetica Neue"/>
                <a:ea typeface="Helvetica Neue"/>
                <a:cs typeface="Helvetica Neue"/>
              </a:defRPr>
            </a:pPr>
            <a:r>
              <a:t>※ 말토덱스트린·건조·검사·포장비 반영 후 최종 매출원가와 매출총이익 확정</a:t>
            </a:r>
          </a:p>
        </p:txBody>
      </p:sp>
      <p:sp>
        <p:nvSpPr>
          <p:cNvPr id="13" name="brand-rule-11">
            <a:extLst xmlns:a="http://schemas.openxmlformats.org/drawingml/2006/main">
              <a:ext uri="{FF2B5EF4-FFF2-40B4-BE49-F238E27FC236}">
                <a16:creationId xmlns:a16="http://schemas.microsoft.com/office/drawing/2014/main" id="{FBF57E6B-569F-4078-95A6-F778D02C3EDC}"/>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14" name="brand-footer-11">
            <a:extLst xmlns:a="http://schemas.openxmlformats.org/drawingml/2006/main">
              <a:ext uri="{FF2B5EF4-FFF2-40B4-BE49-F238E27FC236}">
                <a16:creationId xmlns:a16="http://schemas.microsoft.com/office/drawing/2014/main" id="{468E5B88-2580-448F-842A-814D5408AF5E}"/>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11 | GABA CRUDE ECONOMICS</a:t>
            </a:r>
          </a:p>
        </p:txBody>
      </p:sp>
    </p:spTree>
    <p:extLst>
      <p:ext uri="{BB962C8B-B14F-4D97-AF65-F5344CB8AC3E}">
        <p14:creationId xmlns:p14="http://schemas.microsoft.com/office/powerpoint/2010/main" val="162471053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5" name="Rounded-Rectangle-5-1">
            <a:extLst xmlns:a="http://schemas.openxmlformats.org/drawingml/2006/main">
              <a:ext uri="{FF2B5EF4-FFF2-40B4-BE49-F238E27FC236}">
                <a16:creationId xmlns:a16="http://schemas.microsoft.com/office/drawing/2014/main" id="{1D34A078-3FBA-46F8-85A2-00826C88368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C93A012E-BCFE-4293-BD7E-DC4D2D17E54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B9F28272-6F11-465D-9090-5F1883B816E6}"/>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469D7F27-099D-43CA-8CFF-C4952289DBC4}"/>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12</a:t>
            </a:r>
          </a:p>
        </p:txBody>
      </p:sp>
      <p:sp>
        <p:nvSpPr>
          <p:cNvPr id="5" name="Title-2-5">
            <a:extLst xmlns:a="http://schemas.openxmlformats.org/drawingml/2006/main">
              <a:ext uri="{FF2B5EF4-FFF2-40B4-BE49-F238E27FC236}">
                <a16:creationId xmlns:a16="http://schemas.microsoft.com/office/drawing/2014/main" id="{1C1F8AD9-AE8E-4562-AC37-26708243BFC1}"/>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가바케어믹스 매출총이익은 5,649원/사료t이다</a:t>
            </a:r>
          </a:p>
        </p:txBody>
      </p:sp>
      <p:sp>
        <p:nvSpPr>
          <p:cNvPr id="6" name="Content-Placeholder-9-6">
            <a:extLst xmlns:a="http://schemas.openxmlformats.org/drawingml/2006/main">
              <a:ext uri="{FF2B5EF4-FFF2-40B4-BE49-F238E27FC236}">
                <a16:creationId xmlns:a16="http://schemas.microsoft.com/office/drawing/2014/main" id="{1D1250B4-54F3-4782-A4B2-EE1F200D3ABD}"/>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매출액</a:t>
            </a:r>
          </a:p>
          <a:p xmlns:a="http://schemas.openxmlformats.org/drawingml/2006/main">
            <a:pPr algn="l">
              <a:buNone/>
              <a:defRPr sz="2400">
                <a:solidFill>
                  <a:srgbClr val="000000"/>
                </a:solidFill>
                <a:latin typeface="Helvetica Neue"/>
                <a:ea typeface="Helvetica Neue"/>
                <a:cs typeface="Helvetica Neue"/>
              </a:defRPr>
            </a:pPr>
            <a:r>
              <a:t>KRW/사료t</a:t>
            </a:r>
          </a:p>
        </p:txBody>
      </p:sp>
      <p:sp>
        <p:nvSpPr>
          <p:cNvPr id="7" name="Content-Placeholder-10-7">
            <a:extLst xmlns:a="http://schemas.openxmlformats.org/drawingml/2006/main">
              <a:ext uri="{FF2B5EF4-FFF2-40B4-BE49-F238E27FC236}">
                <a16:creationId xmlns:a16="http://schemas.microsoft.com/office/drawing/2014/main" id="{34AFEE71-7610-48B7-8F8F-99A57BE66387}"/>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매출총이익</a:t>
            </a:r>
          </a:p>
          <a:p xmlns:a="http://schemas.openxmlformats.org/drawingml/2006/main">
            <a:pPr algn="l">
              <a:buNone/>
              <a:defRPr sz="2400">
                <a:solidFill>
                  <a:srgbClr val="000000"/>
                </a:solidFill>
                <a:latin typeface="Helvetica Neue"/>
                <a:ea typeface="Helvetica Neue"/>
                <a:cs typeface="Helvetica Neue"/>
              </a:defRPr>
            </a:pPr>
            <a:r>
              <a:t>KRW/사료t</a:t>
            </a:r>
          </a:p>
        </p:txBody>
      </p:sp>
      <p:sp>
        <p:nvSpPr>
          <p:cNvPr id="8" name="Content-Placeholder-11-8">
            <a:extLst xmlns:a="http://schemas.openxmlformats.org/drawingml/2006/main">
              <a:ext uri="{FF2B5EF4-FFF2-40B4-BE49-F238E27FC236}">
                <a16:creationId xmlns:a16="http://schemas.microsoft.com/office/drawing/2014/main" id="{5E11AEC0-D14C-486A-85E7-0A0C6F0810EC}"/>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매출원가</a:t>
            </a:r>
          </a:p>
          <a:p xmlns:a="http://schemas.openxmlformats.org/drawingml/2006/main">
            <a:pPr algn="l">
              <a:buNone/>
              <a:defRPr sz="2400">
                <a:solidFill>
                  <a:srgbClr val="000000"/>
                </a:solidFill>
                <a:latin typeface="Helvetica Neue"/>
                <a:ea typeface="Helvetica Neue"/>
                <a:cs typeface="Helvetica Neue"/>
              </a:defRPr>
            </a:pPr>
            <a:r>
              <a:t>KRW/사료t</a:t>
            </a:r>
          </a:p>
        </p:txBody>
      </p:sp>
      <p:sp>
        <p:nvSpPr>
          <p:cNvPr id="9" name="Content-Placeholder-9-9">
            <a:extLst xmlns:a="http://schemas.openxmlformats.org/drawingml/2006/main">
              <a:ext uri="{FF2B5EF4-FFF2-40B4-BE49-F238E27FC236}">
                <a16:creationId xmlns:a16="http://schemas.microsoft.com/office/drawing/2014/main" id="{A2AE840C-7F28-496B-A49B-159987874C50}"/>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6,000</a:t>
            </a:r>
          </a:p>
        </p:txBody>
      </p:sp>
      <p:sp>
        <p:nvSpPr>
          <p:cNvPr id="10" name="Content-Placeholder-9-10">
            <a:extLst xmlns:a="http://schemas.openxmlformats.org/drawingml/2006/main">
              <a:ext uri="{FF2B5EF4-FFF2-40B4-BE49-F238E27FC236}">
                <a16:creationId xmlns:a16="http://schemas.microsoft.com/office/drawing/2014/main" id="{AA702D10-C695-463A-A3C0-DBF5E496DB6B}"/>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351</a:t>
            </a:r>
          </a:p>
        </p:txBody>
      </p:sp>
      <p:sp>
        <p:nvSpPr>
          <p:cNvPr id="11" name="Content-Placeholder-9-11">
            <a:extLst xmlns:a="http://schemas.openxmlformats.org/drawingml/2006/main">
              <a:ext uri="{FF2B5EF4-FFF2-40B4-BE49-F238E27FC236}">
                <a16:creationId xmlns:a16="http://schemas.microsoft.com/office/drawing/2014/main" id="{EAF87244-54F7-4E88-B704-D25904851B8C}"/>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+5,649</a:t>
            </a:r>
          </a:p>
        </p:txBody>
      </p:sp>
      <p:sp>
        <p:nvSpPr>
          <p:cNvPr id="12" name="Content-Placeholder-15-12">
            <a:extLst xmlns:a="http://schemas.openxmlformats.org/drawingml/2006/main">
              <a:ext uri="{FF2B5EF4-FFF2-40B4-BE49-F238E27FC236}">
                <a16:creationId xmlns:a16="http://schemas.microsoft.com/office/drawing/2014/main" id="{8E8A1894-A69C-460E-A838-F3D9255760E7}"/>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6,000−351=5,649원 · 판매·현장 변동비 1,500원 차감 후 손익분기 기준이익 4,149원</a:t>
            </a:r>
          </a:p>
          <a:p xmlns:a="http://schemas.openxmlformats.org/drawingml/2006/main">
            <a:pPr algn="l">
              <a:buNone/>
              <a:defRPr sz="1600">
                <a:solidFill>
                  <a:srgbClr val="000000"/>
                </a:solidFill>
                <a:latin typeface="Helvetica Neue"/>
                <a:ea typeface="Helvetica Neue"/>
                <a:cs typeface="Helvetica Neue"/>
              </a:defRPr>
            </a:pPr>
            <a:r>
              <a:t>※ 75g/사료t과 4,681.8원/kg은 기존 가정</a:t>
            </a:r>
          </a:p>
        </p:txBody>
      </p:sp>
      <p:sp>
        <p:nvSpPr>
          <p:cNvPr id="13" name="brand-rule-11">
            <a:extLst xmlns:a="http://schemas.openxmlformats.org/drawingml/2006/main">
              <a:ext uri="{FF2B5EF4-FFF2-40B4-BE49-F238E27FC236}">
                <a16:creationId xmlns:a16="http://schemas.microsoft.com/office/drawing/2014/main" id="{FBF57E6B-569F-4078-95A6-F778D02C3EDC}"/>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14" name="brand-footer-11">
            <a:extLst xmlns:a="http://schemas.openxmlformats.org/drawingml/2006/main">
              <a:ext uri="{FF2B5EF4-FFF2-40B4-BE49-F238E27FC236}">
                <a16:creationId xmlns:a16="http://schemas.microsoft.com/office/drawing/2014/main" id="{468E5B88-2580-448F-842A-814D5408AF5E}"/>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12 | GABA CARE MIX ECONOMICS</a:t>
            </a:r>
          </a:p>
        </p:txBody>
      </p:sp>
    </p:spTree>
    <p:extLst>
      <p:ext uri="{BB962C8B-B14F-4D97-AF65-F5344CB8AC3E}">
        <p14:creationId xmlns:p14="http://schemas.microsoft.com/office/powerpoint/2010/main" val="162471053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5" name="Rounded-Rectangle-5-1">
            <a:extLst xmlns:a="http://schemas.openxmlformats.org/drawingml/2006/main">
              <a:ext uri="{FF2B5EF4-FFF2-40B4-BE49-F238E27FC236}">
                <a16:creationId xmlns:a16="http://schemas.microsoft.com/office/drawing/2014/main" id="{E16F1EE6-E756-45C0-8617-BB78BF867B63}"/>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D4C87DE3-EBAE-4928-8F13-9D57644F80E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B8FB0289-E741-4BA8-94D1-677C5EF213D1}"/>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83969B42-BFA8-448C-8026-85E52F042B1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13</a:t>
            </a:r>
          </a:p>
        </p:txBody>
      </p:sp>
      <p:sp>
        <p:nvSpPr>
          <p:cNvPr id="5" name="Title-2-5">
            <a:extLst xmlns:a="http://schemas.openxmlformats.org/drawingml/2006/main">
              <a:ext uri="{FF2B5EF4-FFF2-40B4-BE49-F238E27FC236}">
                <a16:creationId xmlns:a16="http://schemas.microsoft.com/office/drawing/2014/main" id="{DCF1A8D5-0AB3-4E51-AEDC-9EBECE5A451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고객 가치 18,000원/사료t은 유료 비교시험으로 확인한다</a:t>
            </a:r>
          </a:p>
        </p:txBody>
      </p:sp>
      <p:sp>
        <p:nvSpPr>
          <p:cNvPr id="6" name="Content-Placeholder-9-6">
            <a:extLst xmlns:a="http://schemas.openxmlformats.org/drawingml/2006/main">
              <a:ext uri="{FF2B5EF4-FFF2-40B4-BE49-F238E27FC236}">
                <a16:creationId xmlns:a16="http://schemas.microsoft.com/office/drawing/2014/main" id="{3E72F593-79F2-43AE-A593-E6DB7B4B4FC0}"/>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손실회피 가정</a:t>
            </a:r>
          </a:p>
          <a:p xmlns:a="http://schemas.openxmlformats.org/drawingml/2006/main">
            <a:pPr algn="l">
              <a:buNone/>
              <a:defRPr sz="2400">
                <a:solidFill>
                  <a:srgbClr val="000000"/>
                </a:solidFill>
                <a:latin typeface="Helvetica Neue"/>
                <a:ea typeface="Helvetica Neue"/>
                <a:cs typeface="Helvetica Neue"/>
              </a:defRPr>
            </a:pPr>
            <a:r>
              <a:t>KRW/사료t</a:t>
            </a:r>
          </a:p>
        </p:txBody>
      </p:sp>
      <p:sp>
        <p:nvSpPr>
          <p:cNvPr id="7" name="Content-Placeholder-10-7">
            <a:extLst xmlns:a="http://schemas.openxmlformats.org/drawingml/2006/main">
              <a:ext uri="{FF2B5EF4-FFF2-40B4-BE49-F238E27FC236}">
                <a16:creationId xmlns:a16="http://schemas.microsoft.com/office/drawing/2014/main" id="{F70819C6-E100-46F1-A253-8C7B6596CAA2}"/>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고객 순가치</a:t>
            </a:r>
          </a:p>
          <a:p xmlns:a="http://schemas.openxmlformats.org/drawingml/2006/main">
            <a:pPr algn="l">
              <a:buNone/>
              <a:defRPr sz="2400">
                <a:solidFill>
                  <a:srgbClr val="000000"/>
                </a:solidFill>
                <a:latin typeface="Helvetica Neue"/>
                <a:ea typeface="Helvetica Neue"/>
                <a:cs typeface="Helvetica Neue"/>
              </a:defRPr>
            </a:pPr>
            <a:r>
              <a:t>KRW/사료t</a:t>
            </a:r>
          </a:p>
        </p:txBody>
      </p:sp>
      <p:sp>
        <p:nvSpPr>
          <p:cNvPr id="8" name="Content-Placeholder-11-8">
            <a:extLst xmlns:a="http://schemas.openxmlformats.org/drawingml/2006/main">
              <a:ext uri="{FF2B5EF4-FFF2-40B4-BE49-F238E27FC236}">
                <a16:creationId xmlns:a16="http://schemas.microsoft.com/office/drawing/2014/main" id="{7A05743D-C63F-4B00-B533-D7ECE388EBC1}"/>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프로그램 가격</a:t>
            </a:r>
          </a:p>
          <a:p xmlns:a="http://schemas.openxmlformats.org/drawingml/2006/main">
            <a:pPr algn="l">
              <a:buNone/>
              <a:defRPr sz="2400">
                <a:solidFill>
                  <a:srgbClr val="000000"/>
                </a:solidFill>
                <a:latin typeface="Helvetica Neue"/>
                <a:ea typeface="Helvetica Neue"/>
                <a:cs typeface="Helvetica Neue"/>
              </a:defRPr>
            </a:pPr>
            <a:r>
              <a:t>KRW/사료t</a:t>
            </a:r>
          </a:p>
        </p:txBody>
      </p:sp>
      <p:sp>
        <p:nvSpPr>
          <p:cNvPr id="9" name="Content-Placeholder-9-9">
            <a:extLst xmlns:a="http://schemas.openxmlformats.org/drawingml/2006/main">
              <a:ext uri="{FF2B5EF4-FFF2-40B4-BE49-F238E27FC236}">
                <a16:creationId xmlns:a16="http://schemas.microsoft.com/office/drawing/2014/main" id="{6B6DF3F5-8239-45F8-9E70-2B3E7F1DB3FF}"/>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18,000</a:t>
            </a:r>
          </a:p>
        </p:txBody>
      </p:sp>
      <p:sp>
        <p:nvSpPr>
          <p:cNvPr id="10" name="Content-Placeholder-9-10">
            <a:extLst xmlns:a="http://schemas.openxmlformats.org/drawingml/2006/main">
              <a:ext uri="{FF2B5EF4-FFF2-40B4-BE49-F238E27FC236}">
                <a16:creationId xmlns:a16="http://schemas.microsoft.com/office/drawing/2014/main" id="{CE72FAEF-F255-4F90-AEDE-480E5F8C5F47}"/>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6,000</a:t>
            </a:r>
          </a:p>
        </p:txBody>
      </p:sp>
      <p:sp>
        <p:nvSpPr>
          <p:cNvPr id="11" name="Content-Placeholder-9-11">
            <a:extLst xmlns:a="http://schemas.openxmlformats.org/drawingml/2006/main">
              <a:ext uri="{FF2B5EF4-FFF2-40B4-BE49-F238E27FC236}">
                <a16:creationId xmlns:a16="http://schemas.microsoft.com/office/drawing/2014/main" id="{70DD8D92-9021-4372-B7E8-35A09E99E87D}"/>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+12,000</a:t>
            </a:r>
          </a:p>
        </p:txBody>
      </p:sp>
      <p:sp>
        <p:nvSpPr>
          <p:cNvPr id="12" name="Content-Placeholder-15-12">
            <a:extLst xmlns:a="http://schemas.openxmlformats.org/drawingml/2006/main">
              <a:ext uri="{FF2B5EF4-FFF2-40B4-BE49-F238E27FC236}">
                <a16:creationId xmlns:a16="http://schemas.microsoft.com/office/drawing/2014/main" id="{E1FBB930-6AF2-4B7D-84BA-8E934D069C6B}"/>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18,000−6,000=12,000원 · B/C=3.0배</a:t>
            </a:r>
          </a:p>
          <a:p xmlns:a="http://schemas.openxmlformats.org/drawingml/2006/main">
            <a:pPr algn="l">
              <a:buNone/>
              <a:defRPr sz="1600">
                <a:solidFill>
                  <a:srgbClr val="000000"/>
                </a:solidFill>
                <a:latin typeface="Helvetica Neue"/>
                <a:ea typeface="Helvetica Neue"/>
                <a:cs typeface="Helvetica Neue"/>
              </a:defRPr>
            </a:pPr>
            <a:r>
              <a:t>※ B/C=편익/비용 비율 · 현재는 가설이며 유료 비교시험에서 확인</a:t>
            </a:r>
          </a:p>
        </p:txBody>
      </p:sp>
      <p:sp>
        <p:nvSpPr>
          <p:cNvPr id="13" name="brand-rule-3">
            <a:extLst xmlns:a="http://schemas.openxmlformats.org/drawingml/2006/main">
              <a:ext uri="{FF2B5EF4-FFF2-40B4-BE49-F238E27FC236}">
                <a16:creationId xmlns:a16="http://schemas.microsoft.com/office/drawing/2014/main" id="{CF26F2E1-309A-4854-AE35-3CF8D1E0B7DE}"/>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14" name="brand-footer-3">
            <a:extLst xmlns:a="http://schemas.openxmlformats.org/drawingml/2006/main">
              <a:ext uri="{FF2B5EF4-FFF2-40B4-BE49-F238E27FC236}">
                <a16:creationId xmlns:a16="http://schemas.microsoft.com/office/drawing/2014/main" id="{67FA2FB3-A9A5-4AF6-A336-B21A6025C47A}"/>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13 | CUSTOMER VALUE HYPOTHESIS</a:t>
            </a:r>
          </a:p>
        </p:txBody>
      </p:sp>
    </p:spTree>
    <p:extLst>
      <p:ext uri="{BB962C8B-B14F-4D97-AF65-F5344CB8AC3E}">
        <p14:creationId xmlns:p14="http://schemas.microsoft.com/office/powerpoint/2010/main" val="136431717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5" name="Rounded-Rectangle-5-1">
            <a:extLst xmlns:a="http://schemas.openxmlformats.org/drawingml/2006/main">
              <a:ext uri="{FF2B5EF4-FFF2-40B4-BE49-F238E27FC236}">
                <a16:creationId xmlns:a16="http://schemas.microsoft.com/office/drawing/2014/main" id="{E16F1EE6-E756-45C0-8617-BB78BF867B63}"/>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D4C87DE3-EBAE-4928-8F13-9D57644F80E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B8FB0289-E741-4BA8-94D1-677C5EF213D1}"/>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83969B42-BFA8-448C-8026-85E52F042B1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14</a:t>
            </a:r>
          </a:p>
        </p:txBody>
      </p:sp>
      <p:sp>
        <p:nvSpPr>
          <p:cNvPr id="5" name="Title-2-5">
            <a:extLst xmlns:a="http://schemas.openxmlformats.org/drawingml/2006/main">
              <a:ext uri="{FF2B5EF4-FFF2-40B4-BE49-F238E27FC236}">
                <a16:creationId xmlns:a16="http://schemas.microsoft.com/office/drawing/2014/main" id="{DCF1A8D5-0AB3-4E51-AEDC-9EBECE5A451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반복 주문 가정 매출액은 6.60억원이다</a:t>
            </a:r>
          </a:p>
        </p:txBody>
      </p:sp>
      <p:sp>
        <p:nvSpPr>
          <p:cNvPr id="6" name="Content-Placeholder-9-6">
            <a:extLst xmlns:a="http://schemas.openxmlformats.org/drawingml/2006/main">
              <a:ext uri="{FF2B5EF4-FFF2-40B4-BE49-F238E27FC236}">
                <a16:creationId xmlns:a16="http://schemas.microsoft.com/office/drawing/2014/main" id="{3E72F593-79F2-43AE-A593-E6DB7B4B4FC0}"/>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가바크루드</a:t>
            </a:r>
          </a:p>
          <a:p xmlns:a="http://schemas.openxmlformats.org/drawingml/2006/main">
            <a:pPr algn="l">
              <a:buNone/>
              <a:defRPr sz="2400">
                <a:solidFill>
                  <a:srgbClr val="000000"/>
                </a:solidFill>
                <a:latin typeface="Helvetica Neue"/>
                <a:ea typeface="Helvetica Neue"/>
                <a:cs typeface="Helvetica Neue"/>
              </a:defRPr>
            </a:pPr>
            <a:r>
              <a:t>매출액</a:t>
            </a:r>
          </a:p>
        </p:txBody>
      </p:sp>
      <p:sp>
        <p:nvSpPr>
          <p:cNvPr id="7" name="Content-Placeholder-10-7">
            <a:extLst xmlns:a="http://schemas.openxmlformats.org/drawingml/2006/main">
              <a:ext uri="{FF2B5EF4-FFF2-40B4-BE49-F238E27FC236}">
                <a16:creationId xmlns:a16="http://schemas.microsoft.com/office/drawing/2014/main" id="{F70819C6-E100-46F1-A253-8C7B6596CAA2}"/>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합계</a:t>
            </a:r>
          </a:p>
          <a:p xmlns:a="http://schemas.openxmlformats.org/drawingml/2006/main">
            <a:pPr algn="l">
              <a:buNone/>
              <a:defRPr sz="2400">
                <a:solidFill>
                  <a:srgbClr val="000000"/>
                </a:solidFill>
                <a:latin typeface="Helvetica Neue"/>
                <a:ea typeface="Helvetica Neue"/>
                <a:cs typeface="Helvetica Neue"/>
              </a:defRPr>
            </a:pPr>
            <a:r>
              <a:t>매출액</a:t>
            </a:r>
          </a:p>
        </p:txBody>
      </p:sp>
      <p:sp>
        <p:nvSpPr>
          <p:cNvPr id="8" name="Content-Placeholder-11-8">
            <a:extLst xmlns:a="http://schemas.openxmlformats.org/drawingml/2006/main">
              <a:ext uri="{FF2B5EF4-FFF2-40B4-BE49-F238E27FC236}">
                <a16:creationId xmlns:a16="http://schemas.microsoft.com/office/drawing/2014/main" id="{7A05743D-C63F-4B00-B533-D7ECE388EBC1}"/>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가바케어믹스</a:t>
            </a:r>
          </a:p>
          <a:p xmlns:a="http://schemas.openxmlformats.org/drawingml/2006/main">
            <a:pPr algn="l">
              <a:buNone/>
              <a:defRPr sz="2400">
                <a:solidFill>
                  <a:srgbClr val="000000"/>
                </a:solidFill>
                <a:latin typeface="Helvetica Neue"/>
                <a:ea typeface="Helvetica Neue"/>
                <a:cs typeface="Helvetica Neue"/>
              </a:defRPr>
            </a:pPr>
            <a:r>
              <a:t>매출액</a:t>
            </a:r>
          </a:p>
        </p:txBody>
      </p:sp>
      <p:sp>
        <p:nvSpPr>
          <p:cNvPr id="9" name="Content-Placeholder-9-9">
            <a:extLst xmlns:a="http://schemas.openxmlformats.org/drawingml/2006/main">
              <a:ext uri="{FF2B5EF4-FFF2-40B4-BE49-F238E27FC236}">
                <a16:creationId xmlns:a16="http://schemas.microsoft.com/office/drawing/2014/main" id="{6B6DF3F5-8239-45F8-9E70-2B3E7F1DB3FF}"/>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3.60억원</a:t>
            </a:r>
          </a:p>
        </p:txBody>
      </p:sp>
      <p:sp>
        <p:nvSpPr>
          <p:cNvPr id="10" name="Content-Placeholder-9-10">
            <a:extLst xmlns:a="http://schemas.openxmlformats.org/drawingml/2006/main">
              <a:ext uri="{FF2B5EF4-FFF2-40B4-BE49-F238E27FC236}">
                <a16:creationId xmlns:a16="http://schemas.microsoft.com/office/drawing/2014/main" id="{CE72FAEF-F255-4F90-AEDE-480E5F8C5F47}"/>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3.00억원</a:t>
            </a:r>
          </a:p>
        </p:txBody>
      </p:sp>
      <p:sp>
        <p:nvSpPr>
          <p:cNvPr id="11" name="Content-Placeholder-9-11">
            <a:extLst xmlns:a="http://schemas.openxmlformats.org/drawingml/2006/main">
              <a:ext uri="{FF2B5EF4-FFF2-40B4-BE49-F238E27FC236}">
                <a16:creationId xmlns:a16="http://schemas.microsoft.com/office/drawing/2014/main" id="{70DD8D92-9021-4372-B7E8-35A09E99E87D}"/>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6.60억원</a:t>
            </a:r>
          </a:p>
        </p:txBody>
      </p:sp>
      <p:sp>
        <p:nvSpPr>
          <p:cNvPr id="12" name="Content-Placeholder-15-12">
            <a:extLst xmlns:a="http://schemas.openxmlformats.org/drawingml/2006/main">
              <a:ext uri="{FF2B5EF4-FFF2-40B4-BE49-F238E27FC236}">
                <a16:creationId xmlns:a16="http://schemas.microsoft.com/office/drawing/2014/main" id="{E1FBB930-6AF2-4B7D-84BA-8E934D069C6B}"/>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가바크루드 20톤×18,000원/kg + 가바케어믹스 5만 사료t×6,000원</a:t>
            </a:r>
          </a:p>
          <a:p xmlns:a="http://schemas.openxmlformats.org/drawingml/2006/main">
            <a:pPr algn="l">
              <a:buNone/>
              <a:defRPr sz="1600">
                <a:solidFill>
                  <a:srgbClr val="000000"/>
                </a:solidFill>
                <a:latin typeface="Helvetica Neue"/>
                <a:ea typeface="Helvetica Neue"/>
                <a:cs typeface="Helvetica Neue"/>
              </a:defRPr>
            </a:pPr>
            <a:r>
              <a:t>※ 매출총이익은 가바크루드 최종 매출원가 확정 후 계산</a:t>
            </a:r>
          </a:p>
        </p:txBody>
      </p:sp>
      <p:sp>
        <p:nvSpPr>
          <p:cNvPr id="13" name="brand-rule-3">
            <a:extLst xmlns:a="http://schemas.openxmlformats.org/drawingml/2006/main">
              <a:ext uri="{FF2B5EF4-FFF2-40B4-BE49-F238E27FC236}">
                <a16:creationId xmlns:a16="http://schemas.microsoft.com/office/drawing/2014/main" id="{CF26F2E1-309A-4854-AE35-3CF8D1E0B7DE}"/>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14" name="brand-footer-3">
            <a:extLst xmlns:a="http://schemas.openxmlformats.org/drawingml/2006/main">
              <a:ext uri="{FF2B5EF4-FFF2-40B4-BE49-F238E27FC236}">
                <a16:creationId xmlns:a16="http://schemas.microsoft.com/office/drawing/2014/main" id="{67FA2FB3-A9A5-4AF6-A336-B21A6025C47A}"/>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14 | REPEAT SCENARIO</a:t>
            </a:r>
          </a:p>
        </p:txBody>
      </p:sp>
    </p:spTree>
    <p:extLst>
      <p:ext uri="{BB962C8B-B14F-4D97-AF65-F5344CB8AC3E}">
        <p14:creationId xmlns:p14="http://schemas.microsoft.com/office/powerpoint/2010/main" val="136431717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673F532A-4272-4AD1-863A-38B22D8FC8C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15</a:t>
            </a:r>
          </a:p>
        </p:txBody>
      </p:sp>
      <p:sp>
        <p:nvSpPr>
          <p:cNvPr id="2" name="Title-10-3">
            <a:extLst xmlns:a="http://schemas.openxmlformats.org/drawingml/2006/main">
              <a:ext uri="{FF2B5EF4-FFF2-40B4-BE49-F238E27FC236}">
                <a16:creationId xmlns:a16="http://schemas.microsoft.com/office/drawing/2014/main" id="{C8F0B7E0-788B-4632-AFF8-75CBD8CA15A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제공된 배양액 CAPA 합계는 월 220톤이다</a:t>
            </a:r>
          </a:p>
        </p:txBody>
      </p:sp>
      <p:sp>
        <p:nvSpPr>
          <p:cNvPr id="3" name="Rounded-Rectangle-36-4">
            <a:extLst xmlns:a="http://schemas.openxmlformats.org/drawingml/2006/main">
              <a:ext uri="{FF2B5EF4-FFF2-40B4-BE49-F238E27FC236}">
                <a16:creationId xmlns:a16="http://schemas.microsoft.com/office/drawing/2014/main" id="{F7A1D57F-EF2D-418C-9C73-2303C9114CC6}"/>
              </a:ext>
            </a:extLst>
          </p:cNvPr>
          <p:cNvSpPr>
            <a:spLocks xmlns:a="http://schemas.openxmlformats.org/drawingml/2006/main" noGrp="1"/>
          </p:cNvSpPr>
          <p:nvPr/>
        </p:nvSpPr>
        <p:spPr>
          <a:xfrm xmlns:a="http://schemas.openxmlformats.org/drawingml/2006/main">
            <a:off x="6272022" y="3360039"/>
            <a:ext cx="2581942" cy="2656523"/>
          </a:xfrm>
          <a:prstGeom xmlns:a="http://schemas.openxmlformats.org/drawingml/2006/main" prst="roundRect">
            <a:avLst>
              <a:gd name="adj" fmla="val 2951"/>
            </a:avLst>
          </a:prstGeom>
          <a:solidFill xmlns:a="http://schemas.openxmlformats.org/drawingml/2006/main">
            <a:srgbClr val="F2F2F2"/>
          </a:solidFill>
        </p:spPr>
      </p:sp>
      <p:sp>
        <p:nvSpPr>
          <p:cNvPr id="4" name="Content-Placeholder-9-5">
            <a:extLst xmlns:a="http://schemas.openxmlformats.org/drawingml/2006/main">
              <a:ext uri="{FF2B5EF4-FFF2-40B4-BE49-F238E27FC236}">
                <a16:creationId xmlns:a16="http://schemas.microsoft.com/office/drawing/2014/main" id="{409F2D52-88D4-45A2-A354-BBC0108FB8A1}"/>
              </a:ext>
            </a:extLst>
          </p:cNvPr>
          <p:cNvSpPr>
            <a:spLocks xmlns:a="http://schemas.openxmlformats.org/drawingml/2006/main" noGrp="1"/>
          </p:cNvSpPr>
          <p:nvPr/>
        </p:nvSpPr>
        <p:spPr>
          <a:xfrm xmlns:a="http://schemas.openxmlformats.org/drawingml/2006/main">
            <a:off x="6509385" y="3579971"/>
            <a:ext cx="2133314" cy="1155859"/>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월 20톤</a:t>
            </a:r>
          </a:p>
        </p:txBody>
      </p:sp>
      <p:sp>
        <p:nvSpPr>
          <p:cNvPr id="5" name="Content-Placeholder-15-6">
            <a:extLst xmlns:a="http://schemas.openxmlformats.org/drawingml/2006/main">
              <a:ext uri="{FF2B5EF4-FFF2-40B4-BE49-F238E27FC236}">
                <a16:creationId xmlns:a16="http://schemas.microsoft.com/office/drawing/2014/main" id="{9714F1A2-F61B-4DC0-AAB9-3FCBF3425A93}"/>
              </a:ext>
            </a:extLst>
          </p:cNvPr>
          <p:cNvSpPr>
            <a:spLocks xmlns:a="http://schemas.openxmlformats.org/drawingml/2006/main" noGrp="1"/>
          </p:cNvSpPr>
          <p:nvPr/>
        </p:nvSpPr>
        <p:spPr>
          <a:xfrm xmlns:a="http://schemas.openxmlformats.org/drawingml/2006/main">
            <a:off x="6575965" y="5068253"/>
            <a:ext cx="2066735" cy="61598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비전바이오켐</a:t>
            </a:r>
          </a:p>
          <a:p xmlns:a="http://schemas.openxmlformats.org/drawingml/2006/main">
            <a:pPr algn="l">
              <a:buNone/>
              <a:defRPr sz="2400">
                <a:solidFill>
                  <a:srgbClr val="000000"/>
                </a:solidFill>
                <a:latin typeface="Helvetica Neue"/>
                <a:ea typeface="Helvetica Neue"/>
                <a:cs typeface="Helvetica Neue"/>
              </a:defRPr>
            </a:pPr>
            <a:r>
              <a:t>배양액 CAPA</a:t>
            </a:r>
          </a:p>
        </p:txBody>
      </p:sp>
      <p:sp>
        <p:nvSpPr>
          <p:cNvPr id="6" name="Rounded-Rectangle-39-7">
            <a:extLst xmlns:a="http://schemas.openxmlformats.org/drawingml/2006/main">
              <a:ext uri="{FF2B5EF4-FFF2-40B4-BE49-F238E27FC236}">
                <a16:creationId xmlns:a16="http://schemas.microsoft.com/office/drawing/2014/main" id="{C0047798-46C2-406A-9B7B-A4732250E1E5}"/>
              </a:ext>
            </a:extLst>
          </p:cNvPr>
          <p:cNvSpPr>
            <a:spLocks xmlns:a="http://schemas.openxmlformats.org/drawingml/2006/main" noGrp="1"/>
          </p:cNvSpPr>
          <p:nvPr/>
        </p:nvSpPr>
        <p:spPr>
          <a:xfrm xmlns:a="http://schemas.openxmlformats.org/drawingml/2006/main">
            <a:off x="9224201" y="3360039"/>
            <a:ext cx="2581942" cy="2656523"/>
          </a:xfrm>
          <a:prstGeom xmlns:a="http://schemas.openxmlformats.org/drawingml/2006/main" prst="roundRect">
            <a:avLst>
              <a:gd name="adj" fmla="val 2951"/>
            </a:avLst>
          </a:prstGeom>
          <a:solidFill xmlns:a="http://schemas.openxmlformats.org/drawingml/2006/main">
            <a:srgbClr val="F2F2F2"/>
          </a:solidFill>
        </p:spPr>
      </p:sp>
      <p:sp>
        <p:nvSpPr>
          <p:cNvPr id="7" name="Content-Placeholder-9-8">
            <a:extLst xmlns:a="http://schemas.openxmlformats.org/drawingml/2006/main">
              <a:ext uri="{FF2B5EF4-FFF2-40B4-BE49-F238E27FC236}">
                <a16:creationId xmlns:a16="http://schemas.microsoft.com/office/drawing/2014/main" id="{F316EECB-DF1E-45BE-8BBA-588C6D78DC63}"/>
              </a:ext>
            </a:extLst>
          </p:cNvPr>
          <p:cNvSpPr>
            <a:spLocks xmlns:a="http://schemas.openxmlformats.org/drawingml/2006/main" noGrp="1"/>
          </p:cNvSpPr>
          <p:nvPr/>
        </p:nvSpPr>
        <p:spPr>
          <a:xfrm xmlns:a="http://schemas.openxmlformats.org/drawingml/2006/main">
            <a:off x="9461564" y="3579971"/>
            <a:ext cx="2133314" cy="1155859"/>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월 200톤</a:t>
            </a:r>
          </a:p>
        </p:txBody>
      </p:sp>
      <p:sp>
        <p:nvSpPr>
          <p:cNvPr id="8" name="Content-Placeholder-15-9">
            <a:extLst xmlns:a="http://schemas.openxmlformats.org/drawingml/2006/main">
              <a:ext uri="{FF2B5EF4-FFF2-40B4-BE49-F238E27FC236}">
                <a16:creationId xmlns:a16="http://schemas.microsoft.com/office/drawing/2014/main" id="{2DF94C34-D4F4-4039-8AF7-F69409C5A8CF}"/>
              </a:ext>
            </a:extLst>
          </p:cNvPr>
          <p:cNvSpPr>
            <a:spLocks xmlns:a="http://schemas.openxmlformats.org/drawingml/2006/main" noGrp="1"/>
          </p:cNvSpPr>
          <p:nvPr/>
        </p:nvSpPr>
        <p:spPr>
          <a:xfrm xmlns:a="http://schemas.openxmlformats.org/drawingml/2006/main">
            <a:off x="9528143" y="5068253"/>
            <a:ext cx="2066735" cy="61598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지에프퍼멘텍</a:t>
            </a:r>
          </a:p>
          <a:p xmlns:a="http://schemas.openxmlformats.org/drawingml/2006/main">
            <a:pPr algn="l">
              <a:buNone/>
              <a:defRPr sz="2400">
                <a:solidFill>
                  <a:srgbClr val="000000"/>
                </a:solidFill>
                <a:latin typeface="Helvetica Neue"/>
                <a:ea typeface="Helvetica Neue"/>
                <a:cs typeface="Helvetica Neue"/>
              </a:defRPr>
            </a:pPr>
            <a:r>
              <a:t>배양액 CAPA</a:t>
            </a:r>
          </a:p>
        </p:txBody>
      </p:sp>
      <p:sp>
        <p:nvSpPr>
          <p:cNvPr id="9" name="Content-Placeholder-2-10">
            <a:extLst xmlns:a="http://schemas.openxmlformats.org/drawingml/2006/main">
              <a:ext uri="{FF2B5EF4-FFF2-40B4-BE49-F238E27FC236}">
                <a16:creationId xmlns:a16="http://schemas.microsoft.com/office/drawing/2014/main" id="{6B9CA33A-9DE8-4E60-84D8-67F414473DED}"/>
              </a:ext>
            </a:extLst>
          </p:cNvPr>
          <p:cNvSpPr>
            <a:spLocks xmlns:a="http://schemas.openxmlformats.org/drawingml/2006/main" noGrp="1"/>
          </p:cNvSpPr>
          <p:nvPr/>
        </p:nvSpPr>
        <p:spPr>
          <a:xfrm xmlns:a="http://schemas.openxmlformats.org/drawingml/2006/main">
            <a:off x="6261068" y="1955578"/>
            <a:ext cx="5539835" cy="99060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배양액 월 220톤 → 이론상 가바크루드 월 220톤</a:t>
            </a:r>
          </a:p>
          <a:p xmlns:a="http://schemas.openxmlformats.org/drawingml/2006/main">
            <a:pPr algn="l">
              <a:buNone/>
              <a:defRPr sz="2400">
                <a:solidFill>
                  <a:srgbClr val="000000"/>
                </a:solidFill>
                <a:latin typeface="Helvetica Neue"/>
                <a:ea typeface="Helvetica Neue"/>
                <a:cs typeface="Helvetica Neue"/>
              </a:defRPr>
            </a:pPr>
            <a:r>
              <a:t>필요 말토덱스트린 월 154톤 · 실제 수율은 시험생산으로 보정</a:t>
            </a:r>
          </a:p>
        </p:txBody>
      </p:sp>
      <p:graphicFrame>
        <p:nvGraphicFramePr>
          <p:cNvPr id="24" name="Chart"/>
          <p:cNvGraphicFramePr/>
          <p:nvPr/>
        </p:nvGraphicFramePr>
        <p:xfrm>
          <a:off xmlns:a="http://schemas.openxmlformats.org/drawingml/2006/main" x="385858" y="1254728"/>
          <a:ext xmlns:a="http://schemas.openxmlformats.org/drawingml/2006/main" cx="5534216" cy="5024533"/>
        </p:xfrm>
        <a:graphic xmlns:a="http://schemas.openxmlformats.org/drawingml/2006/main">
          <a:graphicData uri="http://schemas.openxmlformats.org/drawingml/2006/chart">
            <c:chart xmlns:r="http://schemas.openxmlformats.org/officeDocument/2006/relationships" xmlns:c="http://schemas.openxmlformats.org/drawingml/2006/chart" r:id="Rc5149fd3899c4e0a"/>
          </a:graphicData>
        </a:graphic>
      </p:graphicFrame>
      <p:sp>
        <p:nvSpPr>
          <p:cNvPr id="11" name="brand-rule-13">
            <a:extLst xmlns:a="http://schemas.openxmlformats.org/drawingml/2006/main">
              <a:ext uri="{FF2B5EF4-FFF2-40B4-BE49-F238E27FC236}">
                <a16:creationId xmlns:a16="http://schemas.microsoft.com/office/drawing/2014/main" id="{0BD47CD5-4599-4BFF-B057-7CB71052F222}"/>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12" name="brand-footer-13">
            <a:extLst xmlns:a="http://schemas.openxmlformats.org/drawingml/2006/main">
              <a:ext uri="{FF2B5EF4-FFF2-40B4-BE49-F238E27FC236}">
                <a16:creationId xmlns:a16="http://schemas.microsoft.com/office/drawing/2014/main" id="{2ECFDDE6-3722-418B-8E1B-1264083A0EA7}"/>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15 | PRODUCTION PARTNERS</a:t>
            </a:r>
          </a:p>
        </p:txBody>
      </p:sp>
    </p:spTree>
    <p:extLst>
      <p:ext uri="{BB962C8B-B14F-4D97-AF65-F5344CB8AC3E}">
        <p14:creationId xmlns:p14="http://schemas.microsoft.com/office/powerpoint/2010/main" val="185588583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9" name="Slide-Number-Placeholder-1-2">
            <a:extLst xmlns:a="http://schemas.openxmlformats.org/drawingml/2006/main">
              <a:ext uri="{FF2B5EF4-FFF2-40B4-BE49-F238E27FC236}">
                <a16:creationId xmlns:a16="http://schemas.microsoft.com/office/drawing/2014/main" id="{899BFBB6-2B10-416C-B0B8-D3DCD3722082}"/>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16</a:t>
            </a:r>
          </a:p>
        </p:txBody>
      </p:sp>
      <p:sp>
        <p:nvSpPr>
          <p:cNvPr id="2" name="Title-2-3">
            <a:extLst xmlns:a="http://schemas.openxmlformats.org/drawingml/2006/main">
              <a:ext uri="{FF2B5EF4-FFF2-40B4-BE49-F238E27FC236}">
                <a16:creationId xmlns:a16="http://schemas.microsoft.com/office/drawing/2014/main" id="{5CFAC748-585C-4584-8553-0EC8E67AB075}"/>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검증 속도는 높이되, 육질 판정 시점은 출하에 맞춘다</a:t>
            </a:r>
          </a:p>
        </p:txBody>
      </p:sp>
      <p:sp>
        <p:nvSpPr>
          <p:cNvPr id="3" name="Content-Placeholder-9-4">
            <a:extLst xmlns:a="http://schemas.openxmlformats.org/drawingml/2006/main">
              <a:ext uri="{FF2B5EF4-FFF2-40B4-BE49-F238E27FC236}">
                <a16:creationId xmlns:a16="http://schemas.microsoft.com/office/drawing/2014/main" id="{34DB5DEF-8114-43EB-BCF8-0B628E7C364A}"/>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30일</a:t>
            </a:r>
          </a:p>
          <a:p xmlns:a="http://schemas.openxmlformats.org/drawingml/2006/main">
            <a:pPr algn="l">
              <a:buNone/>
              <a:defRPr sz="2400">
                <a:solidFill>
                  <a:srgbClr val="000000"/>
                </a:solidFill>
                <a:latin typeface="Helvetica Neue"/>
                <a:ea typeface="Helvetica Neue"/>
                <a:cs typeface="Helvetica Neue"/>
              </a:defRPr>
            </a:pPr>
            <a:r>
              <a:t>규격·품목 검토</a:t>
            </a:r>
          </a:p>
          <a:p xmlns:a="http://schemas.openxmlformats.org/drawingml/2006/main">
            <a:pPr algn="l">
              <a:buNone/>
              <a:defRPr sz="2400">
                <a:solidFill>
                  <a:srgbClr val="000000"/>
                </a:solidFill>
                <a:latin typeface="Helvetica Neue"/>
                <a:ea typeface="Helvetica Neue"/>
                <a:cs typeface="Helvetica Neue"/>
              </a:defRPr>
            </a:pPr>
            <a:r>
              <a:t>시험생산·실제 원가</a:t>
            </a:r>
          </a:p>
          <a:p xmlns:a="http://schemas.openxmlformats.org/drawingml/2006/main">
            <a:pPr algn="l">
              <a:buNone/>
              <a:defRPr sz="2400">
                <a:solidFill>
                  <a:srgbClr val="000000"/>
                </a:solidFill>
                <a:latin typeface="Helvetica Neue"/>
                <a:ea typeface="Helvetica Neue"/>
                <a:cs typeface="Helvetica Neue"/>
              </a:defRPr>
            </a:pPr>
            <a:r>
              <a:t>유료 실증 착수</a:t>
            </a:r>
          </a:p>
        </p:txBody>
      </p:sp>
      <p:sp>
        <p:nvSpPr>
          <p:cNvPr id="4" name="Content-Placeholder-10-5">
            <a:extLst xmlns:a="http://schemas.openxmlformats.org/drawingml/2006/main">
              <a:ext uri="{FF2B5EF4-FFF2-40B4-BE49-F238E27FC236}">
                <a16:creationId xmlns:a16="http://schemas.microsoft.com/office/drawing/2014/main" id="{EFACA7CB-B804-47CA-AB1B-80FE7DDA4BA7}"/>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90일</a:t>
            </a:r>
          </a:p>
          <a:p xmlns:a="http://schemas.openxmlformats.org/drawingml/2006/main">
            <a:pPr algn="l">
              <a:buNone/>
              <a:defRPr sz="2400">
                <a:solidFill>
                  <a:srgbClr val="000000"/>
                </a:solidFill>
                <a:latin typeface="Helvetica Neue"/>
                <a:ea typeface="Helvetica Neue"/>
                <a:cs typeface="Helvetica Neue"/>
              </a:defRPr>
            </a:pPr>
            <a:r>
              <a:t>섭취량·ADG</a:t>
            </a:r>
          </a:p>
          <a:p xmlns:a="http://schemas.openxmlformats.org/drawingml/2006/main">
            <a:pPr algn="l">
              <a:buNone/>
              <a:defRPr sz="2400">
                <a:solidFill>
                  <a:srgbClr val="000000"/>
                </a:solidFill>
                <a:latin typeface="Helvetica Neue"/>
                <a:ea typeface="Helvetica Neue"/>
                <a:cs typeface="Helvetica Neue"/>
              </a:defRPr>
            </a:pPr>
            <a:r>
              <a:t>FCR·kg 증체당 비용</a:t>
            </a:r>
          </a:p>
          <a:p xmlns:a="http://schemas.openxmlformats.org/drawingml/2006/main">
            <a:pPr algn="l">
              <a:buNone/>
              <a:defRPr sz="2400">
                <a:solidFill>
                  <a:srgbClr val="000000"/>
                </a:solidFill>
                <a:latin typeface="Helvetica Neue"/>
                <a:ea typeface="Helvetica Neue"/>
                <a:cs typeface="Helvetica Neue"/>
              </a:defRPr>
            </a:pPr>
            <a:r>
              <a:t>생산성 조기 신호</a:t>
            </a:r>
          </a:p>
        </p:txBody>
      </p:sp>
      <p:sp>
        <p:nvSpPr>
          <p:cNvPr id="5" name="Content-Placeholder-9-6">
            <a:extLst xmlns:a="http://schemas.openxmlformats.org/drawingml/2006/main">
              <a:ext uri="{FF2B5EF4-FFF2-40B4-BE49-F238E27FC236}">
                <a16:creationId xmlns:a16="http://schemas.microsoft.com/office/drawing/2014/main" id="{234C9D70-A9C5-49B5-8918-C361BF8A333B}"/>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출하 시</a:t>
            </a:r>
          </a:p>
          <a:p xmlns:a="http://schemas.openxmlformats.org/drawingml/2006/main">
            <a:pPr algn="l">
              <a:buNone/>
              <a:defRPr sz="2400">
                <a:solidFill>
                  <a:srgbClr val="000000"/>
                </a:solidFill>
                <a:latin typeface="Helvetica Neue"/>
                <a:ea typeface="Helvetica Neue"/>
                <a:cs typeface="Helvetica Neue"/>
              </a:defRPr>
            </a:pPr>
            <a:r>
              <a:t>도체중·등심단면적</a:t>
            </a:r>
          </a:p>
          <a:p xmlns:a="http://schemas.openxmlformats.org/drawingml/2006/main">
            <a:pPr algn="l">
              <a:buNone/>
              <a:defRPr sz="2400">
                <a:solidFill>
                  <a:srgbClr val="000000"/>
                </a:solidFill>
                <a:latin typeface="Helvetica Neue"/>
                <a:ea typeface="Helvetica Neue"/>
                <a:cs typeface="Helvetica Neue"/>
              </a:defRPr>
            </a:pPr>
            <a:r>
              <a:t>근내지방도·육질등급</a:t>
            </a:r>
          </a:p>
          <a:p xmlns:a="http://schemas.openxmlformats.org/drawingml/2006/main">
            <a:pPr algn="l">
              <a:buNone/>
              <a:defRPr sz="2400">
                <a:solidFill>
                  <a:srgbClr val="000000"/>
                </a:solidFill>
                <a:latin typeface="Helvetica Neue"/>
                <a:ea typeface="Helvetica Neue"/>
                <a:cs typeface="Helvetica Neue"/>
              </a:defRPr>
            </a:pPr>
            <a:r>
              <a:t>육질 최종 평가</a:t>
            </a:r>
          </a:p>
        </p:txBody>
      </p:sp>
      <p:sp>
        <p:nvSpPr>
          <p:cNvPr id="6" name="Content-Placeholder-10-7">
            <a:extLst xmlns:a="http://schemas.openxmlformats.org/drawingml/2006/main">
              <a:ext uri="{FF2B5EF4-FFF2-40B4-BE49-F238E27FC236}">
                <a16:creationId xmlns:a16="http://schemas.microsoft.com/office/drawing/2014/main" id="{1A34C16A-8F7A-4B12-BA58-172260CF0F97}"/>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중단·보류</a:t>
            </a:r>
          </a:p>
          <a:p xmlns:a="http://schemas.openxmlformats.org/drawingml/2006/main">
            <a:pPr algn="l">
              <a:buNone/>
              <a:defRPr sz="2400">
                <a:solidFill>
                  <a:srgbClr val="000000"/>
                </a:solidFill>
                <a:latin typeface="Helvetica Neue"/>
                <a:ea typeface="Helvetica Neue"/>
                <a:cs typeface="Helvetica Neue"/>
              </a:defRPr>
            </a:pPr>
            <a:r>
              <a:t>이상반응·섭취 저하</a:t>
            </a:r>
          </a:p>
          <a:p xmlns:a="http://schemas.openxmlformats.org/drawingml/2006/main">
            <a:pPr algn="l">
              <a:buNone/>
              <a:defRPr sz="2400">
                <a:solidFill>
                  <a:srgbClr val="000000"/>
                </a:solidFill>
                <a:latin typeface="Helvetica Neue"/>
                <a:ea typeface="Helvetica Neue"/>
                <a:cs typeface="Helvetica Neue"/>
              </a:defRPr>
            </a:pPr>
            <a:r>
              <a:t>비용 개선 없음</a:t>
            </a:r>
          </a:p>
          <a:p xmlns:a="http://schemas.openxmlformats.org/drawingml/2006/main">
            <a:pPr algn="l">
              <a:buNone/>
              <a:defRPr sz="2400">
                <a:solidFill>
                  <a:srgbClr val="000000"/>
                </a:solidFill>
                <a:latin typeface="Helvetica Neue"/>
                <a:ea typeface="Helvetica Neue"/>
                <a:cs typeface="Helvetica Neue"/>
              </a:defRPr>
            </a:pPr>
            <a:r>
              <a:t>규격 미달·표시 미확정</a:t>
            </a:r>
          </a:p>
        </p:txBody>
      </p:sp>
      <p:sp>
        <p:nvSpPr>
          <p:cNvPr id="7" name="brand-rule-16">
            <a:extLst xmlns:a="http://schemas.openxmlformats.org/drawingml/2006/main">
              <a:ext uri="{FF2B5EF4-FFF2-40B4-BE49-F238E27FC236}">
                <a16:creationId xmlns:a16="http://schemas.microsoft.com/office/drawing/2014/main" id="{55BD5789-824C-4804-8B5F-C81E993C9E53}"/>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8" name="brand-footer-16">
            <a:extLst xmlns:a="http://schemas.openxmlformats.org/drawingml/2006/main">
              <a:ext uri="{FF2B5EF4-FFF2-40B4-BE49-F238E27FC236}">
                <a16:creationId xmlns:a16="http://schemas.microsoft.com/office/drawing/2014/main" id="{B551CBFC-E8C9-4FAA-B5CF-AB153853215C}"/>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16 | EXPANSION CRITERIA</a:t>
            </a:r>
          </a:p>
        </p:txBody>
      </p:sp>
    </p:spTree>
    <p:extLst>
      <p:ext uri="{BB962C8B-B14F-4D97-AF65-F5344CB8AC3E}">
        <p14:creationId xmlns:p14="http://schemas.microsoft.com/office/powerpoint/2010/main" val="1604558683"/>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5" name="Slide-Number-Placeholder-3-2">
            <a:extLst xmlns:a="http://schemas.openxmlformats.org/drawingml/2006/main">
              <a:ext uri="{FF2B5EF4-FFF2-40B4-BE49-F238E27FC236}">
                <a16:creationId xmlns:a16="http://schemas.microsoft.com/office/drawing/2014/main" id="{B496B7F5-0060-42C5-8E64-3225E107460D}"/>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17</a:t>
            </a:r>
          </a:p>
        </p:txBody>
      </p:sp>
      <p:sp>
        <p:nvSpPr>
          <p:cNvPr id="2" name="Title-10-3">
            <a:extLst xmlns:a="http://schemas.openxmlformats.org/drawingml/2006/main">
              <a:ext uri="{FF2B5EF4-FFF2-40B4-BE49-F238E27FC236}">
                <a16:creationId xmlns:a16="http://schemas.microsoft.com/office/drawing/2014/main" id="{2EFF0847-A637-4DB9-87E4-30B0DAE8EF2C}"/>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첫 30일은 7일·21일·30일 세 번의 결정을 만든다</a:t>
            </a:r>
          </a:p>
        </p:txBody>
      </p:sp>
      <p:cxnSp>
        <p:nvCxnSpPr>
          <p:cNvPr id="59"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243B184A-5714-470F-861E-0880A4B3822B}"/>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175C1DC6-EE18-4075-8D6A-38DBD46445E6}"/>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A7E15ADD-2361-408A-87FD-131AA6388C2E}"/>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8DE72BF7-233C-4347-B53E-1BBB871445A6}"/>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0–7일</a:t>
            </a:r>
          </a:p>
        </p:txBody>
      </p:sp>
      <p:sp>
        <p:nvSpPr>
          <p:cNvPr id="8" name="Content-Placeholder-15-9">
            <a:extLst xmlns:a="http://schemas.openxmlformats.org/drawingml/2006/main">
              <a:ext uri="{FF2B5EF4-FFF2-40B4-BE49-F238E27FC236}">
                <a16:creationId xmlns:a16="http://schemas.microsoft.com/office/drawing/2014/main" id="{FBA56E75-1370-458F-ACBB-6B3996EE1512}"/>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8–21일</a:t>
            </a:r>
          </a:p>
        </p:txBody>
      </p:sp>
      <p:sp>
        <p:nvSpPr>
          <p:cNvPr id="9" name="Content-Placeholder-15-10">
            <a:extLst xmlns:a="http://schemas.openxmlformats.org/drawingml/2006/main">
              <a:ext uri="{FF2B5EF4-FFF2-40B4-BE49-F238E27FC236}">
                <a16:creationId xmlns:a16="http://schemas.microsoft.com/office/drawing/2014/main" id="{B63CBB6C-9454-4282-9788-768A6B008AEC}"/>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22–30일</a:t>
            </a:r>
          </a:p>
        </p:txBody>
      </p:sp>
      <p:sp>
        <p:nvSpPr>
          <p:cNvPr id="10" name="Text-Placeholder-16-11">
            <a:extLst xmlns:a="http://schemas.openxmlformats.org/drawingml/2006/main">
              <a:ext uri="{FF2B5EF4-FFF2-40B4-BE49-F238E27FC236}">
                <a16:creationId xmlns:a16="http://schemas.microsoft.com/office/drawing/2014/main" id="{AF24F0EC-48C2-45AF-8DCE-09616248C3B7}"/>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규격·시험 설계</a:t>
            </a:r>
          </a:p>
          <a:p xmlns:a="http://schemas.openxmlformats.org/drawingml/2006/main">
            <a:pPr algn="l">
              <a:buNone/>
              <a:defRPr sz="2400">
                <a:solidFill>
                  <a:srgbClr val="000000"/>
                </a:solidFill>
                <a:latin typeface="Helvetica Neue"/>
                <a:ea typeface="Helvetica Neue"/>
                <a:cs typeface="Helvetica Neue"/>
              </a:defRPr>
            </a:pPr>
            <a:r>
              <a:t>제품 규격서</a:t>
            </a:r>
          </a:p>
          <a:p xmlns:a="http://schemas.openxmlformats.org/drawingml/2006/main">
            <a:pPr algn="l">
              <a:buNone/>
              <a:defRPr sz="2400">
                <a:solidFill>
                  <a:srgbClr val="000000"/>
                </a:solidFill>
                <a:latin typeface="Helvetica Neue"/>
                <a:ea typeface="Helvetica Neue"/>
                <a:cs typeface="Helvetica Neue"/>
              </a:defRPr>
            </a:pPr>
            <a:r>
              <a:t>품목·표시 사전검토</a:t>
            </a:r>
          </a:p>
          <a:p xmlns:a="http://schemas.openxmlformats.org/drawingml/2006/main">
            <a:pPr algn="l">
              <a:buNone/>
              <a:defRPr sz="2400">
                <a:solidFill>
                  <a:srgbClr val="000000"/>
                </a:solidFill>
                <a:latin typeface="Helvetica Neue"/>
                <a:ea typeface="Helvetica Neue"/>
                <a:cs typeface="Helvetica Neue"/>
              </a:defRPr>
            </a:pPr>
            <a:r>
              <a:t>비육 한우 대조군 계획</a:t>
            </a:r>
          </a:p>
        </p:txBody>
      </p:sp>
      <p:sp>
        <p:nvSpPr>
          <p:cNvPr id="11" name="Text-Placeholder-16-12">
            <a:extLst xmlns:a="http://schemas.openxmlformats.org/drawingml/2006/main">
              <a:ext uri="{FF2B5EF4-FFF2-40B4-BE49-F238E27FC236}">
                <a16:creationId xmlns:a16="http://schemas.microsoft.com/office/drawing/2014/main" id="{B6E06F27-F095-485D-BEBC-A99720AF45F5}"/>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제품 재현성</a:t>
            </a:r>
          </a:p>
          <a:p xmlns:a="http://schemas.openxmlformats.org/drawingml/2006/main">
            <a:pPr algn="l">
              <a:buNone/>
              <a:defRPr sz="2400">
                <a:solidFill>
                  <a:srgbClr val="000000"/>
                </a:solidFill>
                <a:latin typeface="Helvetica Neue"/>
                <a:ea typeface="Helvetica Neue"/>
                <a:cs typeface="Helvetica Neue"/>
              </a:defRPr>
            </a:pPr>
            <a:r>
              <a:t>시험생산 1회</a:t>
            </a:r>
          </a:p>
          <a:p xmlns:a="http://schemas.openxmlformats.org/drawingml/2006/main">
            <a:pPr algn="l">
              <a:buNone/>
              <a:defRPr sz="2400">
                <a:solidFill>
                  <a:srgbClr val="000000"/>
                </a:solidFill>
                <a:latin typeface="Helvetica Neue"/>
                <a:ea typeface="Helvetica Neue"/>
                <a:cs typeface="Helvetica Neue"/>
              </a:defRPr>
            </a:pPr>
            <a:r>
              <a:t>3지점 시료·균일도</a:t>
            </a:r>
          </a:p>
          <a:p xmlns:a="http://schemas.openxmlformats.org/drawingml/2006/main">
            <a:pPr algn="l">
              <a:buNone/>
              <a:defRPr sz="2400">
                <a:solidFill>
                  <a:srgbClr val="000000"/>
                </a:solidFill>
                <a:latin typeface="Helvetica Neue"/>
                <a:ea typeface="Helvetica Neue"/>
                <a:cs typeface="Helvetica Neue"/>
              </a:defRPr>
            </a:pPr>
            <a:r>
              <a:t>실제 견적·원가</a:t>
            </a:r>
          </a:p>
        </p:txBody>
      </p:sp>
      <p:sp>
        <p:nvSpPr>
          <p:cNvPr id="12" name="Text-Placeholder-16-13">
            <a:extLst xmlns:a="http://schemas.openxmlformats.org/drawingml/2006/main">
              <a:ext uri="{FF2B5EF4-FFF2-40B4-BE49-F238E27FC236}">
                <a16:creationId xmlns:a16="http://schemas.microsoft.com/office/drawing/2014/main" id="{BAC9D127-353B-49C3-9413-F5CB25757567}"/>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유료 실증 착수</a:t>
            </a:r>
          </a:p>
          <a:p xmlns:a="http://schemas.openxmlformats.org/drawingml/2006/main">
            <a:pPr algn="l">
              <a:buNone/>
              <a:defRPr sz="2400">
                <a:solidFill>
                  <a:srgbClr val="000000"/>
                </a:solidFill>
                <a:latin typeface="Helvetica Neue"/>
                <a:ea typeface="Helvetica Neue"/>
                <a:cs typeface="Helvetica Neue"/>
              </a:defRPr>
            </a:pPr>
            <a:r>
              <a:t>농장 1곳·발주서 1건</a:t>
            </a:r>
          </a:p>
          <a:p xmlns:a="http://schemas.openxmlformats.org/drawingml/2006/main">
            <a:pPr algn="l">
              <a:buNone/>
              <a:defRPr sz="2400">
                <a:solidFill>
                  <a:srgbClr val="000000"/>
                </a:solidFill>
                <a:latin typeface="Helvetica Neue"/>
                <a:ea typeface="Helvetica Neue"/>
                <a:cs typeface="Helvetica Neue"/>
              </a:defRPr>
            </a:pPr>
            <a:r>
              <a:t>기초 체중·섭취량</a:t>
            </a:r>
          </a:p>
          <a:p xmlns:a="http://schemas.openxmlformats.org/drawingml/2006/main">
            <a:pPr algn="l">
              <a:buNone/>
              <a:defRPr sz="2400">
                <a:solidFill>
                  <a:srgbClr val="000000"/>
                </a:solidFill>
                <a:latin typeface="Helvetica Neue"/>
                <a:ea typeface="Helvetica Neue"/>
                <a:cs typeface="Helvetica Neue"/>
              </a:defRPr>
            </a:pPr>
            <a:r>
              <a:t>개체·출하 성적 연결</a:t>
            </a:r>
          </a:p>
        </p:txBody>
      </p:sp>
      <p:sp>
        <p:nvSpPr>
          <p:cNvPr id="13" name="brand-rule-15">
            <a:extLst xmlns:a="http://schemas.openxmlformats.org/drawingml/2006/main">
              <a:ext uri="{FF2B5EF4-FFF2-40B4-BE49-F238E27FC236}">
                <a16:creationId xmlns:a16="http://schemas.microsoft.com/office/drawing/2014/main" id="{810E5F20-8B15-4F79-96EF-62B242EDEF8C}"/>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14" name="brand-footer-15">
            <a:extLst xmlns:a="http://schemas.openxmlformats.org/drawingml/2006/main">
              <a:ext uri="{FF2B5EF4-FFF2-40B4-BE49-F238E27FC236}">
                <a16:creationId xmlns:a16="http://schemas.microsoft.com/office/drawing/2014/main" id="{E067D592-0B78-481E-9B2E-6E8FAB0B9F30}"/>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17 | 90-DAY VALIDATION</a:t>
            </a:r>
          </a:p>
        </p:txBody>
      </p:sp>
    </p:spTree>
    <p:extLst>
      <p:ext uri="{BB962C8B-B14F-4D97-AF65-F5344CB8AC3E}">
        <p14:creationId xmlns:p14="http://schemas.microsoft.com/office/powerpoint/2010/main" val="1161883894"/>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5" name="Rounded-Rectangle-5-1">
            <a:extLst xmlns:a="http://schemas.openxmlformats.org/drawingml/2006/main">
              <a:ext uri="{FF2B5EF4-FFF2-40B4-BE49-F238E27FC236}">
                <a16:creationId xmlns:a16="http://schemas.microsoft.com/office/drawing/2014/main" id="{E16F1EE6-E756-45C0-8617-BB78BF867B63}"/>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D4C87DE3-EBAE-4928-8F13-9D57644F80E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B8FB0289-E741-4BA8-94D1-677C5EF213D1}"/>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83969B42-BFA8-448C-8026-85E52F042B1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18</a:t>
            </a:r>
          </a:p>
        </p:txBody>
      </p:sp>
      <p:sp>
        <p:nvSpPr>
          <p:cNvPr id="5" name="Title-2-5">
            <a:extLst xmlns:a="http://schemas.openxmlformats.org/drawingml/2006/main">
              <a:ext uri="{FF2B5EF4-FFF2-40B4-BE49-F238E27FC236}">
                <a16:creationId xmlns:a16="http://schemas.microsoft.com/office/drawing/2014/main" id="{DCF1A8D5-0AB3-4E51-AEDC-9EBECE5A451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핵심 인력은 분석·사료·정밀발효 경험을 함께 갖췄다</a:t>
            </a:r>
          </a:p>
        </p:txBody>
      </p:sp>
      <p:sp>
        <p:nvSpPr>
          <p:cNvPr id="6" name="Content-Placeholder-9-6">
            <a:extLst xmlns:a="http://schemas.openxmlformats.org/drawingml/2006/main">
              <a:ext uri="{FF2B5EF4-FFF2-40B4-BE49-F238E27FC236}">
                <a16:creationId xmlns:a16="http://schemas.microsoft.com/office/drawing/2014/main" id="{3E72F593-79F2-43AE-A593-E6DB7B4B4FC0}"/>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분석기술 전문가</a:t>
            </a:r>
          </a:p>
        </p:txBody>
      </p:sp>
      <p:sp>
        <p:nvSpPr>
          <p:cNvPr id="7" name="Content-Placeholder-10-7">
            <a:extLst xmlns:a="http://schemas.openxmlformats.org/drawingml/2006/main">
              <a:ext uri="{FF2B5EF4-FFF2-40B4-BE49-F238E27FC236}">
                <a16:creationId xmlns:a16="http://schemas.microsoft.com/office/drawing/2014/main" id="{F70819C6-E100-46F1-A253-8C7B6596CAA2}"/>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정밀발효·정제 전문가</a:t>
            </a:r>
          </a:p>
        </p:txBody>
      </p:sp>
      <p:sp>
        <p:nvSpPr>
          <p:cNvPr id="8" name="Content-Placeholder-11-8">
            <a:extLst xmlns:a="http://schemas.openxmlformats.org/drawingml/2006/main">
              <a:ext uri="{FF2B5EF4-FFF2-40B4-BE49-F238E27FC236}">
                <a16:creationId xmlns:a16="http://schemas.microsoft.com/office/drawing/2014/main" id="{7A05743D-C63F-4B00-B533-D7ECE388EBC1}"/>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분석기술 고문</a:t>
            </a:r>
          </a:p>
        </p:txBody>
      </p:sp>
      <p:sp>
        <p:nvSpPr>
          <p:cNvPr id="9" name="Content-Placeholder-9-9">
            <a:extLst xmlns:a="http://schemas.openxmlformats.org/drawingml/2006/main">
              <a:ext uri="{FF2B5EF4-FFF2-40B4-BE49-F238E27FC236}">
                <a16:creationId xmlns:a16="http://schemas.microsoft.com/office/drawing/2014/main" id="{6B6DF3F5-8239-45F8-9E70-2B3E7F1DB3FF}"/>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장순욱</a:t>
            </a:r>
          </a:p>
        </p:txBody>
      </p:sp>
      <p:sp>
        <p:nvSpPr>
          <p:cNvPr id="10" name="Content-Placeholder-9-10">
            <a:extLst xmlns:a="http://schemas.openxmlformats.org/drawingml/2006/main">
              <a:ext uri="{FF2B5EF4-FFF2-40B4-BE49-F238E27FC236}">
                <a16:creationId xmlns:a16="http://schemas.microsoft.com/office/drawing/2014/main" id="{CE72FAEF-F255-4F90-AEDE-480E5F8C5F47}"/>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구자룡</a:t>
            </a:r>
          </a:p>
        </p:txBody>
      </p:sp>
      <p:sp>
        <p:nvSpPr>
          <p:cNvPr id="11" name="Content-Placeholder-9-11">
            <a:extLst xmlns:a="http://schemas.openxmlformats.org/drawingml/2006/main">
              <a:ext uri="{FF2B5EF4-FFF2-40B4-BE49-F238E27FC236}">
                <a16:creationId xmlns:a16="http://schemas.microsoft.com/office/drawing/2014/main" id="{70DD8D92-9021-4372-B7E8-35A09E99E87D}"/>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박지호</a:t>
            </a:r>
          </a:p>
        </p:txBody>
      </p:sp>
      <p:sp>
        <p:nvSpPr>
          <p:cNvPr id="12" name="Content-Placeholder-15-12">
            <a:extLst xmlns:a="http://schemas.openxmlformats.org/drawingml/2006/main">
              <a:ext uri="{FF2B5EF4-FFF2-40B4-BE49-F238E27FC236}">
                <a16:creationId xmlns:a16="http://schemas.microsoft.com/office/drawing/2014/main" id="{E1FBB930-6AF2-4B7D-84BA-8E934D069C6B}"/>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장순욱 | 현 셀핀다 생명과학연구소 부사장 · 전 해원바이오 전무 · 전 한국신약 연구소장</a:t>
            </a:r>
          </a:p>
          <a:p xmlns:a="http://schemas.openxmlformats.org/drawingml/2006/main">
            <a:pPr algn="l">
              <a:buNone/>
              <a:defRPr sz="1600">
                <a:solidFill>
                  <a:srgbClr val="000000"/>
                </a:solidFill>
                <a:latin typeface="Helvetica Neue"/>
                <a:ea typeface="Helvetica Neue"/>
                <a:cs typeface="Helvetica Neue"/>
              </a:defRPr>
            </a:pPr>
            <a:r>
              <a:t>구자룡 | 현 충남대 농업과학연구소 총괄책임 · 전 우성사료 연구소장</a:t>
            </a:r>
          </a:p>
          <a:p xmlns:a="http://schemas.openxmlformats.org/drawingml/2006/main">
            <a:pPr algn="l">
              <a:buNone/>
              <a:defRPr sz="1600">
                <a:solidFill>
                  <a:srgbClr val="000000"/>
                </a:solidFill>
                <a:latin typeface="Helvetica Neue"/>
                <a:ea typeface="Helvetica Neue"/>
                <a:cs typeface="Helvetica Neue"/>
              </a:defRPr>
            </a:pPr>
            <a:r>
              <a:t>박지호 | 현 셀핀다 생명과학연구소 소장 · 전 현대바이오랜드 재직</a:t>
            </a:r>
          </a:p>
        </p:txBody>
      </p:sp>
      <p:sp>
        <p:nvSpPr>
          <p:cNvPr id="13" name="brand-rule-3">
            <a:extLst xmlns:a="http://schemas.openxmlformats.org/drawingml/2006/main">
              <a:ext uri="{FF2B5EF4-FFF2-40B4-BE49-F238E27FC236}">
                <a16:creationId xmlns:a16="http://schemas.microsoft.com/office/drawing/2014/main" id="{CF26F2E1-309A-4854-AE35-3CF8D1E0B7DE}"/>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14" name="brand-footer-3">
            <a:extLst xmlns:a="http://schemas.openxmlformats.org/drawingml/2006/main">
              <a:ext uri="{FF2B5EF4-FFF2-40B4-BE49-F238E27FC236}">
                <a16:creationId xmlns:a16="http://schemas.microsoft.com/office/drawing/2014/main" id="{67FA2FB3-A9A5-4AF6-A336-B21A6025C47A}"/>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18 | COMMERCIALIZATION TEAM</a:t>
            </a:r>
          </a:p>
        </p:txBody>
      </p:sp>
    </p:spTree>
    <p:extLst>
      <p:ext uri="{BB962C8B-B14F-4D97-AF65-F5344CB8AC3E}">
        <p14:creationId xmlns:p14="http://schemas.microsoft.com/office/powerpoint/2010/main" val="136431717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6" name="Title-3-1">
            <a:extLst xmlns:a="http://schemas.openxmlformats.org/drawingml/2006/main">
              <a:ext uri="{FF2B5EF4-FFF2-40B4-BE49-F238E27FC236}">
                <a16:creationId xmlns:a16="http://schemas.microsoft.com/office/drawing/2014/main" id="{93582F7D-404D-46AB-80D1-FE06EE84CD39}"/>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buNone/>
              <a:defRPr sz="6000">
                <a:solidFill>
                  <a:srgbClr val="000000"/>
                </a:solidFill>
                <a:latin typeface="Helvetica Neue"/>
                <a:ea typeface="Helvetica Neue"/>
                <a:cs typeface="Helvetica Neue"/>
              </a:defRPr>
            </a:pPr>
            <a:r>
              <a:t>파일럿 생산에서 자체 공장까지 단계적으로 확장한다</a:t>
            </a:r>
          </a:p>
        </p:txBody>
      </p:sp>
      <p:sp>
        <p:nvSpPr>
          <p:cNvPr id="2" name="Subtitle-4-2">
            <a:extLst xmlns:a="http://schemas.openxmlformats.org/drawingml/2006/main">
              <a:ext uri="{FF2B5EF4-FFF2-40B4-BE49-F238E27FC236}">
                <a16:creationId xmlns:a16="http://schemas.microsoft.com/office/drawing/2014/main" id="{6DBE01A0-2CC5-41DA-85B6-ED57A07E76EC}"/>
              </a:ext>
            </a:extLst>
          </p:cNvPr>
          <p:cNvSpPr>
            <a:spLocks xmlns:a="http://schemas.openxmlformats.org/drawingml/2006/main" noGrp="1"/>
          </p:cNvSpPr>
          <p:nvPr/>
        </p:nvSpPr>
        <p:spPr>
          <a:xfrm xmlns:a="http://schemas.openxmlformats.org/drawingml/2006/main">
            <a:off x="393668" y="4973288"/>
            <a:ext cx="10953750"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100">
                <a:solidFill>
                  <a:srgbClr val="000000"/>
                </a:solidFill>
                <a:latin typeface="Helvetica Neue"/>
                <a:ea typeface="Helvetica Neue"/>
                <a:cs typeface="Helvetica Neue"/>
              </a:defRPr>
            </a:pPr>
            <a:r>
              <a:t>2026년 8월 파일럿 생산 · 수율·품질·실제 매출원가 확인</a:t>
            </a:r>
          </a:p>
          <a:p xmlns:a="http://schemas.openxmlformats.org/drawingml/2006/main">
            <a:pPr algn="l">
              <a:buNone/>
              <a:defRPr sz="2100">
                <a:solidFill>
                  <a:srgbClr val="000000"/>
                </a:solidFill>
                <a:latin typeface="Helvetica Neue"/>
                <a:ea typeface="Helvetica Neue"/>
                <a:cs typeface="Helvetica Neue"/>
              </a:defRPr>
            </a:pPr>
            <a:r>
              <a:t>2027년 상반기 양산 가동 · 반복 주문·납기·매출총이익 검증</a:t>
            </a:r>
          </a:p>
          <a:p xmlns:a="http://schemas.openxmlformats.org/drawingml/2006/main">
            <a:pPr algn="l">
              <a:buNone/>
              <a:defRPr sz="2100">
                <a:solidFill>
                  <a:srgbClr val="000000"/>
                </a:solidFill>
                <a:latin typeface="Helvetica Neue"/>
                <a:ea typeface="Helvetica Neue"/>
                <a:cs typeface="Helvetica Neue"/>
              </a:defRPr>
            </a:pPr>
            <a:r>
              <a:t>2028년 하반기 자체 공장 · 5·10·50톤급 발효조 구성 검토</a:t>
            </a:r>
          </a:p>
        </p:txBody>
      </p:sp>
      <p:sp>
        <p:nvSpPr>
          <p:cNvPr id="3" name="Subtitle-4-3">
            <a:extLst xmlns:a="http://schemas.openxmlformats.org/drawingml/2006/main">
              <a:ext uri="{FF2B5EF4-FFF2-40B4-BE49-F238E27FC236}">
                <a16:creationId xmlns:a16="http://schemas.microsoft.com/office/drawing/2014/main" id="{83CFF434-0D8D-452B-9588-51118CD257D7}"/>
              </a:ext>
            </a:extLst>
          </p:cNvPr>
          <p:cNvSpPr>
            <a:spLocks xmlns:a="http://schemas.openxmlformats.org/drawingml/2006/main" noGrp="1"/>
          </p:cNvSpPr>
          <p:nvPr/>
        </p:nvSpPr>
        <p:spPr>
          <a:xfrm xmlns:a="http://schemas.openxmlformats.org/drawingml/2006/main">
            <a:off x="393668" y="392240"/>
            <a:ext cx="1612868"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지금의 승인</a:t>
            </a:r>
          </a:p>
          <a:p xmlns:a="http://schemas.openxmlformats.org/drawingml/2006/main">
            <a:pPr algn="l">
              <a:buNone/>
              <a:defRPr sz="2400">
                <a:solidFill>
                  <a:srgbClr val="000000"/>
                </a:solidFill>
                <a:latin typeface="Helvetica Neue"/>
                <a:ea typeface="Helvetica Neue"/>
                <a:cs typeface="Helvetica Neue"/>
              </a:defRPr>
            </a:pPr>
            <a:r>
              <a:t>30일 검증</a:t>
            </a:r>
          </a:p>
          <a:p xmlns:a="http://schemas.openxmlformats.org/drawingml/2006/main">
            <a:pPr algn="l">
              <a:buNone/>
              <a:defRPr sz="2400">
                <a:solidFill>
                  <a:srgbClr val="000000"/>
                </a:solidFill>
                <a:latin typeface="Helvetica Neue"/>
                <a:ea typeface="Helvetica Neue"/>
                <a:cs typeface="Helvetica Neue"/>
              </a:defRPr>
            </a:pPr>
            <a:r>
              <a:t>4,560만원</a:t>
            </a:r>
          </a:p>
        </p:txBody>
      </p:sp>
      <p:sp>
        <p:nvSpPr>
          <p:cNvPr id="4" name="brand-rule-19">
            <a:extLst xmlns:a="http://schemas.openxmlformats.org/drawingml/2006/main">
              <a:ext uri="{FF2B5EF4-FFF2-40B4-BE49-F238E27FC236}">
                <a16:creationId xmlns:a16="http://schemas.microsoft.com/office/drawing/2014/main" id="{7AAF7002-EC9D-469C-84D7-2EC7F0804319}"/>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5" name="brand-footer-19">
            <a:extLst xmlns:a="http://schemas.openxmlformats.org/drawingml/2006/main">
              <a:ext uri="{FF2B5EF4-FFF2-40B4-BE49-F238E27FC236}">
                <a16:creationId xmlns:a16="http://schemas.microsoft.com/office/drawing/2014/main" id="{5673E306-1329-4C06-B385-21CE77F2D44C}"/>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19 | COMMERCIALIZATION TIMELINE</a:t>
            </a:r>
          </a:p>
        </p:txBody>
      </p:sp>
    </p:spTree>
    <p:extLst>
      <p:ext uri="{BB962C8B-B14F-4D97-AF65-F5344CB8AC3E}">
        <p14:creationId xmlns:p14="http://schemas.microsoft.com/office/powerpoint/2010/main" val="1951378401"/>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9" name="Slide-Number-Placeholder-1-2">
            <a:extLst xmlns:a="http://schemas.openxmlformats.org/drawingml/2006/main">
              <a:ext uri="{FF2B5EF4-FFF2-40B4-BE49-F238E27FC236}">
                <a16:creationId xmlns:a16="http://schemas.microsoft.com/office/drawing/2014/main" id="{899BFBB6-2B10-416C-B0B8-D3DCD3722082}"/>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20</a:t>
            </a:r>
          </a:p>
        </p:txBody>
      </p:sp>
      <p:sp>
        <p:nvSpPr>
          <p:cNvPr id="2" name="Title-2-3">
            <a:extLst xmlns:a="http://schemas.openxmlformats.org/drawingml/2006/main">
              <a:ext uri="{FF2B5EF4-FFF2-40B4-BE49-F238E27FC236}">
                <a16:creationId xmlns:a16="http://schemas.microsoft.com/office/drawing/2014/main" id="{5CFAC748-585C-4584-8553-0EC8E67AB075}"/>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APPENDIX · 사업 정의·손익 용어·주요 일정</a:t>
            </a:r>
          </a:p>
        </p:txBody>
      </p:sp>
      <p:sp>
        <p:nvSpPr>
          <p:cNvPr id="3" name="Content-Placeholder-9-4">
            <a:extLst xmlns:a="http://schemas.openxmlformats.org/drawingml/2006/main">
              <a:ext uri="{FF2B5EF4-FFF2-40B4-BE49-F238E27FC236}">
                <a16:creationId xmlns:a16="http://schemas.microsoft.com/office/drawing/2014/main" id="{34DB5DEF-8114-43EB-BCF8-0B628E7C364A}"/>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사업</a:t>
            </a:r>
          </a:p>
          <a:p xmlns:a="http://schemas.openxmlformats.org/drawingml/2006/main">
            <a:pPr algn="l">
              <a:buNone/>
              <a:defRPr sz="2400">
                <a:solidFill>
                  <a:srgbClr val="000000"/>
                </a:solidFill>
                <a:latin typeface="Helvetica Neue"/>
                <a:ea typeface="Helvetica Neue"/>
                <a:cs typeface="Helvetica Neue"/>
              </a:defRPr>
            </a:pPr>
            <a:r>
              <a:t>가바크루드=GABA 원료</a:t>
            </a:r>
          </a:p>
          <a:p xmlns:a="http://schemas.openxmlformats.org/drawingml/2006/main">
            <a:pPr algn="l">
              <a:buNone/>
              <a:defRPr sz="2400">
                <a:solidFill>
                  <a:srgbClr val="000000"/>
                </a:solidFill>
                <a:latin typeface="Helvetica Neue"/>
                <a:ea typeface="Helvetica Neue"/>
                <a:cs typeface="Helvetica Neue"/>
              </a:defRPr>
            </a:pPr>
            <a:r>
              <a:t>가바케어믹스=비육 한우 배합사료</a:t>
            </a:r>
          </a:p>
          <a:p xmlns:a="http://schemas.openxmlformats.org/drawingml/2006/main">
            <a:pPr algn="l">
              <a:buNone/>
              <a:defRPr sz="2400">
                <a:solidFill>
                  <a:srgbClr val="000000"/>
                </a:solidFill>
                <a:latin typeface="Helvetica Neue"/>
                <a:ea typeface="Helvetica Neue"/>
                <a:cs typeface="Helvetica Neue"/>
              </a:defRPr>
            </a:pPr>
            <a:r>
              <a:t>CAPA=배양액 생산가능량</a:t>
            </a:r>
          </a:p>
        </p:txBody>
      </p:sp>
      <p:sp>
        <p:nvSpPr>
          <p:cNvPr id="4" name="Content-Placeholder-10-5">
            <a:extLst xmlns:a="http://schemas.openxmlformats.org/drawingml/2006/main">
              <a:ext uri="{FF2B5EF4-FFF2-40B4-BE49-F238E27FC236}">
                <a16:creationId xmlns:a16="http://schemas.microsoft.com/office/drawing/2014/main" id="{EFACA7CB-B804-47CA-AB1B-80FE7DDA4BA7}"/>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손익 용어</a:t>
            </a:r>
          </a:p>
          <a:p xmlns:a="http://schemas.openxmlformats.org/drawingml/2006/main">
            <a:pPr algn="l">
              <a:buNone/>
              <a:defRPr sz="2400">
                <a:solidFill>
                  <a:srgbClr val="000000"/>
                </a:solidFill>
                <a:latin typeface="Helvetica Neue"/>
                <a:ea typeface="Helvetica Neue"/>
                <a:cs typeface="Helvetica Neue"/>
              </a:defRPr>
            </a:pPr>
            <a:r>
              <a:t>매출액=판매금액</a:t>
            </a:r>
          </a:p>
          <a:p xmlns:a="http://schemas.openxmlformats.org/drawingml/2006/main">
            <a:pPr algn="l">
              <a:buNone/>
              <a:defRPr sz="2400">
                <a:solidFill>
                  <a:srgbClr val="000000"/>
                </a:solidFill>
                <a:latin typeface="Helvetica Neue"/>
                <a:ea typeface="Helvetica Neue"/>
                <a:cs typeface="Helvetica Neue"/>
              </a:defRPr>
            </a:pPr>
            <a:r>
              <a:t>매출원가=제품 직접원가</a:t>
            </a:r>
          </a:p>
          <a:p xmlns:a="http://schemas.openxmlformats.org/drawingml/2006/main">
            <a:pPr algn="l">
              <a:buNone/>
              <a:defRPr sz="2400">
                <a:solidFill>
                  <a:srgbClr val="000000"/>
                </a:solidFill>
                <a:latin typeface="Helvetica Neue"/>
                <a:ea typeface="Helvetica Neue"/>
                <a:cs typeface="Helvetica Neue"/>
              </a:defRPr>
            </a:pPr>
            <a:r>
              <a:t>매출총이익=매출액-매출원가</a:t>
            </a:r>
          </a:p>
        </p:txBody>
      </p:sp>
      <p:sp>
        <p:nvSpPr>
          <p:cNvPr id="5" name="Content-Placeholder-9-6">
            <a:extLst xmlns:a="http://schemas.openxmlformats.org/drawingml/2006/main">
              <a:ext uri="{FF2B5EF4-FFF2-40B4-BE49-F238E27FC236}">
                <a16:creationId xmlns:a16="http://schemas.microsoft.com/office/drawing/2014/main" id="{234C9D70-A9C5-49B5-8918-C361BF8A333B}"/>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주요 일정</a:t>
            </a:r>
          </a:p>
          <a:p xmlns:a="http://schemas.openxmlformats.org/drawingml/2006/main">
            <a:pPr algn="l">
              <a:buNone/>
              <a:defRPr sz="2400">
                <a:solidFill>
                  <a:srgbClr val="000000"/>
                </a:solidFill>
                <a:latin typeface="Helvetica Neue"/>
                <a:ea typeface="Helvetica Neue"/>
                <a:cs typeface="Helvetica Neue"/>
              </a:defRPr>
            </a:pPr>
            <a:r>
              <a:t>2026.08=파일럿</a:t>
            </a:r>
          </a:p>
          <a:p xmlns:a="http://schemas.openxmlformats.org/drawingml/2006/main">
            <a:pPr algn="l">
              <a:buNone/>
              <a:defRPr sz="2400">
                <a:solidFill>
                  <a:srgbClr val="000000"/>
                </a:solidFill>
                <a:latin typeface="Helvetica Neue"/>
                <a:ea typeface="Helvetica Neue"/>
                <a:cs typeface="Helvetica Neue"/>
              </a:defRPr>
            </a:pPr>
            <a:r>
              <a:t>2027 상반기=양산</a:t>
            </a:r>
          </a:p>
          <a:p xmlns:a="http://schemas.openxmlformats.org/drawingml/2006/main">
            <a:pPr algn="l">
              <a:buNone/>
              <a:defRPr sz="2400">
                <a:solidFill>
                  <a:srgbClr val="000000"/>
                </a:solidFill>
                <a:latin typeface="Helvetica Neue"/>
                <a:ea typeface="Helvetica Neue"/>
                <a:cs typeface="Helvetica Neue"/>
              </a:defRPr>
            </a:pPr>
            <a:r>
              <a:t>2028 하반기=자체 공장</a:t>
            </a:r>
          </a:p>
        </p:txBody>
      </p:sp>
      <p:sp>
        <p:nvSpPr>
          <p:cNvPr id="6" name="Content-Placeholder-10-7">
            <a:extLst xmlns:a="http://schemas.openxmlformats.org/drawingml/2006/main">
              <a:ext uri="{FF2B5EF4-FFF2-40B4-BE49-F238E27FC236}">
                <a16:creationId xmlns:a16="http://schemas.microsoft.com/office/drawing/2014/main" id="{1A34C16A-8F7A-4B12-BA58-172260CF0F97}"/>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이용 안내</a:t>
            </a:r>
          </a:p>
          <a:p xmlns:a="http://schemas.openxmlformats.org/drawingml/2006/main">
            <a:pPr algn="l">
              <a:buNone/>
              <a:defRPr sz="2400">
                <a:solidFill>
                  <a:srgbClr val="000000"/>
                </a:solidFill>
                <a:latin typeface="Helvetica Neue"/>
                <a:ea typeface="Helvetica Neue"/>
                <a:cs typeface="Helvetica Neue"/>
              </a:defRPr>
            </a:pPr>
            <a:r>
              <a:t>30일은 효능 확정 시점이 아님</a:t>
            </a:r>
          </a:p>
          <a:p xmlns:a="http://schemas.openxmlformats.org/drawingml/2006/main">
            <a:pPr algn="l">
              <a:buNone/>
              <a:defRPr sz="2400">
                <a:solidFill>
                  <a:srgbClr val="000000"/>
                </a:solidFill>
                <a:latin typeface="Helvetica Neue"/>
                <a:ea typeface="Helvetica Neue"/>
                <a:cs typeface="Helvetica Neue"/>
              </a:defRPr>
            </a:pPr>
            <a:r>
              <a:t>법적 분류·표시·효능·원가</a:t>
            </a:r>
          </a:p>
          <a:p xmlns:a="http://schemas.openxmlformats.org/drawingml/2006/main">
            <a:pPr algn="l">
              <a:buNone/>
              <a:defRPr sz="2400">
                <a:solidFill>
                  <a:srgbClr val="000000"/>
                </a:solidFill>
                <a:latin typeface="Helvetica Neue"/>
                <a:ea typeface="Helvetica Neue"/>
                <a:cs typeface="Helvetica Neue"/>
              </a:defRPr>
            </a:pPr>
            <a:r>
              <a:t>전문 검토·시험·실제 견적 확인</a:t>
            </a:r>
          </a:p>
        </p:txBody>
      </p:sp>
      <p:sp>
        <p:nvSpPr>
          <p:cNvPr id="7" name="brand-rule-16">
            <a:extLst xmlns:a="http://schemas.openxmlformats.org/drawingml/2006/main">
              <a:ext uri="{FF2B5EF4-FFF2-40B4-BE49-F238E27FC236}">
                <a16:creationId xmlns:a16="http://schemas.microsoft.com/office/drawing/2014/main" id="{55BD5789-824C-4804-8B5F-C81E993C9E53}"/>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8" name="brand-footer-16">
            <a:extLst xmlns:a="http://schemas.openxmlformats.org/drawingml/2006/main">
              <a:ext uri="{FF2B5EF4-FFF2-40B4-BE49-F238E27FC236}">
                <a16:creationId xmlns:a16="http://schemas.microsoft.com/office/drawing/2014/main" id="{B551CBFC-E8C9-4FAA-B5CF-AB153853215C}"/>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20 | APPENDIX</a:t>
            </a:r>
          </a:p>
        </p:txBody>
      </p:sp>
    </p:spTree>
    <p:extLst>
      <p:ext uri="{BB962C8B-B14F-4D97-AF65-F5344CB8AC3E}">
        <p14:creationId xmlns:p14="http://schemas.microsoft.com/office/powerpoint/2010/main" val="16045586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2026-08-03T07:05:18.5880000Z</dcterms:created>
  <dcterms:modified xsi:type="dcterms:W3CDTF">2026-08-03T07:05:18.5880000Z</dcterms:modified>
</coreProperties>
</file>