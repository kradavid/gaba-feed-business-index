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c406d0501b4afc" /><Relationship Type="http://schemas.openxmlformats.org/officeDocument/2006/relationships/extended-properties" Target="/docProps/app.xml" Id="Rc7dcfe5484a9422e" /><Relationship Type="http://schemas.openxmlformats.org/officeDocument/2006/relationships/officeDocument" Target="/ppt/presentation.xml" Id="R4fe7707c80c94f09" /></Relationships>
</file>

<file path=ppt/presentation.xml><?xml version="1.0" encoding="utf-8"?>
<p:presentation xmlns:p="http://schemas.openxmlformats.org/presentationml/2006/main">
  <p:sldMasterIdLst>
    <p:sldMasterId xmlns:r="http://schemas.openxmlformats.org/officeDocument/2006/relationships" id="2147483648" r:id="R371255853862404b"/>
  </p:sldMasterIdLst>
  <p:notesMasterIdLst>
    <p:notesMasterId xmlns:r="http://schemas.openxmlformats.org/officeDocument/2006/relationships" r:id="Rea3fefb3544a47ad"/>
  </p:notesMasterIdLst>
  <p:sldIdLst>
    <p:sldId xmlns:r="http://schemas.openxmlformats.org/officeDocument/2006/relationships" id="256" r:id="R4c6d75cd88a14334"/>
    <p:sldId xmlns:r="http://schemas.openxmlformats.org/officeDocument/2006/relationships" id="257" r:id="R58232561aca640be"/>
    <p:sldId xmlns:r="http://schemas.openxmlformats.org/officeDocument/2006/relationships" id="258" r:id="R305668c19e3946c9"/>
    <p:sldId xmlns:r="http://schemas.openxmlformats.org/officeDocument/2006/relationships" id="259" r:id="R666e2def4bf2475d"/>
    <p:sldId xmlns:r="http://schemas.openxmlformats.org/officeDocument/2006/relationships" id="260" r:id="Rf5bf35a2e0224d11"/>
    <p:sldId xmlns:r="http://schemas.openxmlformats.org/officeDocument/2006/relationships" id="261" r:id="Rec092309f0c84870"/>
    <p:sldId xmlns:r="http://schemas.openxmlformats.org/officeDocument/2006/relationships" id="262" r:id="R23cde6a75ab04e00"/>
    <p:sldId xmlns:r="http://schemas.openxmlformats.org/officeDocument/2006/relationships" id="263" r:id="R5011f07214164a0d"/>
    <p:sldId xmlns:r="http://schemas.openxmlformats.org/officeDocument/2006/relationships" id="264" r:id="R035343cd664940bb"/>
    <p:sldId xmlns:r="http://schemas.openxmlformats.org/officeDocument/2006/relationships" id="265" r:id="Rdf5cd179a81c4418"/>
    <p:sldId xmlns:r="http://schemas.openxmlformats.org/officeDocument/2006/relationships" id="266" r:id="Rde17e9d4b7ab46ca"/>
    <p:sldId xmlns:r="http://schemas.openxmlformats.org/officeDocument/2006/relationships" id="267" r:id="Ra206b9cdd20d4a30"/>
    <p:sldId xmlns:r="http://schemas.openxmlformats.org/officeDocument/2006/relationships" id="268" r:id="Rfbd6e1c4f1ce4bff"/>
    <p:sldId xmlns:r="http://schemas.openxmlformats.org/officeDocument/2006/relationships" id="269" r:id="Rf4ebe49cfcba4036"/>
    <p:sldId xmlns:r="http://schemas.openxmlformats.org/officeDocument/2006/relationships" id="270" r:id="Rea76db1c8f0f4fff"/>
    <p:sldId xmlns:r="http://schemas.openxmlformats.org/officeDocument/2006/relationships" id="271" r:id="Rd6f68a6c10d14ecf"/>
    <p:sldId xmlns:r="http://schemas.openxmlformats.org/officeDocument/2006/relationships" id="272" r:id="R309594921cfb4e9f"/>
    <p:sldId xmlns:r="http://schemas.openxmlformats.org/officeDocument/2006/relationships" id="273" r:id="R9e5c3a15c5d54657"/>
    <p:sldId xmlns:r="http://schemas.openxmlformats.org/officeDocument/2006/relationships" id="274" r:id="R5c3e59c466a048a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a3481e6db64e03" /><Relationship Type="http://schemas.openxmlformats.org/officeDocument/2006/relationships/slideMaster" Target="/ppt/slideMasters/slideMaster1.xml" Id="R371255853862404b" /><Relationship Type="http://schemas.openxmlformats.org/officeDocument/2006/relationships/notesMaster" Target="/ppt/notesMasters/notesMaster1.xml" Id="Rea3fefb3544a47ad" /><Relationship Type="http://schemas.openxmlformats.org/officeDocument/2006/relationships/presProps" Target="/ppt/presProps.xml" Id="Rdbb6a9edf55044f8" /><Relationship Type="http://schemas.openxmlformats.org/officeDocument/2006/relationships/tableStyles" Target="/ppt/tableStyles.xml" Id="Rbaf6424d9bd147e8" /><Relationship Type="http://schemas.openxmlformats.org/officeDocument/2006/relationships/slide" Target="/ppt/slides/slide1.xml" Id="R4c6d75cd88a14334" /><Relationship Type="http://schemas.openxmlformats.org/officeDocument/2006/relationships/slide" Target="/ppt/slides/slide2.xml" Id="R58232561aca640be" /><Relationship Type="http://schemas.openxmlformats.org/officeDocument/2006/relationships/slide" Target="/ppt/slides/slide3.xml" Id="R305668c19e3946c9" /><Relationship Type="http://schemas.openxmlformats.org/officeDocument/2006/relationships/slide" Target="/ppt/slides/slide4.xml" Id="R666e2def4bf2475d" /><Relationship Type="http://schemas.openxmlformats.org/officeDocument/2006/relationships/slide" Target="/ppt/slides/slide5.xml" Id="Rf5bf35a2e0224d11" /><Relationship Type="http://schemas.openxmlformats.org/officeDocument/2006/relationships/slide" Target="/ppt/slides/slide6.xml" Id="Rec092309f0c84870" /><Relationship Type="http://schemas.openxmlformats.org/officeDocument/2006/relationships/slide" Target="/ppt/slides/slide7.xml" Id="R23cde6a75ab04e00" /><Relationship Type="http://schemas.openxmlformats.org/officeDocument/2006/relationships/slide" Target="/ppt/slides/slide8.xml" Id="R5011f07214164a0d" /><Relationship Type="http://schemas.openxmlformats.org/officeDocument/2006/relationships/slide" Target="/ppt/slides/slide9.xml" Id="R035343cd664940bb" /><Relationship Type="http://schemas.openxmlformats.org/officeDocument/2006/relationships/slide" Target="/ppt/slides/slide10.xml" Id="Rdf5cd179a81c4418" /><Relationship Type="http://schemas.openxmlformats.org/officeDocument/2006/relationships/slide" Target="/ppt/slides/slide11.xml" Id="Rde17e9d4b7ab46ca" /><Relationship Type="http://schemas.openxmlformats.org/officeDocument/2006/relationships/slide" Target="/ppt/slides/slide12.xml" Id="Ra206b9cdd20d4a30" /><Relationship Type="http://schemas.openxmlformats.org/officeDocument/2006/relationships/slide" Target="/ppt/slides/slide13.xml" Id="Rfbd6e1c4f1ce4bff" /><Relationship Type="http://schemas.openxmlformats.org/officeDocument/2006/relationships/slide" Target="/ppt/slides/slide14.xml" Id="Rf4ebe49cfcba4036" /><Relationship Type="http://schemas.openxmlformats.org/officeDocument/2006/relationships/slide" Target="/ppt/slides/slide15.xml" Id="Rea76db1c8f0f4fff" /><Relationship Type="http://schemas.openxmlformats.org/officeDocument/2006/relationships/slide" Target="/ppt/slides/slide16.xml" Id="Rd6f68a6c10d14ecf" /><Relationship Type="http://schemas.openxmlformats.org/officeDocument/2006/relationships/slide" Target="/ppt/slides/slide17.xml" Id="R309594921cfb4e9f" /><Relationship Type="http://schemas.openxmlformats.org/officeDocument/2006/relationships/slide" Target="/ppt/slides/slide18.xml" Id="R9e5c3a15c5d54657" /><Relationship Type="http://schemas.openxmlformats.org/officeDocument/2006/relationships/slide" Target="/ppt/slides/slide19.xml" Id="R5c3e59c466a048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ec2f750147b4a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aa145941c5c424b" /><Relationship Type="http://schemas.openxmlformats.org/officeDocument/2006/relationships/notesMaster" Target="/ppt/notesMasters/notesMaster1.xml" Id="R5768955cc18a4c1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99928f04a0428f" /><Relationship Type="http://schemas.openxmlformats.org/officeDocument/2006/relationships/notesMaster" Target="/ppt/notesMasters/notesMaster1.xml" Id="Ra17ce97bbeb646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a0e8bab54843bf" /><Relationship Type="http://schemas.openxmlformats.org/officeDocument/2006/relationships/notesMaster" Target="/ppt/notesMasters/notesMaster1.xml" Id="R6b9a5776324347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710be1b5a24d8c" /><Relationship Type="http://schemas.openxmlformats.org/officeDocument/2006/relationships/notesMaster" Target="/ppt/notesMasters/notesMaster1.xml" Id="R34430def0eaf431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167296bd994bfd" /><Relationship Type="http://schemas.openxmlformats.org/officeDocument/2006/relationships/notesMaster" Target="/ppt/notesMasters/notesMaster1.xml" Id="Rb049f96c01594d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6060d3a0064f69" /><Relationship Type="http://schemas.openxmlformats.org/officeDocument/2006/relationships/notesMaster" Target="/ppt/notesMasters/notesMaster1.xml" Id="R47b475eec0e347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39a5c97fe6994ed0" /><Relationship Type="http://schemas.openxmlformats.org/officeDocument/2006/relationships/notesMaster" Target="/ppt/notesMasters/notesMaster1.xml" Id="Rba7c1a8d5fcb434c" /></Relationships>
</file>

<file path=ppt/notesSlides/_rels/notesSlide8.xml.rels>&#65279;<?xml version="1.0" encoding="utf-8"?><Relationships xmlns="http://schemas.openxmlformats.org/package/2006/relationships"><Relationship Type="http://schemas.openxmlformats.org/officeDocument/2006/relationships/slide" Target="/ppt/slides/slide8.xml" Id="R02ad39e652264125" /><Relationship Type="http://schemas.openxmlformats.org/officeDocument/2006/relationships/notesMaster" Target="/ppt/notesMasters/notesMaster1.xml" Id="R12bb2a2a9a074e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ff8209873b4c6d" /><Relationship Type="http://schemas.openxmlformats.org/officeDocument/2006/relationships/notesMaster" Target="/ppt/notesMasters/notesMaster1.xml" Id="R0ac9385d8311485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c821fe4447b4d08" /><Relationship Type="http://schemas.openxmlformats.org/officeDocument/2006/relationships/notesMaster" Target="/ppt/notesMasters/notesMaster1.xml" Id="R322530aa77344f4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41308dc5a094c1c" /><Relationship Type="http://schemas.openxmlformats.org/officeDocument/2006/relationships/notesMaster" Target="/ppt/notesMasters/notesMaster1.xml" Id="Ra5ce455652774e7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6ca7f1d2534b08" /><Relationship Type="http://schemas.openxmlformats.org/officeDocument/2006/relationships/notesMaster" Target="/ppt/notesMasters/notesMaster1.xml" Id="Rada87d2c59034a0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7298c6d71e4409" /><Relationship Type="http://schemas.openxmlformats.org/officeDocument/2006/relationships/notesMaster" Target="/ppt/notesMasters/notesMaster1.xml" Id="Rf03c261494ed45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83a69a48a1248d2" /><Relationship Type="http://schemas.openxmlformats.org/officeDocument/2006/relationships/notesMaster" Target="/ppt/notesMasters/notesMaster1.xml" Id="R39b873cbeae4418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d44bb698f24e2a" /><Relationship Type="http://schemas.openxmlformats.org/officeDocument/2006/relationships/notesMaster" Target="/ppt/notesMasters/notesMaster1.xml" Id="R7eccc5ba6e9540f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4ace68ba8294c0c" /><Relationship Type="http://schemas.openxmlformats.org/officeDocument/2006/relationships/notesMaster" Target="/ppt/notesMasters/notesMaster1.xml" Id="Ra6037b4b9747471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0dd4678a56740b9" /><Relationship Type="http://schemas.openxmlformats.org/officeDocument/2006/relationships/notesMaster" Target="/ppt/notesMasters/notesMaster1.xml" Id="R3287dde1e0254bb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5aa8ceb248a4c74" /><Relationship Type="http://schemas.openxmlformats.org/officeDocument/2006/relationships/notesMaster" Target="/ppt/notesMasters/notesMaster1.xml" Id="Rc473a759393a401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19bb54b6ef74f50" /><Relationship Type="http://schemas.openxmlformats.org/officeDocument/2006/relationships/notesMaster" Target="/ppt/notesMasters/notesMaster1.xml" Id="Raf66a0695cb846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문장은 사업의 전부입니다. 재고는 20% 마스터 한 종류만 보유하고, 고객 규격은 주문이 들어온 뒤 OEM에서 완성합니다. 오늘 요청하는 것은 대규모 생산 투자가 아니라 네 가지 증빙을 잠그는 검증입니다.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준비도는 잠정 41점입니다. 구조는 설계됐지만 품목분류, 제품특이 유효용량, OEM 실견적, 유료 반복주문이 열려 있습니다. 그래서 지금의 단계는 SCALE이 아니라 VALIDATE입니다.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원배양액 직납은 품질과 물류 변동이 큽니다. 반면 20% 마스터는 한 로트 단위로 시험하고 추적하기 쉽고, 저농도 규격은 고객 PO가 확인된 뒤 만들 수 있습니다. CoA는 로트별 시험성적서, FIFO는 먼저 입고한 재고를 먼저 출고하는 원칙입니다.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구조의 핵심은 공통 중간물입니다. 모든 규격의 출발점을 20% 마스터로 통일하면 품질기준과 재고기준이 하나가 됩니다. OEM은 주문자상표 부착생산을 뜻하며, 발주자가 규격을 정하고 공장이 생산합니다.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원본은 배양액 1톤 원가와 산출량을 제시합니다. 그러나 이 정보만으로 20% 마스터 9,240원/kg을 재현할 수는 없습니다. 다음 단계는 건조, 부형제, 시험, 포장, 수율을 한 장의 원가 브리지로 연결하는 것입니다.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재고정책은 단순합니다. 20% 마스터만 안전재고와 재주문점을 관리하고, 완제품은 선생산하지 않습니다. MOQ는 최소주문수량, 리드타임은 주문부터 납품까지 걸리는 시간입니다.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주문 흐름은 규격 잠금, 마스터 출고, OEM 완제품화의 세 단계입니다. 고객의 농도·수량·표시사항이 확정되기 전에는 생산하지 않습니다. 이 통제가 재고경량 모델을 지키는 운영 장치입니다.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현행 규정에서 GABA 또는 발효배양물의 허용 품목을 이 자료만으로 확정하지 않았습니다. 신규·변경 물질 검토에는 제조방법, 안전성, 품질, 첨가수준 자료가 중요하므로 사전검토를 서면으로 받아야 합니다. 공장 QA에는 추적·검사·회수 체계까지 포함합니다.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https://www.mafra.go.kr/bbs/home/792/577302/artclView.do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연구의 방향은 일관되지 않습니다. 2026년 젖소 연구에서는 산유량이 통계적으로 유의하지 않았고 일부 유성분은 유의했습니다. 2023년 한우 연구는 초기 증체에서 신호가 있었지만 도체 지표는 유의하지 않았고, 2025년 넙치 연구는 성장 개선이 유의하지 않았습니다. 따라서 한 축종·한 제형·한 용량의 제품특이 PoV가 필요합니다.</a:t>
            </a:r>
          </a:p>
          <a:p xmlns:a="http://schemas.openxmlformats.org/drawingml/2006/main">
            <a:r>
              <a:t/>
            </a:r>
          </a:p>
          <a:p xmlns:a="http://schemas.openxmlformats.org/drawingml/2006/main">
            <a:r>
              <a:t>[Sources]</a:t>
            </a:r>
          </a:p>
          <a:p xmlns:a="http://schemas.openxmlformats.org/drawingml/2006/main">
            <a:r>
              <a:t>- https://www.mdpi.com/2076-2615/16/2/262</a:t>
            </a:r>
          </a:p>
          <a:p xmlns:a="http://schemas.openxmlformats.org/drawingml/2006/main">
            <a:r>
              <a:t>- https://www.kci.go.kr/kciportal/landing/article.kci?arti_id=ART003036784</a:t>
            </a:r>
          </a:p>
          <a:p xmlns:a="http://schemas.openxmlformats.org/drawingml/2006/main">
            <a:r>
              <a:t>- https://www.e-kfas.org/Upload/files/kfas/4.%2058%281%29%2033-45.pdf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시험은 넓게 하면 학습이 흐려집니다. 반추위 보호 제형, 열스트레스 상황, 고객군 하나, 1차 지표 하나로 좁히고 시작 전에 성공·중단 기준을 합의합니다. PoV는 실제 고객 환경에서 경제적 가치를 확인하는 가치검증입니다.</a:t>
            </a:r>
          </a:p>
          <a:p xmlns:a="http://schemas.openxmlformats.org/drawingml/2006/main">
            <a:r>
              <a:t/>
            </a:r>
          </a:p>
          <a:p xmlns:a="http://schemas.openxmlformats.org/drawingml/2006/main">
            <a:r>
              <a:t>[Sources]</a:t>
            </a:r>
          </a:p>
          <a:p xmlns:a="http://schemas.openxmlformats.org/drawingml/2006/main">
            <a:r>
              <a:t>- https://www.mdpi.com/2076-2615/16/2/262</a:t>
            </a:r>
          </a:p>
          <a:p xmlns:a="http://schemas.openxmlformats.org/drawingml/2006/main">
            <a:r>
              <a:t>- https://www.kci.go.kr/kciportal/landing/article.kci?arti_id=ART003036784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단위공헌은 한 단위를 팔 때 판매가에서 제품원가와 직접변동비를 빼고 남는 금액입니다. 원본 산식은 8,760원/kg을 제시하지만, 잠정원가의 하위 비용이 연결되지 않았습니다. 투자자에게는 실현 공헌이 아니라 검증 목표로 표현해야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원본은 매트릭스 투입량 75g/사료t, 제품원가 4,681.8원/kg을 사용합니다. 그러나 제품 활성함량과 제형이 연구 용량에 연결되지 않아 유효용량으로 볼 수 없습니다. 실제 공헌은 용량, OEM 견적, 채널비, 현장비가 잠긴 뒤 다시 계산합니다.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a:p xmlns:a="http://schemas.openxmlformats.org/drawingml/2006/main">
            <a:r>
              <a:t>- https://www.mdpi.com/2076-2615/16/2/262</a:t>
            </a:r>
          </a:p>
          <a:p xmlns:a="http://schemas.openxmlformats.org/drawingml/2006/main">
            <a:r>
              <a:t>- https://www.kci.go.kr/kciportal/landing/article.kci?arti_id=ART003036784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고객가치 18,000원/사료t은 원본의 가정입니다. 이 숫자는 고객 현장에서 비교군을 두고 손실회피 또는 생산성 개선을 측정할 때만 영업 근거가 됩니다. B/C는 편익을 비용으로 나눈 비율입니다.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페이지는 잠재 규모를 보여주는 시나리오이지 매출 예측이 아닙니다. 마스터 20톤과 매트릭스 5만 사료톤이 실제 반복주문으로 확인될 때만 경제성이 실현됩니다. 숫자를 사용하려면 반드시 실제 PO와 실현 원가를 함께 제시해야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기준으로는 첫 반복판매가 브리지 능력의 35.1%를 사용합니다. 다만 활성 GABA의 정의, 수율, OEE와 OEM 병목이 확인되지 않았으므로 확정 공급능력으로 표현하면 안 됩니다. OEE는 설비의 가동·성능·품질을 함께 보는 종합효율입니다.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스케일 의사결정은 네 게이트가 닫힌 뒤에만 합니다. 규제와 표시 문구는 서면 검토, 제품근거는 제품특이 시험, OEM은 실사와 품질합의서, 상업검증은 유료 PoV와 반복 PO로 확인합니다. QA Agreement는 발주자와 제조자가 시험·변경·일탈·회수 책임을 합의한 문서입니다.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https://www.mafra.go.kr/bbs/home/792/577302/artclView.do</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30일은 규제경로와 제품정의를 잠급니다. 다음 30일은 시험생산과 고객시험 설계를 끝냅니다. 마지막 30일은 첫 유료 PO와 반복주문 조건을 확보하고, 실제 원가로 GO 또는 NO-GO를 결정합니다. RFI는 잠재 제조사에 정보와 조건을 요청하는 문서입니다.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요청은 대규모 설비투자가 아닙니다. 원본 T1 검증예산 4,560만원을 네 증빙의 마일스톤과 연결해 단계적으로 집행하는 것입니다. 어느 한 게이트가 실패하면 멈추고, 모두 통과하면 고객사와 투자자에게 스케일 계획을 다시 제안합니다.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장은 어려운 용어와 핵심 가정을 한곳에 모았습니다. 원본의 가격, 원가, 용량, 고객가치는 검증 전 가정입니다. 연구 결과는 축종·제형·용량이 달라 제품 효능을 보장하지 않으며, 법적 분류와 표시·광고 문구는 별도 전문 검토가 필요합니다.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https://www.mafra.go.kr/bbs/home/791/597692/download.do</a:t>
            </a:r>
          </a:p>
          <a:p xmlns:a="http://schemas.openxmlformats.org/drawingml/2006/main">
            <a:r>
              <a:t>- https://www.mdpi.com/2076-2615/16/2/262</a:t>
            </a:r>
          </a:p>
          <a:p xmlns:a="http://schemas.openxmlformats.org/drawingml/2006/main">
            <a:r>
              <a:t>- https://www.kci.go.kr/kciportal/landing/article.kci?arti_id=ART003036784</a:t>
            </a:r>
          </a:p>
          <a:p xmlns:a="http://schemas.openxmlformats.org/drawingml/2006/main">
            <a:r>
              <a:t>- https://www.e-kfas.org/Upload/files/kfas/4.%2058%281%29%2033-45.pdf</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4b3b250d024a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00dad7545143f8" /><Relationship Type="http://schemas.openxmlformats.org/officeDocument/2006/relationships/slideLayout" Target="/ppt/slideLayouts/slideLayout1.xml" Id="R1727d855ff494d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727d855ff494d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31e1d12e80429c" /><Relationship Type="http://schemas.openxmlformats.org/officeDocument/2006/relationships/notesSlide" Target="/ppt/notesSlides/notesSlide1.xml" Id="Rc4075f1c461b49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c1856197ea46bb" /><Relationship Type="http://schemas.openxmlformats.org/officeDocument/2006/relationships/notesSlide" Target="/ppt/notesSlides/notesSlide2.xml" Id="Rca3f497cb12747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22d49c93baf4a11" /><Relationship Type="http://schemas.openxmlformats.org/officeDocument/2006/relationships/notesSlide" Target="/ppt/notesSlides/notesSlide3.xml" Id="Reeed9c28820f449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c4211c25a3249e2" /><Relationship Type="http://schemas.openxmlformats.org/officeDocument/2006/relationships/notesSlide" Target="/ppt/notesSlides/notesSlide4.xml" Id="Rccd02695334348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220db76e7ea4e24" /><Relationship Type="http://schemas.openxmlformats.org/officeDocument/2006/relationships/notesSlide" Target="/ppt/notesSlides/notesSlide5.xml" Id="Rd5426c7b093a459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e44c822072b45a7" /><Relationship Type="http://schemas.openxmlformats.org/officeDocument/2006/relationships/notesSlide" Target="/ppt/notesSlides/notesSlide6.xml" Id="Reb64866b56d6470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cc3ac35531b4604" /><Relationship Type="http://schemas.openxmlformats.org/officeDocument/2006/relationships/notesSlide" Target="/ppt/notesSlides/notesSlide7.xml" Id="R8f16c31e89b842b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6b160fa7a2d4e02" /><Relationship Type="http://schemas.openxmlformats.org/officeDocument/2006/relationships/notesSlide" Target="/ppt/notesSlides/notesSlide8.xml" Id="R1e1f97bfcc7841f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46c80f61d084038" /><Relationship Type="http://schemas.openxmlformats.org/officeDocument/2006/relationships/notesSlide" Target="/ppt/notesSlides/notesSlide9.xml" Id="R3a554e8578c04d2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01b7c5a3a1c4d92" /><Relationship Type="http://schemas.openxmlformats.org/officeDocument/2006/relationships/notesSlide" Target="/ppt/notesSlides/notesSlide10.xml" Id="R6f7270f3465d40f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e314421f75640cb" /><Relationship Type="http://schemas.openxmlformats.org/officeDocument/2006/relationships/notesSlide" Target="/ppt/notesSlides/notesSlide11.xml" Id="R1753e6dcfe41475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4c67b305f4a43b6" /><Relationship Type="http://schemas.openxmlformats.org/officeDocument/2006/relationships/notesSlide" Target="/ppt/notesSlides/notesSlide12.xml" Id="Rbcbdf0c2218f48b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9baab7c22ad4277" /><Relationship Type="http://schemas.openxmlformats.org/officeDocument/2006/relationships/notesSlide" Target="/ppt/notesSlides/notesSlide13.xml" Id="Rebebc07393404d5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07c2c15c3474fb2" /><Relationship Type="http://schemas.openxmlformats.org/officeDocument/2006/relationships/notesSlide" Target="/ppt/notesSlides/notesSlide14.xml" Id="R1d1cabd082b5423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3d26abad4ef44f9" /><Relationship Type="http://schemas.openxmlformats.org/officeDocument/2006/relationships/chart" Target="/ppt/slides/charts/chart1.xml" Id="Rf01bd0f3b84f44f1" /><Relationship Type="http://schemas.openxmlformats.org/officeDocument/2006/relationships/notesSlide" Target="/ppt/notesSlides/notesSlide15.xml" Id="R19f040a966f34f3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801d790408b4a03" /><Relationship Type="http://schemas.openxmlformats.org/officeDocument/2006/relationships/notesSlide" Target="/ppt/notesSlides/notesSlide16.xml" Id="Rb172d6a09cfd43f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d6bda7399734e00" /><Relationship Type="http://schemas.openxmlformats.org/officeDocument/2006/relationships/notesSlide" Target="/ppt/notesSlides/notesSlide17.xml" Id="R16c108bbaafd437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32ce667ba184724" /><Relationship Type="http://schemas.openxmlformats.org/officeDocument/2006/relationships/notesSlide" Target="/ppt/notesSlides/notesSlide18.xml" Id="R52e7fcde31fb4bf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734680bb96f4125" /><Relationship Type="http://schemas.openxmlformats.org/officeDocument/2006/relationships/notesSlide" Target="/ppt/notesSlides/notesSlide19.xml" Id="R00f4762fdbed43ee" /></Relationships>
</file>

<file path=ppt/slides/charts/chart1.xml><?xml version="1.0" encoding="utf-8"?>
<c:chartSpace xmlns:c="http://schemas.openxmlformats.org/drawingml/2006/chart">
  <c:lang val="en-US"/>
  <c:chart>
    <c:plotArea>
      <c:lineChart>
        <c:grouping val="standard"/>
        <c:varyColors val="0"/>
        <c:ser>
          <c:idx val="0"/>
          <c:order val="0"/>
          <c:tx>
            <c:v>활성 GABA(t/년)</c:v>
          </c:tx>
          <c:spPr>
            <a:ln xmlns:a="http://schemas.openxmlformats.org/drawingml/2006/main" w="28575">
              <a:solidFill>
                <a:srgbClr val="00A878"/>
              </a:solidFill>
              <a:prstDash val="solid"/>
            </a:ln>
          </c:spPr>
          <c:marker>
            <c:symbol val="circle"/>
            <c:size val="6"/>
          </c:marker>
          <c:cat>
            <c:strLit>
              <c:ptCount val="5"/>
              <c:pt idx="0">
                <c:v>첫 모델</c:v>
              </c:pt>
              <c:pt idx="1">
                <c:v/>
              </c:pt>
              <c:pt idx="2">
                <c:v/>
              </c:pt>
              <c:pt idx="3">
                <c:v>브리지</c:v>
              </c:pt>
              <c:pt idx="4">
                <c:v/>
              </c:pt>
            </c:strLit>
          </c:cat>
          <c:val>
            <c:numLit>
              <c:formatCode>0.0</c:formatCode>
              <c:ptCount val="5"/>
              <c:pt idx="0">
                <c:v>4.188</c:v>
              </c:pt>
              <c:pt idx="1">
                <c:v>4.188</c:v>
              </c:pt>
              <c:pt idx="2">
                <c:v>4.188</c:v>
              </c:pt>
              <c:pt idx="3">
                <c:v>11.944</c:v>
              </c:pt>
              <c:pt idx="4">
                <c:v>11.944</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72768"/>
        <c:lblAlgn val="ctr"/>
        <c:lblOffset val="100"/>
        <c:noMultiLvlLbl val="0"/>
      </c:catAx>
      <c:valAx>
        <c:axId val="48672768"/>
        <c:scaling>
          <c:orientation val="minMax"/>
          <c:max val="14"/>
          <c:min val="0"/>
        </c:scaling>
        <c:delete val="0"/>
        <c:axPos val="l"/>
        <c:majorGridlines>
          <c:spPr>
            <a:ln xmlns:a="http://schemas.openxmlformats.org/drawingml/2006/main" w="9525">
              <a:solidFill>
                <a:srgbClr val="EDEDED"/>
              </a:solidFill>
              <a:prstDash val="solid"/>
            </a:ln>
          </c:spPr>
        </c:majorGridlines>
        <c:numFmt formatCode="0.0"/>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2"/>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CEC8634E-8608-4CFC-AABB-C79CBFD2183A}"/>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한 SKU로 시작해,</a:t>
            </a:r>
          </a:p>
          <a:p xmlns:a="http://schemas.openxmlformats.org/drawingml/2006/main">
            <a:pPr algn="l">
              <a:buNone/>
              <a:defRPr sz="6000">
                <a:solidFill>
                  <a:srgbClr val="000000"/>
                </a:solidFill>
                <a:latin typeface="Helvetica Neue"/>
                <a:ea typeface="Helvetica Neue"/>
                <a:cs typeface="Helvetica Neue"/>
              </a:defRPr>
            </a:pPr>
            <a:r>
              <a:t>주문으로 네 시장을 연다</a:t>
            </a:r>
          </a:p>
        </p:txBody>
      </p:sp>
      <p:sp>
        <p:nvSpPr>
          <p:cNvPr id="2" name="Subtitle-4-2">
            <a:extLst xmlns:a="http://schemas.openxmlformats.org/drawingml/2006/main">
              <a:ext uri="{FF2B5EF4-FFF2-40B4-BE49-F238E27FC236}">
                <a16:creationId xmlns:a16="http://schemas.microsoft.com/office/drawing/2014/main" id="{362AD5FE-C022-4A84-8566-7192195AE44D}"/>
              </a:ext>
            </a:extLst>
          </p:cNvPr>
          <p:cNvSpPr>
            <a:spLocks xmlns:a="http://schemas.openxmlformats.org/drawingml/2006/main" noGrp="1"/>
          </p:cNvSpPr>
          <p:nvPr/>
        </p:nvSpPr>
        <p:spPr>
          <a:xfrm xmlns:a="http://schemas.openxmlformats.org/drawingml/2006/main">
            <a:off x="393668" y="4742212"/>
            <a:ext cx="5702332"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20% 마스터만 재고 · 5·10·15·20%는 주문 후 OEM</a:t>
            </a:r>
          </a:p>
          <a:p xmlns:a="http://schemas.openxmlformats.org/drawingml/2006/main">
            <a:pPr algn="l">
              <a:buNone/>
              <a:defRPr sz="2400">
                <a:solidFill>
                  <a:srgbClr val="000000"/>
                </a:solidFill>
                <a:latin typeface="Helvetica Neue"/>
                <a:ea typeface="Helvetica Neue"/>
                <a:cs typeface="Helvetica Neue"/>
              </a:defRPr>
            </a:pPr>
            <a:r>
              <a:t>규제·효능·OEM·반복주문이 잠길 때만 확대</a:t>
            </a:r>
          </a:p>
        </p:txBody>
      </p:sp>
      <p:sp>
        <p:nvSpPr>
          <p:cNvPr id="3" name="Subtitle-4-3">
            <a:extLst xmlns:a="http://schemas.openxmlformats.org/drawingml/2006/main">
              <a:ext uri="{FF2B5EF4-FFF2-40B4-BE49-F238E27FC236}">
                <a16:creationId xmlns:a16="http://schemas.microsoft.com/office/drawing/2014/main" id="{A8CDEDD7-7EBB-4481-B233-7DADAAE8D654}"/>
              </a:ext>
            </a:extLst>
          </p:cNvPr>
          <p:cNvSpPr>
            <a:spLocks xmlns:a="http://schemas.openxmlformats.org/drawingml/2006/main" noGrp="1"/>
          </p:cNvSpPr>
          <p:nvPr/>
        </p:nvSpPr>
        <p:spPr>
          <a:xfrm xmlns:a="http://schemas.openxmlformats.org/drawingml/2006/main">
            <a:off x="393668" y="392240"/>
            <a:ext cx="57023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VALIDATION SPEECH DECK · 2026.08</a:t>
            </a:r>
          </a:p>
        </p:txBody>
      </p:sp>
      <p:sp>
        <p:nvSpPr>
          <p:cNvPr id="4" name="brand-rule-1">
            <a:extLst xmlns:a="http://schemas.openxmlformats.org/drawingml/2006/main">
              <a:ext uri="{FF2B5EF4-FFF2-40B4-BE49-F238E27FC236}">
                <a16:creationId xmlns:a16="http://schemas.microsoft.com/office/drawing/2014/main" id="{CA1F29A9-BADD-4BED-BF68-8B0C79487B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1">
            <a:extLst xmlns:a="http://schemas.openxmlformats.org/drawingml/2006/main">
              <a:ext uri="{FF2B5EF4-FFF2-40B4-BE49-F238E27FC236}">
                <a16:creationId xmlns:a16="http://schemas.microsoft.com/office/drawing/2014/main" id="{FF036762-6761-4834-ADCD-DA1291523648}"/>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01 | THESIS</a:t>
            </a:r>
          </a:p>
        </p:txBody>
      </p:sp>
    </p:spTree>
    <p:extLst>
      <p:ext uri="{BB962C8B-B14F-4D97-AF65-F5344CB8AC3E}">
        <p14:creationId xmlns:p14="http://schemas.microsoft.com/office/powerpoint/2010/main" val="69088520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4E73852B-3E73-49A0-9BFA-C1069C65A177}"/>
              </a:ext>
            </a:extLst>
          </p:cNvPr>
          <p:cNvSpPr>
            <a:spLocks xmlns:a="http://schemas.openxmlformats.org/drawingml/2006/main" noGrp="1"/>
          </p:cNvSpPr>
          <p:nvPr/>
        </p:nvSpPr>
        <p:spPr>
          <a:xfrm xmlns:a="http://schemas.openxmlformats.org/drawingml/2006/main">
            <a:off x="393668" y="2579942"/>
            <a:ext cx="9448800" cy="3624263"/>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재고는 한 SKU만,</a:t>
            </a:r>
          </a:p>
          <a:p xmlns:a="http://schemas.openxmlformats.org/drawingml/2006/main">
            <a:pPr algn="l">
              <a:buNone/>
              <a:defRPr sz="6000">
                <a:solidFill>
                  <a:srgbClr val="000000"/>
                </a:solidFill>
                <a:latin typeface="Helvetica Neue"/>
                <a:ea typeface="Helvetica Neue"/>
                <a:cs typeface="Helvetica Neue"/>
              </a:defRPr>
            </a:pPr>
            <a:r>
              <a:t>네 게이트 후 투자한다</a:t>
            </a:r>
          </a:p>
        </p:txBody>
      </p:sp>
      <p:sp>
        <p:nvSpPr>
          <p:cNvPr id="2" name="Subtitle-4-2">
            <a:extLst xmlns:a="http://schemas.openxmlformats.org/drawingml/2006/main">
              <a:ext uri="{FF2B5EF4-FFF2-40B4-BE49-F238E27FC236}">
                <a16:creationId xmlns:a16="http://schemas.microsoft.com/office/drawing/2014/main" id="{41D73F4A-10CA-4BEC-8903-349333AA7EF9}"/>
              </a:ext>
            </a:extLst>
          </p:cNvPr>
          <p:cNvSpPr>
            <a:spLocks xmlns:a="http://schemas.openxmlformats.org/drawingml/2006/main" noGrp="1"/>
          </p:cNvSpPr>
          <p:nvPr/>
        </p:nvSpPr>
        <p:spPr>
          <a:xfrm xmlns:a="http://schemas.openxmlformats.org/drawingml/2006/main">
            <a:off x="393668" y="392240"/>
            <a:ext cx="6157817"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 MASTER + MAKE-TO-ORDER OEM</a:t>
            </a:r>
          </a:p>
        </p:txBody>
      </p:sp>
      <p:sp>
        <p:nvSpPr>
          <p:cNvPr id="3" name="Subtitle-4-3">
            <a:extLst xmlns:a="http://schemas.openxmlformats.org/drawingml/2006/main">
              <a:ext uri="{FF2B5EF4-FFF2-40B4-BE49-F238E27FC236}">
                <a16:creationId xmlns:a16="http://schemas.microsoft.com/office/drawing/2014/main" id="{DF9034B2-BA94-4EB3-B461-4FBB5F96BACA}"/>
              </a:ext>
            </a:extLst>
          </p:cNvPr>
          <p:cNvSpPr>
            <a:spLocks xmlns:a="http://schemas.openxmlformats.org/drawingml/2006/main" noGrp="1"/>
          </p:cNvSpPr>
          <p:nvPr/>
        </p:nvSpPr>
        <p:spPr>
          <a:xfrm xmlns:a="http://schemas.openxmlformats.org/drawingml/2006/main">
            <a:off x="7886700" y="392240"/>
            <a:ext cx="39116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READINESS 41/100 · VALIDATE</a:t>
            </a:r>
          </a:p>
        </p:txBody>
      </p:sp>
      <p:sp>
        <p:nvSpPr>
          <p:cNvPr id="4" name="brand-rule-2">
            <a:extLst xmlns:a="http://schemas.openxmlformats.org/drawingml/2006/main">
              <a:ext uri="{FF2B5EF4-FFF2-40B4-BE49-F238E27FC236}">
                <a16:creationId xmlns:a16="http://schemas.microsoft.com/office/drawing/2014/main" id="{25713A14-BD67-4D51-87F2-93F34382ACE1}"/>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2">
            <a:extLst xmlns:a="http://schemas.openxmlformats.org/drawingml/2006/main">
              <a:ext uri="{FF2B5EF4-FFF2-40B4-BE49-F238E27FC236}">
                <a16:creationId xmlns:a16="http://schemas.microsoft.com/office/drawing/2014/main" id="{E9521AF2-7264-4CC8-AEBF-DEB9799FF568}"/>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02 | EXECUTIVE THESIS</a:t>
            </a:r>
          </a:p>
        </p:txBody>
      </p:sp>
    </p:spTree>
    <p:extLst>
      <p:ext uri="{BB962C8B-B14F-4D97-AF65-F5344CB8AC3E}">
        <p14:creationId xmlns:p14="http://schemas.microsoft.com/office/powerpoint/2010/main" val="5048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완제품 네 SKU가 아니라, 검증 가능한 한 SKU를 보유한다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원배양액</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20% 마스터</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주문형 제품</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기본 재고</a:t>
            </a:r>
          </a:p>
          <a:p xmlns:a="http://schemas.openxmlformats.org/drawingml/2006/main">
            <a:pPr algn="l">
              <a:buNone/>
              <a:defRPr sz="2400">
                <a:solidFill>
                  <a:srgbClr val="000000"/>
                </a:solidFill>
                <a:latin typeface="Helvetica Neue"/>
                <a:ea typeface="Helvetica Neue"/>
                <a:cs typeface="Helvetica Neue"/>
              </a:defRPr>
            </a:pPr>
            <a:r>
              <a:t>500kg/배치</a:t>
            </a:r>
          </a:p>
          <a:p xmlns:a="http://schemas.openxmlformats.org/drawingml/2006/main">
            <a:pPr algn="l">
              <a:buNone/>
              <a:defRPr sz="2400">
                <a:solidFill>
                  <a:srgbClr val="000000"/>
                </a:solidFill>
                <a:latin typeface="Helvetica Neue"/>
                <a:ea typeface="Helvetica Neue"/>
                <a:cs typeface="Helvetica Neue"/>
              </a:defRPr>
            </a:pPr>
            <a:r>
              <a:t>lot·CoA 관리</a:t>
            </a:r>
          </a:p>
          <a:p xmlns:a="http://schemas.openxmlformats.org/drawingml/2006/main">
            <a:pPr algn="l">
              <a:buNone/>
              <a:defRPr sz="2400">
                <a:solidFill>
                  <a:srgbClr val="000000"/>
                </a:solidFill>
                <a:latin typeface="Helvetica Neue"/>
                <a:ea typeface="Helvetica Neue"/>
                <a:cs typeface="Helvetica Neue"/>
              </a:defRPr>
            </a:pPr>
            <a:r>
              <a:t>FIFO 출고</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보류</a:t>
            </a:r>
          </a:p>
          <a:p xmlns:a="http://schemas.openxmlformats.org/drawingml/2006/main">
            <a:pPr algn="l">
              <a:buNone/>
              <a:defRPr sz="2400">
                <a:solidFill>
                  <a:srgbClr val="000000"/>
                </a:solidFill>
                <a:latin typeface="Helvetica Neue"/>
                <a:ea typeface="Helvetica Neue"/>
                <a:cs typeface="Helvetica Neue"/>
              </a:defRPr>
            </a:pPr>
            <a:r>
              <a:t>역가·미생물 변동</a:t>
            </a:r>
          </a:p>
          <a:p xmlns:a="http://schemas.openxmlformats.org/drawingml/2006/main">
            <a:pPr algn="l">
              <a:buNone/>
              <a:defRPr sz="2400">
                <a:solidFill>
                  <a:srgbClr val="000000"/>
                </a:solidFill>
                <a:latin typeface="Helvetica Neue"/>
                <a:ea typeface="Helvetica Neue"/>
                <a:cs typeface="Helvetica Neue"/>
              </a:defRPr>
            </a:pPr>
            <a:r>
              <a:t>보존·운송 불확실</a:t>
            </a:r>
          </a:p>
          <a:p xmlns:a="http://schemas.openxmlformats.org/drawingml/2006/main">
            <a:pPr algn="l">
              <a:buNone/>
              <a:defRPr sz="2400">
                <a:solidFill>
                  <a:srgbClr val="000000"/>
                </a:solidFill>
                <a:latin typeface="Helvetica Neue"/>
                <a:ea typeface="Helvetica Neue"/>
                <a:cs typeface="Helvetica Neue"/>
              </a:defRPr>
            </a:pPr>
            <a:r>
              <a:t>직납 기본안 아님</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PO 후 생산</a:t>
            </a:r>
          </a:p>
          <a:p xmlns:a="http://schemas.openxmlformats.org/drawingml/2006/main">
            <a:pPr algn="l">
              <a:buNone/>
              <a:defRPr sz="2400">
                <a:solidFill>
                  <a:srgbClr val="000000"/>
                </a:solidFill>
                <a:latin typeface="Helvetica Neue"/>
                <a:ea typeface="Helvetica Neue"/>
                <a:cs typeface="Helvetica Neue"/>
              </a:defRPr>
            </a:pPr>
            <a:r>
              <a:t>5·10·15·20%</a:t>
            </a:r>
          </a:p>
          <a:p xmlns:a="http://schemas.openxmlformats.org/drawingml/2006/main">
            <a:pPr algn="l">
              <a:buNone/>
              <a:defRPr sz="2400">
                <a:solidFill>
                  <a:srgbClr val="000000"/>
                </a:solidFill>
                <a:latin typeface="Helvetica Neue"/>
                <a:ea typeface="Helvetica Neue"/>
                <a:cs typeface="Helvetica Neue"/>
              </a:defRPr>
            </a:pPr>
            <a:r>
              <a:t>OEM 혼합·포장</a:t>
            </a:r>
          </a:p>
          <a:p xmlns:a="http://schemas.openxmlformats.org/drawingml/2006/main">
            <a:pPr algn="l">
              <a:buNone/>
              <a:defRPr sz="2400">
                <a:solidFill>
                  <a:srgbClr val="000000"/>
                </a:solidFill>
                <a:latin typeface="Helvetica Neue"/>
                <a:ea typeface="Helvetica Neue"/>
                <a:cs typeface="Helvetica Neue"/>
              </a:defRPr>
            </a:pPr>
            <a:r>
              <a:t>완제품 선재고 0kg</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03 | INVENTORY ANSWER</a:t>
            </a:r>
          </a:p>
        </p:txBody>
      </p:sp>
    </p:spTree>
    <p:extLst>
      <p:ext uri="{BB962C8B-B14F-4D97-AF65-F5344CB8AC3E}">
        <p14:creationId xmlns:p14="http://schemas.microsoft.com/office/powerpoint/2010/main" val="116188389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배양액을 표준 마스터로 바꾸고, 주문 규격으로만 확장한다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공통 중간물</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단일 재고 SKU</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주문형 매출</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 마스터</a:t>
            </a:r>
          </a:p>
          <a:p xmlns:a="http://schemas.openxmlformats.org/drawingml/2006/main">
            <a:pPr algn="l">
              <a:buNone/>
              <a:defRPr sz="2400">
                <a:solidFill>
                  <a:srgbClr val="000000"/>
                </a:solidFill>
                <a:latin typeface="Helvetica Neue"/>
                <a:ea typeface="Helvetica Neue"/>
                <a:cs typeface="Helvetica Neue"/>
              </a:defRPr>
            </a:pPr>
            <a:r>
              <a:t>500kg/배치</a:t>
            </a:r>
          </a:p>
          <a:p xmlns:a="http://schemas.openxmlformats.org/drawingml/2006/main">
            <a:pPr algn="l">
              <a:buNone/>
              <a:defRPr sz="2400">
                <a:solidFill>
                  <a:srgbClr val="000000"/>
                </a:solidFill>
                <a:latin typeface="Helvetica Neue"/>
                <a:ea typeface="Helvetica Neue"/>
                <a:cs typeface="Helvetica Neue"/>
              </a:defRPr>
            </a:pPr>
            <a:r>
              <a:t>내부 생산·보관</a:t>
            </a:r>
          </a:p>
          <a:p xmlns:a="http://schemas.openxmlformats.org/drawingml/2006/main">
            <a:pPr algn="l">
              <a:buNone/>
              <a:defRPr sz="2400">
                <a:solidFill>
                  <a:srgbClr val="000000"/>
                </a:solidFill>
                <a:latin typeface="Helvetica Neue"/>
                <a:ea typeface="Helvetica Neue"/>
                <a:cs typeface="Helvetica Neue"/>
              </a:defRPr>
            </a:pPr>
            <a:r>
              <a:t>규격의 기준점</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발효배양액</a:t>
            </a:r>
          </a:p>
          <a:p xmlns:a="http://schemas.openxmlformats.org/drawingml/2006/main">
            <a:pPr algn="l">
              <a:buNone/>
              <a:defRPr sz="2400">
                <a:solidFill>
                  <a:srgbClr val="000000"/>
                </a:solidFill>
                <a:latin typeface="Helvetica Neue"/>
                <a:ea typeface="Helvetica Neue"/>
                <a:cs typeface="Helvetica Neue"/>
              </a:defRPr>
            </a:pPr>
            <a:r>
              <a:t>GABA·고형분 생성</a:t>
            </a:r>
          </a:p>
          <a:p xmlns:a="http://schemas.openxmlformats.org/drawingml/2006/main">
            <a:pPr algn="l">
              <a:buNone/>
              <a:defRPr sz="2400">
                <a:solidFill>
                  <a:srgbClr val="000000"/>
                </a:solidFill>
                <a:latin typeface="Helvetica Neue"/>
                <a:ea typeface="Helvetica Neue"/>
                <a:cs typeface="Helvetica Neue"/>
              </a:defRPr>
            </a:pPr>
            <a:r>
              <a:t>품질 변동 관리</a:t>
            </a:r>
          </a:p>
          <a:p xmlns:a="http://schemas.openxmlformats.org/drawingml/2006/main">
            <a:pPr algn="l">
              <a:buNone/>
              <a:defRPr sz="2400">
                <a:solidFill>
                  <a:srgbClr val="000000"/>
                </a:solidFill>
                <a:latin typeface="Helvetica Neue"/>
                <a:ea typeface="Helvetica Neue"/>
                <a:cs typeface="Helvetica Neue"/>
              </a:defRPr>
            </a:pPr>
            <a:r>
              <a:t>직접 판매는 보류</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OEM 완제품</a:t>
            </a:r>
          </a:p>
          <a:p xmlns:a="http://schemas.openxmlformats.org/drawingml/2006/main">
            <a:pPr algn="l">
              <a:buNone/>
              <a:defRPr sz="2400">
                <a:solidFill>
                  <a:srgbClr val="000000"/>
                </a:solidFill>
                <a:latin typeface="Helvetica Neue"/>
                <a:ea typeface="Helvetica Neue"/>
                <a:cs typeface="Helvetica Neue"/>
              </a:defRPr>
            </a:pPr>
            <a:r>
              <a:t>5·10·15·20%</a:t>
            </a:r>
          </a:p>
          <a:p xmlns:a="http://schemas.openxmlformats.org/drawingml/2006/main">
            <a:pPr algn="l">
              <a:buNone/>
              <a:defRPr sz="2400">
                <a:solidFill>
                  <a:srgbClr val="000000"/>
                </a:solidFill>
                <a:latin typeface="Helvetica Neue"/>
                <a:ea typeface="Helvetica Neue"/>
                <a:cs typeface="Helvetica Neue"/>
              </a:defRPr>
            </a:pPr>
            <a:r>
              <a:t>담체·포장 맞춤</a:t>
            </a:r>
          </a:p>
          <a:p xmlns:a="http://schemas.openxmlformats.org/drawingml/2006/main">
            <a:pPr algn="l">
              <a:buNone/>
              <a:defRPr sz="2400">
                <a:solidFill>
                  <a:srgbClr val="000000"/>
                </a:solidFill>
                <a:latin typeface="Helvetica Neue"/>
                <a:ea typeface="Helvetica Neue"/>
                <a:cs typeface="Helvetica Neue"/>
              </a:defRPr>
            </a:pPr>
            <a:r>
              <a:t>고객 PO 후 생산</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04 | MASTER-TO-ORDER</a:t>
            </a:r>
          </a:p>
        </p:txBody>
      </p:sp>
    </p:spTree>
    <p:extLst>
      <p:ext uri="{BB962C8B-B14F-4D97-AF65-F5344CB8AC3E}">
        <p14:creationId xmlns:p14="http://schemas.microsoft.com/office/powerpoint/2010/main" val="116188389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1톤 물질수지는 보이지만, 9,240원/kg 원가 브리지는 비어 있다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배양액 원가</a:t>
            </a:r>
          </a:p>
          <a:p xmlns:a="http://schemas.openxmlformats.org/drawingml/2006/main">
            <a:pPr algn="l">
              <a:buNone/>
              <a:defRPr sz="2400">
                <a:solidFill>
                  <a:srgbClr val="000000"/>
                </a:solidFill>
                <a:latin typeface="Helvetica Neue"/>
                <a:ea typeface="Helvetica Neue"/>
                <a:cs typeface="Helvetica Neue"/>
              </a:defRPr>
            </a:pPr>
            <a:r>
              <a:t>1톤/1,000L</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함량</a:t>
            </a:r>
          </a:p>
          <a:p xmlns:a="http://schemas.openxmlformats.org/drawingml/2006/main">
            <a:pPr algn="l">
              <a:buNone/>
              <a:defRPr sz="2400">
                <a:solidFill>
                  <a:srgbClr val="000000"/>
                </a:solidFill>
                <a:latin typeface="Helvetica Neue"/>
                <a:ea typeface="Helvetica Neue"/>
                <a:cs typeface="Helvetica Neue"/>
              </a:defRPr>
            </a:pPr>
            <a:r>
              <a:t>배양액 1톤</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건조 고형분</a:t>
            </a:r>
          </a:p>
          <a:p xmlns:a="http://schemas.openxmlformats.org/drawingml/2006/main">
            <a:pPr algn="l">
              <a:buNone/>
              <a:defRPr sz="2400">
                <a:solidFill>
                  <a:srgbClr val="000000"/>
                </a:solidFill>
                <a:latin typeface="Helvetica Neue"/>
                <a:ea typeface="Helvetica Neue"/>
                <a:cs typeface="Helvetica Neue"/>
              </a:defRPr>
            </a:pPr>
            <a:r>
              <a:t>회수량</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400만원</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300kg</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100kg</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원본: 1,000L×4,000원/L · ※ 건조·부형제·검사·포장·수율 비용은 아직 연결되지 않음</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05 | COST BRIDGE</a:t>
            </a:r>
          </a:p>
        </p:txBody>
      </p:sp>
    </p:spTree>
    <p:extLst>
      <p:ext uri="{BB962C8B-B14F-4D97-AF65-F5344CB8AC3E}">
        <p14:creationId xmlns:p14="http://schemas.microsoft.com/office/powerpoint/2010/main" val="13643171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6</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20% 마스터만 재고로 두면 폐기·사양변경 리스크를 격리한다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생산 단위</a:t>
            </a:r>
          </a:p>
          <a:p xmlns:a="http://schemas.openxmlformats.org/drawingml/2006/main">
            <a:pPr algn="l">
              <a:buNone/>
              <a:defRPr sz="2400">
                <a:solidFill>
                  <a:srgbClr val="000000"/>
                </a:solidFill>
                <a:latin typeface="Helvetica Neue"/>
                <a:ea typeface="Helvetica Neue"/>
                <a:cs typeface="Helvetica Neue"/>
              </a:defRPr>
            </a:pPr>
            <a:r>
              <a:t>배양액→20% 마스터</a:t>
            </a:r>
          </a:p>
          <a:p xmlns:a="http://schemas.openxmlformats.org/drawingml/2006/main">
            <a:pPr algn="l">
              <a:buNone/>
              <a:defRPr sz="2400">
                <a:solidFill>
                  <a:srgbClr val="000000"/>
                </a:solidFill>
                <a:latin typeface="Helvetica Neue"/>
                <a:ea typeface="Helvetica Neue"/>
                <a:cs typeface="Helvetica Neue"/>
              </a:defRPr>
            </a:pPr>
            <a:r>
              <a:t>500kg/배치</a:t>
            </a:r>
          </a:p>
          <a:p xmlns:a="http://schemas.openxmlformats.org/drawingml/2006/main">
            <a:pPr algn="l">
              <a:buNone/>
              <a:defRPr sz="2400">
                <a:solidFill>
                  <a:srgbClr val="000000"/>
                </a:solidFill>
                <a:latin typeface="Helvetica Neue"/>
                <a:ea typeface="Helvetica Neue"/>
                <a:cs typeface="Helvetica Neue"/>
              </a:defRPr>
            </a:pPr>
            <a:r>
              <a:t>로트별 승인</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재고 관리</a:t>
            </a:r>
          </a:p>
          <a:p xmlns:a="http://schemas.openxmlformats.org/drawingml/2006/main">
            <a:pPr algn="l">
              <a:buNone/>
              <a:defRPr sz="2400">
                <a:solidFill>
                  <a:srgbClr val="000000"/>
                </a:solidFill>
                <a:latin typeface="Helvetica Neue"/>
                <a:ea typeface="Helvetica Neue"/>
                <a:cs typeface="Helvetica Neue"/>
              </a:defRPr>
            </a:pPr>
            <a:r>
              <a:t>CoA(성적서)</a:t>
            </a:r>
          </a:p>
          <a:p xmlns:a="http://schemas.openxmlformats.org/drawingml/2006/main">
            <a:pPr algn="l">
              <a:buNone/>
              <a:defRPr sz="2400">
                <a:solidFill>
                  <a:srgbClr val="000000"/>
                </a:solidFill>
                <a:latin typeface="Helvetica Neue"/>
                <a:ea typeface="Helvetica Neue"/>
                <a:cs typeface="Helvetica Neue"/>
              </a:defRPr>
            </a:pPr>
            <a:r>
              <a:t>유통기한·안전재고</a:t>
            </a:r>
          </a:p>
          <a:p xmlns:a="http://schemas.openxmlformats.org/drawingml/2006/main">
            <a:pPr algn="l">
              <a:buNone/>
              <a:defRPr sz="2400">
                <a:solidFill>
                  <a:srgbClr val="000000"/>
                </a:solidFill>
                <a:latin typeface="Helvetica Neue"/>
                <a:ea typeface="Helvetica Neue"/>
                <a:cs typeface="Helvetica Neue"/>
              </a:defRPr>
            </a:pPr>
            <a:r>
              <a:t>FIFO(선입선출)</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완제품 무재고</a:t>
            </a:r>
          </a:p>
          <a:p xmlns:a="http://schemas.openxmlformats.org/drawingml/2006/main">
            <a:pPr algn="l">
              <a:buNone/>
              <a:defRPr sz="2400">
                <a:solidFill>
                  <a:srgbClr val="000000"/>
                </a:solidFill>
                <a:latin typeface="Helvetica Neue"/>
                <a:ea typeface="Helvetica Neue"/>
                <a:cs typeface="Helvetica Neue"/>
              </a:defRPr>
            </a:pPr>
            <a:r>
              <a:t>5·10·15·20%</a:t>
            </a:r>
          </a:p>
          <a:p xmlns:a="http://schemas.openxmlformats.org/drawingml/2006/main">
            <a:pPr algn="l">
              <a:buNone/>
              <a:defRPr sz="2400">
                <a:solidFill>
                  <a:srgbClr val="000000"/>
                </a:solidFill>
                <a:latin typeface="Helvetica Neue"/>
                <a:ea typeface="Helvetica Neue"/>
                <a:cs typeface="Helvetica Neue"/>
              </a:defRPr>
            </a:pPr>
            <a:r>
              <a:t>OEM 전 0kg</a:t>
            </a:r>
          </a:p>
          <a:p xmlns:a="http://schemas.openxmlformats.org/drawingml/2006/main">
            <a:pPr algn="l">
              <a:buNone/>
              <a:defRPr sz="2400">
                <a:solidFill>
                  <a:srgbClr val="000000"/>
                </a:solidFill>
                <a:latin typeface="Helvetica Neue"/>
                <a:ea typeface="Helvetica Neue"/>
                <a:cs typeface="Helvetica Neue"/>
              </a:defRPr>
            </a:pPr>
            <a:r>
              <a:t>사양폐기 최소화</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출고 원칙</a:t>
            </a:r>
          </a:p>
          <a:p xmlns:a="http://schemas.openxmlformats.org/drawingml/2006/main">
            <a:pPr algn="l">
              <a:buNone/>
              <a:defRPr sz="2400">
                <a:solidFill>
                  <a:srgbClr val="000000"/>
                </a:solidFill>
                <a:latin typeface="Helvetica Neue"/>
                <a:ea typeface="Helvetica Neue"/>
                <a:cs typeface="Helvetica Neue"/>
              </a:defRPr>
            </a:pPr>
            <a:r>
              <a:t>PO(구매주문서) 승인</a:t>
            </a:r>
          </a:p>
          <a:p xmlns:a="http://schemas.openxmlformats.org/drawingml/2006/main">
            <a:pPr algn="l">
              <a:buNone/>
              <a:defRPr sz="2400">
                <a:solidFill>
                  <a:srgbClr val="000000"/>
                </a:solidFill>
                <a:latin typeface="Helvetica Neue"/>
                <a:ea typeface="Helvetica Neue"/>
                <a:cs typeface="Helvetica Neue"/>
              </a:defRPr>
            </a:pPr>
            <a:r>
              <a:t>MOQ·리드타임 잠금</a:t>
            </a:r>
          </a:p>
          <a:p xmlns:a="http://schemas.openxmlformats.org/drawingml/2006/main">
            <a:pPr algn="l">
              <a:buNone/>
              <a:defRPr sz="2400">
                <a:solidFill>
                  <a:srgbClr val="000000"/>
                </a:solidFill>
                <a:latin typeface="Helvetica Neue"/>
                <a:ea typeface="Helvetica Neue"/>
                <a:cs typeface="Helvetica Neue"/>
              </a:defRPr>
            </a:pPr>
            <a:r>
              <a:t>그 뒤 OEM 생산</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06 | SINGLE-SKU POLICY</a:t>
            </a:r>
          </a:p>
        </p:txBody>
      </p:sp>
    </p:spTree>
    <p:extLst>
      <p:ext uri="{BB962C8B-B14F-4D97-AF65-F5344CB8AC3E}">
        <p14:creationId xmlns:p14="http://schemas.microsoft.com/office/powerpoint/2010/main" val="1604558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7</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주문이 들어오면 규격을 잠그고, 그때 OEM을 가동한다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PO·규격 잠금</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마스터 출고</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OEM 완제품화</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필요량 계산</a:t>
            </a:r>
          </a:p>
          <a:p xmlns:a="http://schemas.openxmlformats.org/drawingml/2006/main">
            <a:pPr algn="l">
              <a:buNone/>
              <a:defRPr sz="2400">
                <a:solidFill>
                  <a:srgbClr val="000000"/>
                </a:solidFill>
                <a:latin typeface="Helvetica Neue"/>
                <a:ea typeface="Helvetica Neue"/>
                <a:cs typeface="Helvetica Neue"/>
              </a:defRPr>
            </a:pPr>
            <a:r>
              <a:t>로트 지정·출고</a:t>
            </a:r>
          </a:p>
          <a:p xmlns:a="http://schemas.openxmlformats.org/drawingml/2006/main">
            <a:pPr algn="l">
              <a:buNone/>
              <a:defRPr sz="2400">
                <a:solidFill>
                  <a:srgbClr val="000000"/>
                </a:solidFill>
                <a:latin typeface="Helvetica Neue"/>
                <a:ea typeface="Helvetica Neue"/>
                <a:cs typeface="Helvetica Neue"/>
              </a:defRPr>
            </a:pPr>
            <a:r>
              <a:t>희석비 확정</a:t>
            </a:r>
          </a:p>
          <a:p xmlns:a="http://schemas.openxmlformats.org/drawingml/2006/main">
            <a:pPr algn="l">
              <a:buNone/>
              <a:defRPr sz="2400">
                <a:solidFill>
                  <a:srgbClr val="000000"/>
                </a:solidFill>
                <a:latin typeface="Helvetica Neue"/>
                <a:ea typeface="Helvetica Neue"/>
                <a:cs typeface="Helvetica Neue"/>
              </a:defRPr>
            </a:pPr>
            <a:r>
              <a:t>OEM 입고검사</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농도·수량</a:t>
            </a:r>
          </a:p>
          <a:p xmlns:a="http://schemas.openxmlformats.org/drawingml/2006/main">
            <a:pPr algn="l">
              <a:buNone/>
              <a:defRPr sz="2400">
                <a:solidFill>
                  <a:srgbClr val="000000"/>
                </a:solidFill>
                <a:latin typeface="Helvetica Neue"/>
                <a:ea typeface="Helvetica Neue"/>
                <a:cs typeface="Helvetica Neue"/>
              </a:defRPr>
            </a:pPr>
            <a:r>
              <a:t>담체·포장단위</a:t>
            </a:r>
          </a:p>
          <a:p xmlns:a="http://schemas.openxmlformats.org/drawingml/2006/main">
            <a:pPr algn="l">
              <a:buNone/>
              <a:defRPr sz="2400">
                <a:solidFill>
                  <a:srgbClr val="000000"/>
                </a:solidFill>
                <a:latin typeface="Helvetica Neue"/>
                <a:ea typeface="Helvetica Neue"/>
                <a:cs typeface="Helvetica Neue"/>
              </a:defRPr>
            </a:pPr>
            <a:r>
              <a:t>표시사항·CoA</a:t>
            </a:r>
          </a:p>
          <a:p xmlns:a="http://schemas.openxmlformats.org/drawingml/2006/main">
            <a:pPr algn="l">
              <a:buNone/>
              <a:defRPr sz="2400">
                <a:solidFill>
                  <a:srgbClr val="000000"/>
                </a:solidFill>
                <a:latin typeface="Helvetica Neue"/>
                <a:ea typeface="Helvetica Neue"/>
                <a:cs typeface="Helvetica Neue"/>
              </a:defRPr>
            </a:pPr>
            <a:r>
              <a:t>선금/발주 확정</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혼합·포장</a:t>
            </a:r>
          </a:p>
          <a:p xmlns:a="http://schemas.openxmlformats.org/drawingml/2006/main">
            <a:pPr algn="l">
              <a:buNone/>
              <a:defRPr sz="2400">
                <a:solidFill>
                  <a:srgbClr val="000000"/>
                </a:solidFill>
                <a:latin typeface="Helvetica Neue"/>
                <a:ea typeface="Helvetica Neue"/>
                <a:cs typeface="Helvetica Neue"/>
              </a:defRPr>
            </a:pPr>
            <a:r>
              <a:t>성분·안전성 검사</a:t>
            </a:r>
          </a:p>
          <a:p xmlns:a="http://schemas.openxmlformats.org/drawingml/2006/main">
            <a:pPr algn="l">
              <a:buNone/>
              <a:defRPr sz="2400">
                <a:solidFill>
                  <a:srgbClr val="000000"/>
                </a:solidFill>
                <a:latin typeface="Helvetica Neue"/>
                <a:ea typeface="Helvetica Neue"/>
                <a:cs typeface="Helvetica Neue"/>
              </a:defRPr>
            </a:pPr>
            <a:r>
              <a:t>CoA 발행·직송</a:t>
            </a:r>
          </a:p>
          <a:p xmlns:a="http://schemas.openxmlformats.org/drawingml/2006/main">
            <a:pPr algn="l">
              <a:buNone/>
              <a:defRPr sz="2400">
                <a:solidFill>
                  <a:srgbClr val="000000"/>
                </a:solidFill>
                <a:latin typeface="Helvetica Neue"/>
                <a:ea typeface="Helvetica Neue"/>
                <a:cs typeface="Helvetica Neue"/>
              </a:defRPr>
            </a:pPr>
            <a:r>
              <a:t>잔량 비축 금지</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07 | MAKE-TO-ORDER FLOW</a:t>
            </a:r>
          </a:p>
        </p:txBody>
      </p:sp>
    </p:spTree>
    <p:extLst>
      <p:ext uri="{BB962C8B-B14F-4D97-AF65-F5344CB8AC3E}">
        <p14:creationId xmlns:p14="http://schemas.microsoft.com/office/powerpoint/2010/main" val="116188389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8</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첫 계약 전, 품목분류와 공장 QA를 서면으로 잠근다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규제 경로</a:t>
            </a:r>
          </a:p>
          <a:p xmlns:a="http://schemas.openxmlformats.org/drawingml/2006/main">
            <a:pPr algn="l">
              <a:buNone/>
              <a:defRPr sz="2400">
                <a:solidFill>
                  <a:srgbClr val="000000"/>
                </a:solidFill>
                <a:latin typeface="Helvetica Neue"/>
                <a:ea typeface="Helvetica Neue"/>
                <a:cs typeface="Helvetica Neue"/>
              </a:defRPr>
            </a:pPr>
            <a:r>
              <a:t>원료 명칭·사료공정</a:t>
            </a:r>
          </a:p>
          <a:p xmlns:a="http://schemas.openxmlformats.org/drawingml/2006/main">
            <a:pPr algn="l">
              <a:buNone/>
              <a:defRPr sz="2400">
                <a:solidFill>
                  <a:srgbClr val="000000"/>
                </a:solidFill>
                <a:latin typeface="Helvetica Neue"/>
                <a:ea typeface="Helvetica Neue"/>
                <a:cs typeface="Helvetica Neue"/>
              </a:defRPr>
            </a:pPr>
            <a:r>
              <a:t>제조·성분 등록</a:t>
            </a:r>
          </a:p>
          <a:p xmlns:a="http://schemas.openxmlformats.org/drawingml/2006/main">
            <a:pPr algn="l">
              <a:buNone/>
              <a:defRPr sz="2400">
                <a:solidFill>
                  <a:srgbClr val="000000"/>
                </a:solidFill>
                <a:latin typeface="Helvetica Neue"/>
                <a:ea typeface="Helvetica Neue"/>
                <a:cs typeface="Helvetica Neue"/>
              </a:defRPr>
            </a:pPr>
            <a:r>
              <a:t>표시 가능 문구</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 규격</a:t>
            </a:r>
          </a:p>
          <a:p xmlns:a="http://schemas.openxmlformats.org/drawingml/2006/main">
            <a:pPr algn="l">
              <a:buNone/>
              <a:defRPr sz="2400">
                <a:solidFill>
                  <a:srgbClr val="000000"/>
                </a:solidFill>
                <a:latin typeface="Helvetica Neue"/>
                <a:ea typeface="Helvetica Neue"/>
                <a:cs typeface="Helvetica Neue"/>
              </a:defRPr>
            </a:pPr>
            <a:r>
              <a:t>GABA 활성함량</a:t>
            </a:r>
          </a:p>
          <a:p xmlns:a="http://schemas.openxmlformats.org/drawingml/2006/main">
            <a:pPr algn="l">
              <a:buNone/>
              <a:defRPr sz="2400">
                <a:solidFill>
                  <a:srgbClr val="000000"/>
                </a:solidFill>
                <a:latin typeface="Helvetica Neue"/>
                <a:ea typeface="Helvetica Neue"/>
                <a:cs typeface="Helvetica Neue"/>
              </a:defRPr>
            </a:pPr>
            <a:r>
              <a:t>CoA(로트 성적서)</a:t>
            </a:r>
          </a:p>
          <a:p xmlns:a="http://schemas.openxmlformats.org/drawingml/2006/main">
            <a:pPr algn="l">
              <a:buNone/>
              <a:defRPr sz="2400">
                <a:solidFill>
                  <a:srgbClr val="000000"/>
                </a:solidFill>
                <a:latin typeface="Helvetica Neue"/>
                <a:ea typeface="Helvetica Neue"/>
                <a:cs typeface="Helvetica Neue"/>
              </a:defRPr>
            </a:pPr>
            <a:r>
              <a:t>안정성·보존기한</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공장 적합</a:t>
            </a:r>
          </a:p>
          <a:p xmlns:a="http://schemas.openxmlformats.org/drawingml/2006/main">
            <a:pPr algn="l">
              <a:buNone/>
              <a:defRPr sz="2400">
                <a:solidFill>
                  <a:srgbClr val="000000"/>
                </a:solidFill>
                <a:latin typeface="Helvetica Neue"/>
                <a:ea typeface="Helvetica Neue"/>
                <a:cs typeface="Helvetica Neue"/>
              </a:defRPr>
            </a:pPr>
            <a:r>
              <a:t>정량투입·균일혼합</a:t>
            </a:r>
          </a:p>
          <a:p xmlns:a="http://schemas.openxmlformats.org/drawingml/2006/main">
            <a:pPr algn="l">
              <a:buNone/>
              <a:defRPr sz="2400">
                <a:solidFill>
                  <a:srgbClr val="000000"/>
                </a:solidFill>
                <a:latin typeface="Helvetica Neue"/>
                <a:ea typeface="Helvetica Neue"/>
                <a:cs typeface="Helvetica Neue"/>
              </a:defRPr>
            </a:pPr>
            <a:r>
              <a:t>펠렛 영향·세척</a:t>
            </a:r>
          </a:p>
          <a:p xmlns:a="http://schemas.openxmlformats.org/drawingml/2006/main">
            <a:pPr algn="l">
              <a:buNone/>
              <a:defRPr sz="2400">
                <a:solidFill>
                  <a:srgbClr val="000000"/>
                </a:solidFill>
                <a:latin typeface="Helvetica Neue"/>
                <a:ea typeface="Helvetica Neue"/>
                <a:cs typeface="Helvetica Neue"/>
              </a:defRPr>
            </a:pPr>
            <a:r>
              <a:t>변경관리</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공급·회수</a:t>
            </a:r>
          </a:p>
          <a:p xmlns:a="http://schemas.openxmlformats.org/drawingml/2006/main">
            <a:pPr algn="l">
              <a:buNone/>
              <a:defRPr sz="2400">
                <a:solidFill>
                  <a:srgbClr val="000000"/>
                </a:solidFill>
                <a:latin typeface="Helvetica Neue"/>
                <a:ea typeface="Helvetica Neue"/>
                <a:cs typeface="Helvetica Neue"/>
              </a:defRPr>
            </a:pPr>
            <a:r>
              <a:t>lot 추적·리콜</a:t>
            </a:r>
          </a:p>
          <a:p xmlns:a="http://schemas.openxmlformats.org/drawingml/2006/main">
            <a:pPr algn="l">
              <a:buNone/>
              <a:defRPr sz="2400">
                <a:solidFill>
                  <a:srgbClr val="000000"/>
                </a:solidFill>
                <a:latin typeface="Helvetica Neue"/>
                <a:ea typeface="Helvetica Neue"/>
                <a:cs typeface="Helvetica Neue"/>
              </a:defRPr>
            </a:pPr>
            <a:r>
              <a:t>MOQ(최소주문량)</a:t>
            </a:r>
          </a:p>
          <a:p xmlns:a="http://schemas.openxmlformats.org/drawingml/2006/main">
            <a:pPr algn="l">
              <a:buNone/>
              <a:defRPr sz="2400">
                <a:solidFill>
                  <a:srgbClr val="000000"/>
                </a:solidFill>
                <a:latin typeface="Helvetica Neue"/>
                <a:ea typeface="Helvetica Neue"/>
                <a:cs typeface="Helvetica Neue"/>
              </a:defRPr>
            </a:pPr>
            <a:r>
              <a:t>리드타임·반품</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08 | REGULATORY &amp; QA GATES</a:t>
            </a:r>
          </a:p>
        </p:txBody>
      </p:sp>
    </p:spTree>
    <p:extLst>
      <p:ext uri="{BB962C8B-B14F-4D97-AF65-F5344CB8AC3E}">
        <p14:creationId xmlns:p14="http://schemas.microsoft.com/office/powerpoint/2010/main" val="1604558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9</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GABA 가능성은 보이지만, 효과는 축종·제형·용량마다 달랐다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젖소 열스트레스</a:t>
            </a:r>
          </a:p>
          <a:p xmlns:a="http://schemas.openxmlformats.org/drawingml/2006/main">
            <a:pPr algn="l">
              <a:buNone/>
              <a:defRPr sz="2400">
                <a:solidFill>
                  <a:srgbClr val="000000"/>
                </a:solidFill>
                <a:latin typeface="Helvetica Neue"/>
                <a:ea typeface="Helvetica Neue"/>
                <a:cs typeface="Helvetica Neue"/>
              </a:defRPr>
            </a:pPr>
            <a:r>
              <a:t>RP-GABA·18두</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넙치 염분스트레스</a:t>
            </a:r>
          </a:p>
          <a:p xmlns:a="http://schemas.openxmlformats.org/drawingml/2006/main">
            <a:pPr algn="l">
              <a:buNone/>
              <a:defRPr sz="2400">
                <a:solidFill>
                  <a:srgbClr val="000000"/>
                </a:solidFill>
                <a:latin typeface="Helvetica Neue"/>
                <a:ea typeface="Helvetica Neue"/>
                <a:cs typeface="Helvetica Neue"/>
              </a:defRPr>
            </a:pPr>
            <a:r>
              <a:t>8주·9수조</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비육 한우</a:t>
            </a:r>
          </a:p>
          <a:p xmlns:a="http://schemas.openxmlformats.org/drawingml/2006/main">
            <a:pPr algn="l">
              <a:buNone/>
              <a:defRPr sz="2400">
                <a:solidFill>
                  <a:srgbClr val="000000"/>
                </a:solidFill>
                <a:latin typeface="Helvetica Neue"/>
                <a:ea typeface="Helvetica Neue"/>
                <a:cs typeface="Helvetica Neue"/>
              </a:defRPr>
            </a:pPr>
            <a:r>
              <a:t>21두</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산유량 비유의</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초기 증체 유의</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성장 개선 비유의</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젖소: 일부 유성분 유의 · 한우: 도체지표 비유의 · 넙치: 성장·삼투조절 비유의</a:t>
            </a:r>
          </a:p>
          <a:p xmlns:a="http://schemas.openxmlformats.org/drawingml/2006/main">
            <a:pPr algn="l">
              <a:buNone/>
              <a:defRPr sz="1600">
                <a:solidFill>
                  <a:srgbClr val="000000"/>
                </a:solidFill>
                <a:latin typeface="Helvetica Neue"/>
                <a:ea typeface="Helvetica Neue"/>
                <a:cs typeface="Helvetica Neue"/>
              </a:defRPr>
            </a:pPr>
            <a:r>
              <a:t>※ RP-GABA=반추위 보호 GABA · 제품특이 PoV 필요</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09 | EVIDENCE REALITY</a:t>
            </a:r>
          </a:p>
        </p:txBody>
      </p:sp>
    </p:spTree>
    <p:extLst>
      <p:ext uri="{BB962C8B-B14F-4D97-AF65-F5344CB8AC3E}">
        <p14:creationId xmlns:p14="http://schemas.microsoft.com/office/powerpoint/2010/main" val="136431717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10</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첫 PoV는 한 축종·한 제형·한 경제효과로 좁힌다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축종</a:t>
            </a:r>
          </a:p>
          <a:p xmlns:a="http://schemas.openxmlformats.org/drawingml/2006/main">
            <a:pPr algn="l">
              <a:buNone/>
              <a:defRPr sz="2400">
                <a:solidFill>
                  <a:srgbClr val="000000"/>
                </a:solidFill>
                <a:latin typeface="Helvetica Neue"/>
                <a:ea typeface="Helvetica Neue"/>
                <a:cs typeface="Helvetica Neue"/>
              </a:defRPr>
            </a:pPr>
            <a:r>
              <a:t>반추동물 1군</a:t>
            </a:r>
          </a:p>
          <a:p xmlns:a="http://schemas.openxmlformats.org/drawingml/2006/main">
            <a:pPr algn="l">
              <a:buNone/>
              <a:defRPr sz="2400">
                <a:solidFill>
                  <a:srgbClr val="000000"/>
                </a:solidFill>
                <a:latin typeface="Helvetica Neue"/>
                <a:ea typeface="Helvetica Neue"/>
                <a:cs typeface="Helvetica Neue"/>
              </a:defRPr>
            </a:pPr>
            <a:r>
              <a:t>열스트레스 상황</a:t>
            </a:r>
          </a:p>
          <a:p xmlns:a="http://schemas.openxmlformats.org/drawingml/2006/main">
            <a:pPr algn="l">
              <a:buNone/>
              <a:defRPr sz="2400">
                <a:solidFill>
                  <a:srgbClr val="000000"/>
                </a:solidFill>
                <a:latin typeface="Helvetica Neue"/>
                <a:ea typeface="Helvetica Neue"/>
                <a:cs typeface="Helvetica Neue"/>
              </a:defRPr>
            </a:pPr>
            <a:r>
              <a:t>고객군 1개</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제형</a:t>
            </a:r>
          </a:p>
          <a:p xmlns:a="http://schemas.openxmlformats.org/drawingml/2006/main">
            <a:pPr algn="l">
              <a:buNone/>
              <a:defRPr sz="2400">
                <a:solidFill>
                  <a:srgbClr val="000000"/>
                </a:solidFill>
                <a:latin typeface="Helvetica Neue"/>
                <a:ea typeface="Helvetica Neue"/>
                <a:cs typeface="Helvetica Neue"/>
              </a:defRPr>
            </a:pPr>
            <a:r>
              <a:t>RP-GABA 우선</a:t>
            </a:r>
          </a:p>
          <a:p xmlns:a="http://schemas.openxmlformats.org/drawingml/2006/main">
            <a:pPr algn="l">
              <a:buNone/>
              <a:defRPr sz="2400">
                <a:solidFill>
                  <a:srgbClr val="000000"/>
                </a:solidFill>
                <a:latin typeface="Helvetica Neue"/>
                <a:ea typeface="Helvetica Neue"/>
                <a:cs typeface="Helvetica Neue"/>
              </a:defRPr>
            </a:pPr>
            <a:r>
              <a:t>활성함량 고정</a:t>
            </a:r>
          </a:p>
          <a:p xmlns:a="http://schemas.openxmlformats.org/drawingml/2006/main">
            <a:pPr algn="l">
              <a:buNone/>
              <a:defRPr sz="2400">
                <a:solidFill>
                  <a:srgbClr val="000000"/>
                </a:solidFill>
                <a:latin typeface="Helvetica Neue"/>
                <a:ea typeface="Helvetica Neue"/>
                <a:cs typeface="Helvetica Neue"/>
              </a:defRPr>
            </a:pPr>
            <a:r>
              <a:t>로트별 안정성</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성과</a:t>
            </a:r>
          </a:p>
          <a:p xmlns:a="http://schemas.openxmlformats.org/drawingml/2006/main">
            <a:pPr algn="l">
              <a:buNone/>
              <a:defRPr sz="2400">
                <a:solidFill>
                  <a:srgbClr val="000000"/>
                </a:solidFill>
                <a:latin typeface="Helvetica Neue"/>
                <a:ea typeface="Helvetica Neue"/>
                <a:cs typeface="Helvetica Neue"/>
              </a:defRPr>
            </a:pPr>
            <a:r>
              <a:t>사료섭취·유성분 중</a:t>
            </a:r>
          </a:p>
          <a:p xmlns:a="http://schemas.openxmlformats.org/drawingml/2006/main">
            <a:pPr algn="l">
              <a:buNone/>
              <a:defRPr sz="2400">
                <a:solidFill>
                  <a:srgbClr val="000000"/>
                </a:solidFill>
                <a:latin typeface="Helvetica Neue"/>
                <a:ea typeface="Helvetica Neue"/>
                <a:cs typeface="Helvetica Neue"/>
              </a:defRPr>
            </a:pPr>
            <a:r>
              <a:t>1차 지표 1개</a:t>
            </a:r>
          </a:p>
          <a:p xmlns:a="http://schemas.openxmlformats.org/drawingml/2006/main">
            <a:pPr algn="l">
              <a:buNone/>
              <a:defRPr sz="2400">
                <a:solidFill>
                  <a:srgbClr val="000000"/>
                </a:solidFill>
                <a:latin typeface="Helvetica Neue"/>
                <a:ea typeface="Helvetica Neue"/>
                <a:cs typeface="Helvetica Neue"/>
              </a:defRPr>
            </a:pPr>
            <a:r>
              <a:t>사전 판정기준</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상업 조건</a:t>
            </a:r>
          </a:p>
          <a:p xmlns:a="http://schemas.openxmlformats.org/drawingml/2006/main">
            <a:pPr algn="l">
              <a:buNone/>
              <a:defRPr sz="2400">
                <a:solidFill>
                  <a:srgbClr val="000000"/>
                </a:solidFill>
                <a:latin typeface="Helvetica Neue"/>
                <a:ea typeface="Helvetica Neue"/>
                <a:cs typeface="Helvetica Neue"/>
              </a:defRPr>
            </a:pPr>
            <a:r>
              <a:t>유료 PoV</a:t>
            </a:r>
          </a:p>
          <a:p xmlns:a="http://schemas.openxmlformats.org/drawingml/2006/main">
            <a:pPr algn="l">
              <a:buNone/>
              <a:defRPr sz="2400">
                <a:solidFill>
                  <a:srgbClr val="000000"/>
                </a:solidFill>
                <a:latin typeface="Helvetica Neue"/>
                <a:ea typeface="Helvetica Neue"/>
                <a:cs typeface="Helvetica Neue"/>
              </a:defRPr>
            </a:pPr>
            <a:r>
              <a:t>가격·중단기준</a:t>
            </a:r>
          </a:p>
          <a:p xmlns:a="http://schemas.openxmlformats.org/drawingml/2006/main">
            <a:pPr algn="l">
              <a:buNone/>
              <a:defRPr sz="2400">
                <a:solidFill>
                  <a:srgbClr val="000000"/>
                </a:solidFill>
                <a:latin typeface="Helvetica Neue"/>
                <a:ea typeface="Helvetica Neue"/>
                <a:cs typeface="Helvetica Neue"/>
              </a:defRPr>
            </a:pPr>
            <a:r>
              <a:t>반복 PO 트리거</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10 | FIRST BEACHHEAD</a:t>
            </a:r>
          </a:p>
        </p:txBody>
      </p:sp>
    </p:spTree>
    <p:extLst>
      <p:ext uri="{BB962C8B-B14F-4D97-AF65-F5344CB8AC3E}">
        <p14:creationId xmlns:p14="http://schemas.microsoft.com/office/powerpoint/2010/main" val="1604558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1D34A078-3FBA-46F8-85A2-00826C88368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C93A012E-BCFE-4293-BD7E-DC4D2D17E54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9F28272-6F11-465D-9090-5F1883B816E6}"/>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469D7F27-099D-43CA-8CFF-C4952289DBC4}"/>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11</a:t>
            </a:r>
          </a:p>
        </p:txBody>
      </p:sp>
      <p:sp>
        <p:nvSpPr>
          <p:cNvPr id="5" name="Title-2-5">
            <a:extLst xmlns:a="http://schemas.openxmlformats.org/drawingml/2006/main">
              <a:ext uri="{FF2B5EF4-FFF2-40B4-BE49-F238E27FC236}">
                <a16:creationId xmlns:a16="http://schemas.microsoft.com/office/drawing/2014/main" id="{1C1F8AD9-AE8E-4562-AC37-26708243BFC1}"/>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마스터 공헌 8,760원/kg은 목표—견적이 연결돼야 성립한다</a:t>
            </a:r>
          </a:p>
        </p:txBody>
      </p:sp>
      <p:sp>
        <p:nvSpPr>
          <p:cNvPr id="6" name="Content-Placeholder-9-6">
            <a:extLst xmlns:a="http://schemas.openxmlformats.org/drawingml/2006/main">
              <a:ext uri="{FF2B5EF4-FFF2-40B4-BE49-F238E27FC236}">
                <a16:creationId xmlns:a16="http://schemas.microsoft.com/office/drawing/2014/main" id="{1D1250B4-54F3-4782-A4B2-EE1F200D3ABD}"/>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목표 판매가</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7" name="Content-Placeholder-10-7">
            <a:extLst xmlns:a="http://schemas.openxmlformats.org/drawingml/2006/main">
              <a:ext uri="{FF2B5EF4-FFF2-40B4-BE49-F238E27FC236}">
                <a16:creationId xmlns:a16="http://schemas.microsoft.com/office/drawing/2014/main" id="{34AFEE71-7610-48B7-8F8F-99A57BE66387}"/>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단위공헌</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8" name="Content-Placeholder-11-8">
            <a:extLst xmlns:a="http://schemas.openxmlformats.org/drawingml/2006/main">
              <a:ext uri="{FF2B5EF4-FFF2-40B4-BE49-F238E27FC236}">
                <a16:creationId xmlns:a16="http://schemas.microsoft.com/office/drawing/2014/main" id="{5E11AEC0-D14C-486A-85E7-0A0C6F0810EC}"/>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잠정 원가</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9" name="Content-Placeholder-9-9">
            <a:extLst xmlns:a="http://schemas.openxmlformats.org/drawingml/2006/main">
              <a:ext uri="{FF2B5EF4-FFF2-40B4-BE49-F238E27FC236}">
                <a16:creationId xmlns:a16="http://schemas.microsoft.com/office/drawing/2014/main" id="{A2AE840C-7F28-496B-A49B-159987874C5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18,000</a:t>
            </a:r>
          </a:p>
        </p:txBody>
      </p:sp>
      <p:sp>
        <p:nvSpPr>
          <p:cNvPr id="10" name="Content-Placeholder-9-10">
            <a:extLst xmlns:a="http://schemas.openxmlformats.org/drawingml/2006/main">
              <a:ext uri="{FF2B5EF4-FFF2-40B4-BE49-F238E27FC236}">
                <a16:creationId xmlns:a16="http://schemas.microsoft.com/office/drawing/2014/main" id="{AA702D10-C695-463A-A3C0-DBF5E496DB6B}"/>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9,240</a:t>
            </a:r>
          </a:p>
        </p:txBody>
      </p:sp>
      <p:sp>
        <p:nvSpPr>
          <p:cNvPr id="11" name="Content-Placeholder-9-11">
            <a:extLst xmlns:a="http://schemas.openxmlformats.org/drawingml/2006/main">
              <a:ext uri="{FF2B5EF4-FFF2-40B4-BE49-F238E27FC236}">
                <a16:creationId xmlns:a16="http://schemas.microsoft.com/office/drawing/2014/main" id="{EAF87244-54F7-4E88-B704-D25904851B8C}"/>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+8,760</a:t>
            </a:r>
          </a:p>
        </p:txBody>
      </p:sp>
      <p:sp>
        <p:nvSpPr>
          <p:cNvPr id="12" name="Content-Placeholder-15-12">
            <a:extLst xmlns:a="http://schemas.openxmlformats.org/drawingml/2006/main">
              <a:ext uri="{FF2B5EF4-FFF2-40B4-BE49-F238E27FC236}">
                <a16:creationId xmlns:a16="http://schemas.microsoft.com/office/drawing/2014/main" id="{8E8A1894-A69C-460E-A838-F3D9255760E7}"/>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18,000−9,240=8,760원/kg · 공헌율 48.7%</a:t>
            </a:r>
          </a:p>
          <a:p xmlns:a="http://schemas.openxmlformats.org/drawingml/2006/main">
            <a:pPr algn="l">
              <a:buNone/>
              <a:defRPr sz="1600">
                <a:solidFill>
                  <a:srgbClr val="000000"/>
                </a:solidFill>
                <a:latin typeface="Helvetica Neue"/>
                <a:ea typeface="Helvetica Neue"/>
                <a:cs typeface="Helvetica Neue"/>
              </a:defRPr>
            </a:pPr>
            <a:r>
              <a:t>※ 9,240원/kg은 원본 가정; 원가 브리지 미완성</a:t>
            </a:r>
          </a:p>
        </p:txBody>
      </p:sp>
      <p:sp>
        <p:nvSpPr>
          <p:cNvPr id="13" name="brand-rule-11">
            <a:extLst xmlns:a="http://schemas.openxmlformats.org/drawingml/2006/main">
              <a:ext uri="{FF2B5EF4-FFF2-40B4-BE49-F238E27FC236}">
                <a16:creationId xmlns:a16="http://schemas.microsoft.com/office/drawing/2014/main" id="{FBF57E6B-569F-4078-95A6-F778D02C3ED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1">
            <a:extLst xmlns:a="http://schemas.openxmlformats.org/drawingml/2006/main">
              <a:ext uri="{FF2B5EF4-FFF2-40B4-BE49-F238E27FC236}">
                <a16:creationId xmlns:a16="http://schemas.microsoft.com/office/drawing/2014/main" id="{468E5B88-2580-448F-842A-814D5408AF5E}"/>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11 | MASTER ECONOMICS</a:t>
            </a:r>
          </a:p>
        </p:txBody>
      </p:sp>
    </p:spTree>
    <p:extLst>
      <p:ext uri="{BB962C8B-B14F-4D97-AF65-F5344CB8AC3E}">
        <p14:creationId xmlns:p14="http://schemas.microsoft.com/office/powerpoint/2010/main" val="162471053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1D34A078-3FBA-46F8-85A2-00826C88368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C93A012E-BCFE-4293-BD7E-DC4D2D17E54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9F28272-6F11-465D-9090-5F1883B816E6}"/>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469D7F27-099D-43CA-8CFF-C4952289DBC4}"/>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12</a:t>
            </a:r>
          </a:p>
        </p:txBody>
      </p:sp>
      <p:sp>
        <p:nvSpPr>
          <p:cNvPr id="5" name="Title-2-5">
            <a:extLst xmlns:a="http://schemas.openxmlformats.org/drawingml/2006/main">
              <a:ext uri="{FF2B5EF4-FFF2-40B4-BE49-F238E27FC236}">
                <a16:creationId xmlns:a16="http://schemas.microsoft.com/office/drawing/2014/main" id="{1C1F8AD9-AE8E-4562-AC37-26708243BFC1}"/>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매트릭스 공헌 4,149원/사료t도 용량과 직접비가 잠겨야 한다</a:t>
            </a:r>
          </a:p>
        </p:txBody>
      </p:sp>
      <p:sp>
        <p:nvSpPr>
          <p:cNvPr id="6" name="Content-Placeholder-9-6">
            <a:extLst xmlns:a="http://schemas.openxmlformats.org/drawingml/2006/main">
              <a:ext uri="{FF2B5EF4-FFF2-40B4-BE49-F238E27FC236}">
                <a16:creationId xmlns:a16="http://schemas.microsoft.com/office/drawing/2014/main" id="{1D1250B4-54F3-4782-A4B2-EE1F200D3ABD}"/>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프로그램 가격</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7" name="Content-Placeholder-10-7">
            <a:extLst xmlns:a="http://schemas.openxmlformats.org/drawingml/2006/main">
              <a:ext uri="{FF2B5EF4-FFF2-40B4-BE49-F238E27FC236}">
                <a16:creationId xmlns:a16="http://schemas.microsoft.com/office/drawing/2014/main" id="{34AFEE71-7610-48B7-8F8F-99A57BE66387}"/>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단위공헌</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8" name="Content-Placeholder-11-8">
            <a:extLst xmlns:a="http://schemas.openxmlformats.org/drawingml/2006/main">
              <a:ext uri="{FF2B5EF4-FFF2-40B4-BE49-F238E27FC236}">
                <a16:creationId xmlns:a16="http://schemas.microsoft.com/office/drawing/2014/main" id="{5E11AEC0-D14C-486A-85E7-0A0C6F0810EC}"/>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직접비</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9" name="Content-Placeholder-9-9">
            <a:extLst xmlns:a="http://schemas.openxmlformats.org/drawingml/2006/main">
              <a:ext uri="{FF2B5EF4-FFF2-40B4-BE49-F238E27FC236}">
                <a16:creationId xmlns:a16="http://schemas.microsoft.com/office/drawing/2014/main" id="{A2AE840C-7F28-496B-A49B-159987874C5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6,000</a:t>
            </a:r>
          </a:p>
        </p:txBody>
      </p:sp>
      <p:sp>
        <p:nvSpPr>
          <p:cNvPr id="10" name="Content-Placeholder-9-10">
            <a:extLst xmlns:a="http://schemas.openxmlformats.org/drawingml/2006/main">
              <a:ext uri="{FF2B5EF4-FFF2-40B4-BE49-F238E27FC236}">
                <a16:creationId xmlns:a16="http://schemas.microsoft.com/office/drawing/2014/main" id="{AA702D10-C695-463A-A3C0-DBF5E496DB6B}"/>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1,851</a:t>
            </a:r>
          </a:p>
        </p:txBody>
      </p:sp>
      <p:sp>
        <p:nvSpPr>
          <p:cNvPr id="11" name="Content-Placeholder-9-11">
            <a:extLst xmlns:a="http://schemas.openxmlformats.org/drawingml/2006/main">
              <a:ext uri="{FF2B5EF4-FFF2-40B4-BE49-F238E27FC236}">
                <a16:creationId xmlns:a16="http://schemas.microsoft.com/office/drawing/2014/main" id="{EAF87244-54F7-4E88-B704-D25904851B8C}"/>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+4,149</a:t>
            </a:r>
          </a:p>
        </p:txBody>
      </p:sp>
      <p:sp>
        <p:nvSpPr>
          <p:cNvPr id="12" name="Content-Placeholder-15-12">
            <a:extLst xmlns:a="http://schemas.openxmlformats.org/drawingml/2006/main">
              <a:ext uri="{FF2B5EF4-FFF2-40B4-BE49-F238E27FC236}">
                <a16:creationId xmlns:a16="http://schemas.microsoft.com/office/drawing/2014/main" id="{8E8A1894-A69C-460E-A838-F3D9255760E7}"/>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제품비 351 + 현장·채널비 1,500 = 직접비 1,851원</a:t>
            </a:r>
          </a:p>
          <a:p xmlns:a="http://schemas.openxmlformats.org/drawingml/2006/main">
            <a:pPr algn="l">
              <a:buNone/>
              <a:defRPr sz="1600">
                <a:solidFill>
                  <a:srgbClr val="000000"/>
                </a:solidFill>
                <a:latin typeface="Helvetica Neue"/>
                <a:ea typeface="Helvetica Neue"/>
                <a:cs typeface="Helvetica Neue"/>
              </a:defRPr>
            </a:pPr>
            <a:r>
              <a:t>※ 75g/사료t과 4,681.8원/kg은 원본 가정</a:t>
            </a:r>
          </a:p>
        </p:txBody>
      </p:sp>
      <p:sp>
        <p:nvSpPr>
          <p:cNvPr id="13" name="brand-rule-11">
            <a:extLst xmlns:a="http://schemas.openxmlformats.org/drawingml/2006/main">
              <a:ext uri="{FF2B5EF4-FFF2-40B4-BE49-F238E27FC236}">
                <a16:creationId xmlns:a16="http://schemas.microsoft.com/office/drawing/2014/main" id="{FBF57E6B-569F-4078-95A6-F778D02C3ED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1">
            <a:extLst xmlns:a="http://schemas.openxmlformats.org/drawingml/2006/main">
              <a:ext uri="{FF2B5EF4-FFF2-40B4-BE49-F238E27FC236}">
                <a16:creationId xmlns:a16="http://schemas.microsoft.com/office/drawing/2014/main" id="{468E5B88-2580-448F-842A-814D5408AF5E}"/>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12 | MATRIX ECONOMICS</a:t>
            </a:r>
          </a:p>
        </p:txBody>
      </p:sp>
    </p:spTree>
    <p:extLst>
      <p:ext uri="{BB962C8B-B14F-4D97-AF65-F5344CB8AC3E}">
        <p14:creationId xmlns:p14="http://schemas.microsoft.com/office/powerpoint/2010/main" val="162471053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13</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18,000원/t 고객가치는 유료 대조군에서만 증명된다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손실회피 가정</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고객 순가치</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프로그램 가격</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18,000</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6,000</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+12,000</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18,000−6,000=12,000원 · B/C=3.0배</a:t>
            </a:r>
          </a:p>
          <a:p xmlns:a="http://schemas.openxmlformats.org/drawingml/2006/main">
            <a:pPr algn="l">
              <a:buNone/>
              <a:defRPr sz="1600">
                <a:solidFill>
                  <a:srgbClr val="000000"/>
                </a:solidFill>
                <a:latin typeface="Helvetica Neue"/>
                <a:ea typeface="Helvetica Neue"/>
                <a:cs typeface="Helvetica Neue"/>
              </a:defRPr>
            </a:pPr>
            <a:r>
              <a:t>※ B/C=편익/비용 비율 · 현재는 가설, 유료 대조군에서 검증</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13 | CUSTOMER VALUE HYPOTHESIS</a:t>
            </a:r>
          </a:p>
        </p:txBody>
      </p:sp>
    </p:spTree>
    <p:extLst>
      <p:ext uri="{BB962C8B-B14F-4D97-AF65-F5344CB8AC3E}">
        <p14:creationId xmlns:p14="http://schemas.microsoft.com/office/powerpoint/2010/main" val="136431717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14</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첫 반복판매 시나리오는 매출 6.60억, 공헌 3.83억이다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 마스터 공헌</a:t>
            </a:r>
          </a:p>
          <a:p xmlns:a="http://schemas.openxmlformats.org/drawingml/2006/main">
            <a:pPr algn="l">
              <a:buNone/>
              <a:defRPr sz="2400">
                <a:solidFill>
                  <a:srgbClr val="000000"/>
                </a:solidFill>
                <a:latin typeface="Helvetica Neue"/>
                <a:ea typeface="Helvetica Neue"/>
                <a:cs typeface="Helvetica Neue"/>
              </a:defRPr>
            </a:pPr>
            <a:r>
              <a:t>20t×8,760원/kg</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합계 공헌</a:t>
            </a:r>
          </a:p>
          <a:p xmlns:a="http://schemas.openxmlformats.org/drawingml/2006/main">
            <a:pPr algn="l">
              <a:buNone/>
              <a:defRPr sz="2400">
                <a:solidFill>
                  <a:srgbClr val="000000"/>
                </a:solidFill>
                <a:latin typeface="Helvetica Neue"/>
                <a:ea typeface="Helvetica Neue"/>
                <a:cs typeface="Helvetica Neue"/>
              </a:defRPr>
            </a:pPr>
            <a:r>
              <a:t>총매출 6.60억원</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매트릭스 공헌</a:t>
            </a:r>
          </a:p>
          <a:p xmlns:a="http://schemas.openxmlformats.org/drawingml/2006/main">
            <a:pPr algn="l">
              <a:buNone/>
              <a:defRPr sz="2400">
                <a:solidFill>
                  <a:srgbClr val="000000"/>
                </a:solidFill>
                <a:latin typeface="Helvetica Neue"/>
                <a:ea typeface="Helvetica Neue"/>
                <a:cs typeface="Helvetica Neue"/>
              </a:defRPr>
            </a:pPr>
            <a:r>
              <a:t>5만t×4,149원/사료t</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1.75억원</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2.07억원</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3.83억원</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마스터 매출 3.60억 + 매트릭스 매출 3.00억</a:t>
            </a:r>
          </a:p>
          <a:p xmlns:a="http://schemas.openxmlformats.org/drawingml/2006/main">
            <a:pPr algn="l">
              <a:buNone/>
              <a:defRPr sz="1600">
                <a:solidFill>
                  <a:srgbClr val="000000"/>
                </a:solidFill>
                <a:latin typeface="Helvetica Neue"/>
                <a:ea typeface="Helvetica Neue"/>
                <a:cs typeface="Helvetica Neue"/>
              </a:defRPr>
            </a:pPr>
            <a:r>
              <a:t>※ 실제 PO가 아닌 반복주문 가정 시나리오</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14 | REPEAT SCENARIO</a:t>
            </a:r>
          </a:p>
        </p:txBody>
      </p:sp>
    </p:spTree>
    <p:extLst>
      <p:ext uri="{BB962C8B-B14F-4D97-AF65-F5344CB8AC3E}">
        <p14:creationId xmlns:p14="http://schemas.microsoft.com/office/powerpoint/2010/main" val="136431717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673F532A-4272-4AD1-863A-38B22D8FC8CB}"/>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15</a:t>
            </a:r>
          </a:p>
        </p:txBody>
      </p:sp>
      <p:sp>
        <p:nvSpPr>
          <p:cNvPr id="2" name="Title-10-3">
            <a:extLst xmlns:a="http://schemas.openxmlformats.org/drawingml/2006/main">
              <a:ext uri="{FF2B5EF4-FFF2-40B4-BE49-F238E27FC236}">
                <a16:creationId xmlns:a16="http://schemas.microsoft.com/office/drawing/2014/main" id="{C8F0B7E0-788B-4632-AFF8-75CBD8CA15A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첫 반복판매가 사실이면 브리지 능력의 35%를 사용한다</a:t>
            </a:r>
          </a:p>
        </p:txBody>
      </p:sp>
      <p:sp>
        <p:nvSpPr>
          <p:cNvPr id="3" name="Rounded-Rectangle-36-4">
            <a:extLst xmlns:a="http://schemas.openxmlformats.org/drawingml/2006/main">
              <a:ext uri="{FF2B5EF4-FFF2-40B4-BE49-F238E27FC236}">
                <a16:creationId xmlns:a16="http://schemas.microsoft.com/office/drawing/2014/main" id="{F7A1D57F-EF2D-418C-9C73-2303C9114CC6}"/>
              </a:ext>
            </a:extLst>
          </p:cNvPr>
          <p:cNvSpPr>
            <a:spLocks xmlns:a="http://schemas.openxmlformats.org/drawingml/2006/main" noGrp="1"/>
          </p:cNvSpPr>
          <p:nvPr/>
        </p:nvSpPr>
        <p:spPr>
          <a:xfrm xmlns:a="http://schemas.openxmlformats.org/drawingml/2006/main">
            <a:off x="6272022"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4" name="Content-Placeholder-9-5">
            <a:extLst xmlns:a="http://schemas.openxmlformats.org/drawingml/2006/main">
              <a:ext uri="{FF2B5EF4-FFF2-40B4-BE49-F238E27FC236}">
                <a16:creationId xmlns:a16="http://schemas.microsoft.com/office/drawing/2014/main" id="{409F2D52-88D4-45A2-A354-BBC0108FB8A1}"/>
              </a:ext>
            </a:extLst>
          </p:cNvPr>
          <p:cNvSpPr>
            <a:spLocks xmlns:a="http://schemas.openxmlformats.org/drawingml/2006/main" noGrp="1"/>
          </p:cNvSpPr>
          <p:nvPr/>
        </p:nvSpPr>
        <p:spPr>
          <a:xfrm xmlns:a="http://schemas.openxmlformats.org/drawingml/2006/main">
            <a:off x="6509385"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4.19t</a:t>
            </a:r>
          </a:p>
        </p:txBody>
      </p:sp>
      <p:sp>
        <p:nvSpPr>
          <p:cNvPr id="5" name="Content-Placeholder-15-6">
            <a:extLst xmlns:a="http://schemas.openxmlformats.org/drawingml/2006/main">
              <a:ext uri="{FF2B5EF4-FFF2-40B4-BE49-F238E27FC236}">
                <a16:creationId xmlns:a16="http://schemas.microsoft.com/office/drawing/2014/main" id="{9714F1A2-F61B-4DC0-AAB9-3FCBF3425A93}"/>
              </a:ext>
            </a:extLst>
          </p:cNvPr>
          <p:cNvSpPr>
            <a:spLocks xmlns:a="http://schemas.openxmlformats.org/drawingml/2006/main" noGrp="1"/>
          </p:cNvSpPr>
          <p:nvPr/>
        </p:nvSpPr>
        <p:spPr>
          <a:xfrm xmlns:a="http://schemas.openxmlformats.org/drawingml/2006/main">
            <a:off x="6575965"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첫 모델 필요</a:t>
            </a:r>
          </a:p>
          <a:p xmlns:a="http://schemas.openxmlformats.org/drawingml/2006/main">
            <a:pPr algn="l">
              <a:buNone/>
              <a:defRPr sz="2400">
                <a:solidFill>
                  <a:srgbClr val="000000"/>
                </a:solidFill>
                <a:latin typeface="Helvetica Neue"/>
                <a:ea typeface="Helvetica Neue"/>
                <a:cs typeface="Helvetica Neue"/>
              </a:defRPr>
            </a:pPr>
            <a:r>
              <a:t>활성 GABA/년</a:t>
            </a:r>
          </a:p>
        </p:txBody>
      </p:sp>
      <p:sp>
        <p:nvSpPr>
          <p:cNvPr id="6" name="Rounded-Rectangle-39-7">
            <a:extLst xmlns:a="http://schemas.openxmlformats.org/drawingml/2006/main">
              <a:ext uri="{FF2B5EF4-FFF2-40B4-BE49-F238E27FC236}">
                <a16:creationId xmlns:a16="http://schemas.microsoft.com/office/drawing/2014/main" id="{C0047798-46C2-406A-9B7B-A4732250E1E5}"/>
              </a:ext>
            </a:extLst>
          </p:cNvPr>
          <p:cNvSpPr>
            <a:spLocks xmlns:a="http://schemas.openxmlformats.org/drawingml/2006/main" noGrp="1"/>
          </p:cNvSpPr>
          <p:nvPr/>
        </p:nvSpPr>
        <p:spPr>
          <a:xfrm xmlns:a="http://schemas.openxmlformats.org/drawingml/2006/main">
            <a:off x="9224201"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7" name="Content-Placeholder-9-8">
            <a:extLst xmlns:a="http://schemas.openxmlformats.org/drawingml/2006/main">
              <a:ext uri="{FF2B5EF4-FFF2-40B4-BE49-F238E27FC236}">
                <a16:creationId xmlns:a16="http://schemas.microsoft.com/office/drawing/2014/main" id="{F316EECB-DF1E-45BE-8BBA-588C6D78DC63}"/>
              </a:ext>
            </a:extLst>
          </p:cNvPr>
          <p:cNvSpPr>
            <a:spLocks xmlns:a="http://schemas.openxmlformats.org/drawingml/2006/main" noGrp="1"/>
          </p:cNvSpPr>
          <p:nvPr/>
        </p:nvSpPr>
        <p:spPr>
          <a:xfrm xmlns:a="http://schemas.openxmlformats.org/drawingml/2006/main">
            <a:off x="9461564"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11.94t</a:t>
            </a:r>
          </a:p>
        </p:txBody>
      </p:sp>
      <p:sp>
        <p:nvSpPr>
          <p:cNvPr id="8" name="Content-Placeholder-15-9">
            <a:extLst xmlns:a="http://schemas.openxmlformats.org/drawingml/2006/main">
              <a:ext uri="{FF2B5EF4-FFF2-40B4-BE49-F238E27FC236}">
                <a16:creationId xmlns:a16="http://schemas.microsoft.com/office/drawing/2014/main" id="{2DF94C34-D4F4-4039-8AF7-F69409C5A8CF}"/>
              </a:ext>
            </a:extLst>
          </p:cNvPr>
          <p:cNvSpPr>
            <a:spLocks xmlns:a="http://schemas.openxmlformats.org/drawingml/2006/main" noGrp="1"/>
          </p:cNvSpPr>
          <p:nvPr/>
        </p:nvSpPr>
        <p:spPr>
          <a:xfrm xmlns:a="http://schemas.openxmlformats.org/drawingml/2006/main">
            <a:off x="9528143"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브리지 능력</a:t>
            </a:r>
          </a:p>
          <a:p xmlns:a="http://schemas.openxmlformats.org/drawingml/2006/main">
            <a:pPr algn="l">
              <a:buNone/>
              <a:defRPr sz="2400">
                <a:solidFill>
                  <a:srgbClr val="000000"/>
                </a:solidFill>
                <a:latin typeface="Helvetica Neue"/>
                <a:ea typeface="Helvetica Neue"/>
                <a:cs typeface="Helvetica Neue"/>
              </a:defRPr>
            </a:pPr>
            <a:r>
              <a:t>활성 GABA/년</a:t>
            </a:r>
          </a:p>
        </p:txBody>
      </p:sp>
      <p:sp>
        <p:nvSpPr>
          <p:cNvPr id="9" name="Content-Placeholder-2-10">
            <a:extLst xmlns:a="http://schemas.openxmlformats.org/drawingml/2006/main">
              <a:ext uri="{FF2B5EF4-FFF2-40B4-BE49-F238E27FC236}">
                <a16:creationId xmlns:a16="http://schemas.microsoft.com/office/drawing/2014/main" id="{6B9CA33A-9DE8-4E60-84D8-67F414473DED}"/>
              </a:ext>
            </a:extLst>
          </p:cNvPr>
          <p:cNvSpPr>
            <a:spLocks xmlns:a="http://schemas.openxmlformats.org/drawingml/2006/main" noGrp="1"/>
          </p:cNvSpPr>
          <p:nvPr/>
        </p:nvSpPr>
        <p:spPr>
          <a:xfrm xmlns:a="http://schemas.openxmlformats.org/drawingml/2006/main">
            <a:off x="6261068" y="1955578"/>
            <a:ext cx="5539835" cy="9906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4.19÷11.94=35.1% · 여유 7.76t</a:t>
            </a:r>
          </a:p>
          <a:p xmlns:a="http://schemas.openxmlformats.org/drawingml/2006/main">
            <a:pPr algn="l">
              <a:buNone/>
              <a:defRPr sz="2400">
                <a:solidFill>
                  <a:srgbClr val="000000"/>
                </a:solidFill>
                <a:latin typeface="Helvetica Neue"/>
                <a:ea typeface="Helvetica Neue"/>
                <a:cs typeface="Helvetica Neue"/>
              </a:defRPr>
            </a:pPr>
            <a:r>
              <a:t>※ ‘활성 GABA’ 정의·수율·OEE·OEM 능력 확인 전 공급보장 금지</a:t>
            </a:r>
          </a:p>
        </p:txBody>
      </p:sp>
      <p:graphicFrame>
        <p:nvGraphicFramePr>
          <p:cNvPr id="24" name="Chart"/>
          <p:cNvGraphicFramePr/>
          <p:nvPr/>
        </p:nvGraphicFramePr>
        <p:xfrm>
          <a:off xmlns:a="http://schemas.openxmlformats.org/drawingml/2006/main" x="385858" y="1254728"/>
          <a:ext xmlns:a="http://schemas.openxmlformats.org/drawingml/2006/main" cx="5534216" cy="5024533"/>
        </p:xfrm>
        <a:graphic xmlns:a="http://schemas.openxmlformats.org/drawingml/2006/main">
          <a:graphicData uri="http://schemas.openxmlformats.org/drawingml/2006/chart">
            <c:chart xmlns:r="http://schemas.openxmlformats.org/officeDocument/2006/relationships" xmlns:c="http://schemas.openxmlformats.org/drawingml/2006/chart" r:id="Rf01bd0f3b84f44f1"/>
          </a:graphicData>
        </a:graphic>
      </p:graphicFrame>
      <p:sp>
        <p:nvSpPr>
          <p:cNvPr id="11" name="brand-rule-13">
            <a:extLst xmlns:a="http://schemas.openxmlformats.org/drawingml/2006/main">
              <a:ext uri="{FF2B5EF4-FFF2-40B4-BE49-F238E27FC236}">
                <a16:creationId xmlns:a16="http://schemas.microsoft.com/office/drawing/2014/main" id="{0BD47CD5-4599-4BFF-B057-7CB71052F222}"/>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2" name="brand-footer-13">
            <a:extLst xmlns:a="http://schemas.openxmlformats.org/drawingml/2006/main">
              <a:ext uri="{FF2B5EF4-FFF2-40B4-BE49-F238E27FC236}">
                <a16:creationId xmlns:a16="http://schemas.microsoft.com/office/drawing/2014/main" id="{2ECFDDE6-3722-418B-8E1B-1264083A0EA7}"/>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15 | CAPACITY DISCIPLINE</a:t>
            </a:r>
          </a:p>
        </p:txBody>
      </p:sp>
    </p:spTree>
    <p:extLst>
      <p:ext uri="{BB962C8B-B14F-4D97-AF65-F5344CB8AC3E}">
        <p14:creationId xmlns:p14="http://schemas.microsoft.com/office/powerpoint/2010/main" val="185588583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16</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네 게이트 중 하나라도 열려 있으면 SCALE로 가지 않는다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규제</a:t>
            </a:r>
          </a:p>
          <a:p xmlns:a="http://schemas.openxmlformats.org/drawingml/2006/main">
            <a:pPr algn="l">
              <a:buNone/>
              <a:defRPr sz="2400">
                <a:solidFill>
                  <a:srgbClr val="000000"/>
                </a:solidFill>
                <a:latin typeface="Helvetica Neue"/>
                <a:ea typeface="Helvetica Neue"/>
                <a:cs typeface="Helvetica Neue"/>
              </a:defRPr>
            </a:pPr>
            <a:r>
              <a:t>품목분류·등록경로</a:t>
            </a:r>
          </a:p>
          <a:p xmlns:a="http://schemas.openxmlformats.org/drawingml/2006/main">
            <a:pPr algn="l">
              <a:buNone/>
              <a:defRPr sz="2400">
                <a:solidFill>
                  <a:srgbClr val="000000"/>
                </a:solidFill>
                <a:latin typeface="Helvetica Neue"/>
                <a:ea typeface="Helvetica Neue"/>
                <a:cs typeface="Helvetica Neue"/>
              </a:defRPr>
            </a:pPr>
            <a:r>
              <a:t>표시 가능 문구</a:t>
            </a:r>
          </a:p>
          <a:p xmlns:a="http://schemas.openxmlformats.org/drawingml/2006/main">
            <a:pPr algn="l">
              <a:buNone/>
              <a:defRPr sz="2400">
                <a:solidFill>
                  <a:srgbClr val="000000"/>
                </a:solidFill>
                <a:latin typeface="Helvetica Neue"/>
                <a:ea typeface="Helvetica Neue"/>
                <a:cs typeface="Helvetica Neue"/>
              </a:defRPr>
            </a:pPr>
            <a:r>
              <a:t>미확정이면 STOP</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제품근거</a:t>
            </a:r>
          </a:p>
          <a:p xmlns:a="http://schemas.openxmlformats.org/drawingml/2006/main">
            <a:pPr algn="l">
              <a:buNone/>
              <a:defRPr sz="2400">
                <a:solidFill>
                  <a:srgbClr val="000000"/>
                </a:solidFill>
                <a:latin typeface="Helvetica Neue"/>
                <a:ea typeface="Helvetica Neue"/>
                <a:cs typeface="Helvetica Neue"/>
              </a:defRPr>
            </a:pPr>
            <a:r>
              <a:t>활성함량·안정성</a:t>
            </a:r>
          </a:p>
          <a:p xmlns:a="http://schemas.openxmlformats.org/drawingml/2006/main">
            <a:pPr algn="l">
              <a:buNone/>
              <a:defRPr sz="2400">
                <a:solidFill>
                  <a:srgbClr val="000000"/>
                </a:solidFill>
                <a:latin typeface="Helvetica Neue"/>
                <a:ea typeface="Helvetica Neue"/>
                <a:cs typeface="Helvetica Neue"/>
              </a:defRPr>
            </a:pPr>
            <a:r>
              <a:t>축종별 유효용량</a:t>
            </a:r>
          </a:p>
          <a:p xmlns:a="http://schemas.openxmlformats.org/drawingml/2006/main">
            <a:pPr algn="l">
              <a:buNone/>
              <a:defRPr sz="2400">
                <a:solidFill>
                  <a:srgbClr val="000000"/>
                </a:solidFill>
                <a:latin typeface="Helvetica Neue"/>
                <a:ea typeface="Helvetica Neue"/>
                <a:cs typeface="Helvetica Neue"/>
              </a:defRPr>
            </a:pPr>
            <a:r>
              <a:t>미확정이면 HOLD</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OEM·QA</a:t>
            </a:r>
          </a:p>
          <a:p xmlns:a="http://schemas.openxmlformats.org/drawingml/2006/main">
            <a:pPr algn="l">
              <a:buNone/>
              <a:defRPr sz="2400">
                <a:solidFill>
                  <a:srgbClr val="000000"/>
                </a:solidFill>
                <a:latin typeface="Helvetica Neue"/>
                <a:ea typeface="Helvetica Neue"/>
                <a:cs typeface="Helvetica Neue"/>
              </a:defRPr>
            </a:pPr>
            <a:r>
              <a:t>실견적·MOQ·리드타임</a:t>
            </a:r>
          </a:p>
          <a:p xmlns:a="http://schemas.openxmlformats.org/drawingml/2006/main">
            <a:pPr algn="l">
              <a:buNone/>
              <a:defRPr sz="2400">
                <a:solidFill>
                  <a:srgbClr val="000000"/>
                </a:solidFill>
                <a:latin typeface="Helvetica Neue"/>
                <a:ea typeface="Helvetica Neue"/>
                <a:cs typeface="Helvetica Neue"/>
              </a:defRPr>
            </a:pPr>
            <a:r>
              <a:t>QA Agreement</a:t>
            </a:r>
          </a:p>
          <a:p xmlns:a="http://schemas.openxmlformats.org/drawingml/2006/main">
            <a:pPr algn="l">
              <a:buNone/>
              <a:defRPr sz="2400">
                <a:solidFill>
                  <a:srgbClr val="000000"/>
                </a:solidFill>
                <a:latin typeface="Helvetica Neue"/>
                <a:ea typeface="Helvetica Neue"/>
                <a:cs typeface="Helvetica Neue"/>
              </a:defRPr>
            </a:pPr>
            <a:r>
              <a:t>미합의면 HOLD</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상업검증</a:t>
            </a:r>
          </a:p>
          <a:p xmlns:a="http://schemas.openxmlformats.org/drawingml/2006/main">
            <a:pPr algn="l">
              <a:buNone/>
              <a:defRPr sz="2400">
                <a:solidFill>
                  <a:srgbClr val="000000"/>
                </a:solidFill>
                <a:latin typeface="Helvetica Neue"/>
                <a:ea typeface="Helvetica Neue"/>
                <a:cs typeface="Helvetica Neue"/>
              </a:defRPr>
            </a:pPr>
            <a:r>
              <a:t>유료 PoV 2건</a:t>
            </a:r>
          </a:p>
          <a:p xmlns:a="http://schemas.openxmlformats.org/drawingml/2006/main">
            <a:pPr algn="l">
              <a:buNone/>
              <a:defRPr sz="2400">
                <a:solidFill>
                  <a:srgbClr val="000000"/>
                </a:solidFill>
                <a:latin typeface="Helvetica Neue"/>
                <a:ea typeface="Helvetica Neue"/>
                <a:cs typeface="Helvetica Neue"/>
              </a:defRPr>
            </a:pPr>
            <a:r>
              <a:t>반복 PO 트리거</a:t>
            </a:r>
          </a:p>
          <a:p xmlns:a="http://schemas.openxmlformats.org/drawingml/2006/main">
            <a:pPr algn="l">
              <a:buNone/>
              <a:defRPr sz="2400">
                <a:solidFill>
                  <a:srgbClr val="000000"/>
                </a:solidFill>
                <a:latin typeface="Helvetica Neue"/>
                <a:ea typeface="Helvetica Neue"/>
                <a:cs typeface="Helvetica Neue"/>
              </a:defRPr>
            </a:pPr>
            <a:r>
              <a:t>증빙 없으면 STOP</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16 | STOP-LOSS GATES</a:t>
            </a:r>
          </a:p>
        </p:txBody>
      </p:sp>
    </p:spTree>
    <p:extLst>
      <p:ext uri="{BB962C8B-B14F-4D97-AF65-F5344CB8AC3E}">
        <p14:creationId xmlns:p14="http://schemas.microsoft.com/office/powerpoint/2010/main" val="160455868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17</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90일 안에 네 열린 게이트를 유료 PO로 바꾼다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0–30일</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31–60일</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61–90일</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 잠금</a:t>
            </a:r>
          </a:p>
          <a:p xmlns:a="http://schemas.openxmlformats.org/drawingml/2006/main">
            <a:pPr algn="l">
              <a:buNone/>
              <a:defRPr sz="2400">
                <a:solidFill>
                  <a:srgbClr val="000000"/>
                </a:solidFill>
                <a:latin typeface="Helvetica Neue"/>
                <a:ea typeface="Helvetica Neue"/>
                <a:cs typeface="Helvetica Neue"/>
              </a:defRPr>
            </a:pPr>
            <a:r>
              <a:t>시험생산·균일도</a:t>
            </a:r>
          </a:p>
          <a:p xmlns:a="http://schemas.openxmlformats.org/drawingml/2006/main">
            <a:pPr algn="l">
              <a:buNone/>
              <a:defRPr sz="2400">
                <a:solidFill>
                  <a:srgbClr val="000000"/>
                </a:solidFill>
                <a:latin typeface="Helvetica Neue"/>
                <a:ea typeface="Helvetica Neue"/>
                <a:cs typeface="Helvetica Neue"/>
              </a:defRPr>
            </a:pPr>
            <a:r>
              <a:t>안정성·CoA</a:t>
            </a:r>
          </a:p>
          <a:p xmlns:a="http://schemas.openxmlformats.org/drawingml/2006/main">
            <a:pPr algn="l">
              <a:buNone/>
              <a:defRPr sz="2400">
                <a:solidFill>
                  <a:srgbClr val="000000"/>
                </a:solidFill>
                <a:latin typeface="Helvetica Neue"/>
                <a:ea typeface="Helvetica Neue"/>
                <a:cs typeface="Helvetica Neue"/>
              </a:defRPr>
            </a:pPr>
            <a:r>
              <a:t>유료 PoV 프로토콜</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경로 잠금</a:t>
            </a:r>
          </a:p>
          <a:p xmlns:a="http://schemas.openxmlformats.org/drawingml/2006/main">
            <a:pPr algn="l">
              <a:buNone/>
              <a:defRPr sz="2400">
                <a:solidFill>
                  <a:srgbClr val="000000"/>
                </a:solidFill>
                <a:latin typeface="Helvetica Neue"/>
                <a:ea typeface="Helvetica Neue"/>
                <a:cs typeface="Helvetica Neue"/>
              </a:defRPr>
            </a:pPr>
            <a:r>
              <a:t>품목분류 사전검토</a:t>
            </a:r>
          </a:p>
          <a:p xmlns:a="http://schemas.openxmlformats.org/drawingml/2006/main">
            <a:pPr algn="l">
              <a:buNone/>
              <a:defRPr sz="2400">
                <a:solidFill>
                  <a:srgbClr val="000000"/>
                </a:solidFill>
                <a:latin typeface="Helvetica Neue"/>
                <a:ea typeface="Helvetica Neue"/>
                <a:cs typeface="Helvetica Neue"/>
              </a:defRPr>
            </a:pPr>
            <a:r>
              <a:t>활성함량·제형 확정</a:t>
            </a:r>
          </a:p>
          <a:p xmlns:a="http://schemas.openxmlformats.org/drawingml/2006/main">
            <a:pPr algn="l">
              <a:buNone/>
              <a:defRPr sz="2400">
                <a:solidFill>
                  <a:srgbClr val="000000"/>
                </a:solidFill>
                <a:latin typeface="Helvetica Neue"/>
                <a:ea typeface="Helvetica Neue"/>
                <a:cs typeface="Helvetica Neue"/>
              </a:defRPr>
            </a:pPr>
            <a:r>
              <a:t>OEM 2곳 RFI</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상업 잠금</a:t>
            </a:r>
          </a:p>
          <a:p xmlns:a="http://schemas.openxmlformats.org/drawingml/2006/main">
            <a:pPr algn="l">
              <a:buNone/>
              <a:defRPr sz="2400">
                <a:solidFill>
                  <a:srgbClr val="000000"/>
                </a:solidFill>
                <a:latin typeface="Helvetica Neue"/>
                <a:ea typeface="Helvetica Neue"/>
                <a:cs typeface="Helvetica Neue"/>
              </a:defRPr>
            </a:pPr>
            <a:r>
              <a:t>첫 유료 PO</a:t>
            </a:r>
          </a:p>
          <a:p xmlns:a="http://schemas.openxmlformats.org/drawingml/2006/main">
            <a:pPr algn="l">
              <a:buNone/>
              <a:defRPr sz="2400">
                <a:solidFill>
                  <a:srgbClr val="000000"/>
                </a:solidFill>
                <a:latin typeface="Helvetica Neue"/>
                <a:ea typeface="Helvetica Neue"/>
                <a:cs typeface="Helvetica Neue"/>
              </a:defRPr>
            </a:pPr>
            <a:r>
              <a:t>반복주문 조건</a:t>
            </a:r>
          </a:p>
          <a:p xmlns:a="http://schemas.openxmlformats.org/drawingml/2006/main">
            <a:pPr algn="l">
              <a:buNone/>
              <a:defRPr sz="2400">
                <a:solidFill>
                  <a:srgbClr val="000000"/>
                </a:solidFill>
                <a:latin typeface="Helvetica Neue"/>
                <a:ea typeface="Helvetica Neue"/>
                <a:cs typeface="Helvetica Neue"/>
              </a:defRPr>
            </a:pPr>
            <a:r>
              <a:t>실제 원가 GO/NO-GO</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17 | 90-DAY VALIDATION</a:t>
            </a:r>
          </a:p>
        </p:txBody>
      </p:sp>
    </p:spTree>
    <p:extLst>
      <p:ext uri="{BB962C8B-B14F-4D97-AF65-F5344CB8AC3E}">
        <p14:creationId xmlns:p14="http://schemas.microsoft.com/office/powerpoint/2010/main" val="116188389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93582F7D-404D-46AB-80D1-FE06EE84CD39}"/>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4,560만원 집행 전,</a:t>
            </a:r>
          </a:p>
          <a:p xmlns:a="http://schemas.openxmlformats.org/drawingml/2006/main">
            <a:pPr algn="l">
              <a:buNone/>
              <a:defRPr sz="6000">
                <a:solidFill>
                  <a:srgbClr val="000000"/>
                </a:solidFill>
                <a:latin typeface="Helvetica Neue"/>
                <a:ea typeface="Helvetica Neue"/>
                <a:cs typeface="Helvetica Neue"/>
              </a:defRPr>
            </a:pPr>
            <a:r>
              <a:t>네 증빙부터 승인해 주십시오</a:t>
            </a:r>
          </a:p>
        </p:txBody>
      </p:sp>
      <p:sp>
        <p:nvSpPr>
          <p:cNvPr id="2" name="Subtitle-4-2">
            <a:extLst xmlns:a="http://schemas.openxmlformats.org/drawingml/2006/main">
              <a:ext uri="{FF2B5EF4-FFF2-40B4-BE49-F238E27FC236}">
                <a16:creationId xmlns:a16="http://schemas.microsoft.com/office/drawing/2014/main" id="{6DBE01A0-2CC5-41DA-85B6-ED57A07E76EC}"/>
              </a:ext>
            </a:extLst>
          </p:cNvPr>
          <p:cNvSpPr>
            <a:spLocks xmlns:a="http://schemas.openxmlformats.org/drawingml/2006/main" noGrp="1"/>
          </p:cNvSpPr>
          <p:nvPr/>
        </p:nvSpPr>
        <p:spPr>
          <a:xfrm xmlns:a="http://schemas.openxmlformats.org/drawingml/2006/main">
            <a:off x="393668" y="4973288"/>
            <a:ext cx="10953750"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Helvetica Neue"/>
                <a:ea typeface="Helvetica Neue"/>
                <a:cs typeface="Helvetica Neue"/>
              </a:defRPr>
            </a:pPr>
            <a:r>
              <a:t>① 품목분류·표시 문구 사전검토  ② 제품특이 CoA·안정성·유효용량</a:t>
            </a:r>
          </a:p>
          <a:p xmlns:a="http://schemas.openxmlformats.org/drawingml/2006/main">
            <a:pPr algn="l">
              <a:buNone/>
              <a:defRPr sz="2100">
                <a:solidFill>
                  <a:srgbClr val="000000"/>
                </a:solidFill>
                <a:latin typeface="Helvetica Neue"/>
                <a:ea typeface="Helvetica Neue"/>
                <a:cs typeface="Helvetica Neue"/>
              </a:defRPr>
            </a:pPr>
            <a:r>
              <a:t>③ OEM 2곳 실견적·QA Agreement  ④ 유료 PoV와 반복 PO 트리거</a:t>
            </a:r>
          </a:p>
        </p:txBody>
      </p:sp>
      <p:sp>
        <p:nvSpPr>
          <p:cNvPr id="3" name="Subtitle-4-3">
            <a:extLst xmlns:a="http://schemas.openxmlformats.org/drawingml/2006/main">
              <a:ext uri="{FF2B5EF4-FFF2-40B4-BE49-F238E27FC236}">
                <a16:creationId xmlns:a16="http://schemas.microsoft.com/office/drawing/2014/main" id="{83CFF434-0D8D-452B-9588-51118CD257D7}"/>
              </a:ext>
            </a:extLst>
          </p:cNvPr>
          <p:cNvSpPr>
            <a:spLocks xmlns:a="http://schemas.openxmlformats.org/drawingml/2006/main" noGrp="1"/>
          </p:cNvSpPr>
          <p:nvPr/>
        </p:nvSpPr>
        <p:spPr>
          <a:xfrm xmlns:a="http://schemas.openxmlformats.org/drawingml/2006/main">
            <a:off x="393668" y="392240"/>
            <a:ext cx="1612868"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DECISION · VALIDATE, THEN SCALE</a:t>
            </a:r>
          </a:p>
        </p:txBody>
      </p:sp>
      <p:sp>
        <p:nvSpPr>
          <p:cNvPr id="4" name="brand-rule-19">
            <a:extLst xmlns:a="http://schemas.openxmlformats.org/drawingml/2006/main">
              <a:ext uri="{FF2B5EF4-FFF2-40B4-BE49-F238E27FC236}">
                <a16:creationId xmlns:a16="http://schemas.microsoft.com/office/drawing/2014/main" id="{7AAF7002-EC9D-469C-84D7-2EC7F0804319}"/>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19">
            <a:extLst xmlns:a="http://schemas.openxmlformats.org/drawingml/2006/main">
              <a:ext uri="{FF2B5EF4-FFF2-40B4-BE49-F238E27FC236}">
                <a16:creationId xmlns:a16="http://schemas.microsoft.com/office/drawing/2014/main" id="{5673E306-1329-4C06-B385-21CE77F2D44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18 | DECISION ASK</a:t>
            </a:r>
          </a:p>
        </p:txBody>
      </p:sp>
    </p:spTree>
    <p:extLst>
      <p:ext uri="{BB962C8B-B14F-4D97-AF65-F5344CB8AC3E}">
        <p14:creationId xmlns:p14="http://schemas.microsoft.com/office/powerpoint/2010/main" val="195137840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19</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APPENDIX · 정의·산식·출처·면책</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용어</a:t>
            </a:r>
          </a:p>
          <a:p xmlns:a="http://schemas.openxmlformats.org/drawingml/2006/main">
            <a:pPr algn="l">
              <a:buNone/>
              <a:defRPr sz="2400">
                <a:solidFill>
                  <a:srgbClr val="000000"/>
                </a:solidFill>
                <a:latin typeface="Helvetica Neue"/>
                <a:ea typeface="Helvetica Neue"/>
                <a:cs typeface="Helvetica Neue"/>
              </a:defRPr>
            </a:pPr>
            <a:r>
              <a:t>GABA=감마아미노부티르산</a:t>
            </a:r>
          </a:p>
          <a:p xmlns:a="http://schemas.openxmlformats.org/drawingml/2006/main">
            <a:pPr algn="l">
              <a:buNone/>
              <a:defRPr sz="2400">
                <a:solidFill>
                  <a:srgbClr val="000000"/>
                </a:solidFill>
                <a:latin typeface="Helvetica Neue"/>
                <a:ea typeface="Helvetica Neue"/>
                <a:cs typeface="Helvetica Neue"/>
              </a:defRPr>
            </a:pPr>
            <a:r>
              <a:t>CoA=로트 성적서</a:t>
            </a:r>
          </a:p>
          <a:p xmlns:a="http://schemas.openxmlformats.org/drawingml/2006/main">
            <a:pPr algn="l">
              <a:buNone/>
              <a:defRPr sz="2400">
                <a:solidFill>
                  <a:srgbClr val="000000"/>
                </a:solidFill>
                <a:latin typeface="Helvetica Neue"/>
                <a:ea typeface="Helvetica Neue"/>
                <a:cs typeface="Helvetica Neue"/>
              </a:defRPr>
            </a:pPr>
            <a:r>
              <a:t>PoV=가치검증</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운영</a:t>
            </a:r>
          </a:p>
          <a:p xmlns:a="http://schemas.openxmlformats.org/drawingml/2006/main">
            <a:pPr algn="l">
              <a:buNone/>
              <a:defRPr sz="2400">
                <a:solidFill>
                  <a:srgbClr val="000000"/>
                </a:solidFill>
                <a:latin typeface="Helvetica Neue"/>
                <a:ea typeface="Helvetica Neue"/>
                <a:cs typeface="Helvetica Neue"/>
              </a:defRPr>
            </a:pPr>
            <a:r>
              <a:t>마스터배치=고농축 중간재</a:t>
            </a:r>
          </a:p>
          <a:p xmlns:a="http://schemas.openxmlformats.org/drawingml/2006/main">
            <a:pPr algn="l">
              <a:buNone/>
              <a:defRPr sz="2400">
                <a:solidFill>
                  <a:srgbClr val="000000"/>
                </a:solidFill>
                <a:latin typeface="Helvetica Neue"/>
                <a:ea typeface="Helvetica Neue"/>
                <a:cs typeface="Helvetica Neue"/>
              </a:defRPr>
            </a:pPr>
            <a:r>
              <a:t>OEM=주문자상표 생산</a:t>
            </a:r>
          </a:p>
          <a:p xmlns:a="http://schemas.openxmlformats.org/drawingml/2006/main">
            <a:pPr algn="l">
              <a:buNone/>
              <a:defRPr sz="2400">
                <a:solidFill>
                  <a:srgbClr val="000000"/>
                </a:solidFill>
                <a:latin typeface="Helvetica Neue"/>
                <a:ea typeface="Helvetica Neue"/>
                <a:cs typeface="Helvetica Neue"/>
              </a:defRPr>
            </a:pPr>
            <a:r>
              <a:t>MOQ=최소주문수량</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핵심 가정</a:t>
            </a:r>
          </a:p>
          <a:p xmlns:a="http://schemas.openxmlformats.org/drawingml/2006/main">
            <a:pPr algn="l">
              <a:buNone/>
              <a:defRPr sz="2400">
                <a:solidFill>
                  <a:srgbClr val="000000"/>
                </a:solidFill>
                <a:latin typeface="Helvetica Neue"/>
                <a:ea typeface="Helvetica Neue"/>
                <a:cs typeface="Helvetica Neue"/>
              </a:defRPr>
            </a:pPr>
            <a:r>
              <a:t>18,000원/kg·9,240원/kg</a:t>
            </a:r>
          </a:p>
          <a:p xmlns:a="http://schemas.openxmlformats.org/drawingml/2006/main">
            <a:pPr algn="l">
              <a:buNone/>
              <a:defRPr sz="2400">
                <a:solidFill>
                  <a:srgbClr val="000000"/>
                </a:solidFill>
                <a:latin typeface="Helvetica Neue"/>
                <a:ea typeface="Helvetica Neue"/>
                <a:cs typeface="Helvetica Neue"/>
              </a:defRPr>
            </a:pPr>
            <a:r>
              <a:t>75g/사료t·4,681.8원/kg</a:t>
            </a:r>
          </a:p>
          <a:p xmlns:a="http://schemas.openxmlformats.org/drawingml/2006/main">
            <a:pPr algn="l">
              <a:buNone/>
              <a:defRPr sz="2400">
                <a:solidFill>
                  <a:srgbClr val="000000"/>
                </a:solidFill>
                <a:latin typeface="Helvetica Neue"/>
                <a:ea typeface="Helvetica Neue"/>
                <a:cs typeface="Helvetica Neue"/>
              </a:defRPr>
            </a:pPr>
            <a:r>
              <a:t>고객가치 18,000원/t</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면책</a:t>
            </a:r>
          </a:p>
          <a:p xmlns:a="http://schemas.openxmlformats.org/drawingml/2006/main">
            <a:pPr algn="l">
              <a:buNone/>
              <a:defRPr sz="2400">
                <a:solidFill>
                  <a:srgbClr val="000000"/>
                </a:solidFill>
                <a:latin typeface="Helvetica Neue"/>
                <a:ea typeface="Helvetica Neue"/>
                <a:cs typeface="Helvetica Neue"/>
              </a:defRPr>
            </a:pPr>
            <a:r>
              <a:t>법적 분류·효능·공장 적합성·원가</a:t>
            </a:r>
          </a:p>
          <a:p xmlns:a="http://schemas.openxmlformats.org/drawingml/2006/main">
            <a:pPr algn="l">
              <a:buNone/>
              <a:defRPr sz="2400">
                <a:solidFill>
                  <a:srgbClr val="000000"/>
                </a:solidFill>
                <a:latin typeface="Helvetica Neue"/>
                <a:ea typeface="Helvetica Neue"/>
                <a:cs typeface="Helvetica Neue"/>
              </a:defRPr>
            </a:pPr>
            <a:r>
              <a:t>모두 관할기관·시험기관·실견적·</a:t>
            </a:r>
          </a:p>
          <a:p xmlns:a="http://schemas.openxmlformats.org/drawingml/2006/main">
            <a:pPr algn="l">
              <a:buNone/>
              <a:defRPr sz="2400">
                <a:solidFill>
                  <a:srgbClr val="000000"/>
                </a:solidFill>
                <a:latin typeface="Helvetica Neue"/>
                <a:ea typeface="Helvetica Neue"/>
                <a:cs typeface="Helvetica Neue"/>
              </a:defRPr>
            </a:pPr>
            <a:r>
              <a:t>고객 현장에서 별도 확인</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19 | APPENDIX</a:t>
            </a:r>
          </a:p>
        </p:txBody>
      </p:sp>
    </p:spTree>
    <p:extLst>
      <p:ext uri="{BB962C8B-B14F-4D97-AF65-F5344CB8AC3E}">
        <p14:creationId xmlns:p14="http://schemas.microsoft.com/office/powerpoint/2010/main" val="16045586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2026-08-03T01:55:08.8660000Z</dcterms:created>
  <dcterms:modified xsi:type="dcterms:W3CDTF">2026-08-03T01:55:08.8660000Z</dcterms:modified>
</coreProperties>
</file>